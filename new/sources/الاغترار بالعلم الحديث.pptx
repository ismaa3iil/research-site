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5" r:id="rId8"/>
    <p:sldId id="266" r:id="rId9"/>
    <p:sldId id="267" r:id="rId10"/>
    <p:sldId id="268" r:id="rId11"/>
    <p:sldId id="269" r:id="rId12"/>
    <p:sldId id="277" r:id="rId13"/>
    <p:sldId id="271" r:id="rId14"/>
    <p:sldId id="270" r:id="rId15"/>
    <p:sldId id="272" r:id="rId16"/>
    <p:sldId id="273" r:id="rId17"/>
    <p:sldId id="274" r:id="rId18"/>
    <p:sldId id="275" r:id="rId19"/>
    <p:sldId id="278" r:id="rId20"/>
    <p:sldId id="279" r:id="rId21"/>
    <p:sldId id="280" r:id="rId22"/>
    <p:sldId id="281" r:id="rId23"/>
    <p:sldId id="28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AAC4EFF-4DA1-4CA9-9E43-C4FE3887E370}" type="datetimeFigureOut">
              <a:rPr lang="en-US" smtClean="0"/>
              <a:pPr/>
              <a:t>01-Sep-26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AC4EFF-4DA1-4CA9-9E43-C4FE3887E370}" type="datetimeFigureOut">
              <a:rPr lang="en-US" smtClean="0"/>
              <a:pPr/>
              <a:t>01-Sep-26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AC4EFF-4DA1-4CA9-9E43-C4FE3887E370}" type="datetimeFigureOut">
              <a:rPr lang="en-US" smtClean="0"/>
              <a:pPr/>
              <a:t>01-Sep-26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AC4EFF-4DA1-4CA9-9E43-C4FE3887E370}" type="datetimeFigureOut">
              <a:rPr lang="en-US" smtClean="0"/>
              <a:pPr/>
              <a:t>01-Sep-26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AC4EFF-4DA1-4CA9-9E43-C4FE3887E370}" type="datetimeFigureOut">
              <a:rPr lang="en-US" smtClean="0"/>
              <a:pPr/>
              <a:t>01-Sep-26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AC4EFF-4DA1-4CA9-9E43-C4FE3887E370}" type="datetimeFigureOut">
              <a:rPr lang="en-US" smtClean="0"/>
              <a:pPr/>
              <a:t>01-Sep-26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AC4EFF-4DA1-4CA9-9E43-C4FE3887E370}" type="datetimeFigureOut">
              <a:rPr lang="en-US" smtClean="0"/>
              <a:pPr/>
              <a:t>01-Sep-26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AC4EFF-4DA1-4CA9-9E43-C4FE3887E370}" type="datetimeFigureOut">
              <a:rPr lang="en-US" smtClean="0"/>
              <a:pPr/>
              <a:t>01-Sep-26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AC4EFF-4DA1-4CA9-9E43-C4FE3887E370}" type="datetimeFigureOut">
              <a:rPr lang="en-US" smtClean="0"/>
              <a:pPr/>
              <a:t>01-Sep-26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AC4EFF-4DA1-4CA9-9E43-C4FE3887E370}" type="datetimeFigureOut">
              <a:rPr lang="en-US" smtClean="0"/>
              <a:pPr/>
              <a:t>01-Sep-26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AC4EFF-4DA1-4CA9-9E43-C4FE3887E370}" type="datetimeFigureOut">
              <a:rPr lang="en-US" smtClean="0"/>
              <a:pPr/>
              <a:t>01-Sep-26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AC4EFF-4DA1-4CA9-9E43-C4FE3887E370}" type="datetimeFigureOut">
              <a:rPr lang="en-US" smtClean="0"/>
              <a:pPr/>
              <a:t>01-Sep-26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94666A-BC68-4C68-B943-D18EE5D8D5C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0"/>
            <a:ext cx="7772400" cy="1470025"/>
          </a:xfrm>
        </p:spPr>
        <p:txBody>
          <a:bodyPr/>
          <a:lstStyle/>
          <a:p>
            <a:r>
              <a:rPr lang="ar-JO" dirty="0"/>
              <a:t>الاغترار بالعلم الحديث</a:t>
            </a:r>
            <a:endParaRPr lang="en-US" dirty="0"/>
          </a:p>
        </p:txBody>
      </p:sp>
      <p:sp>
        <p:nvSpPr>
          <p:cNvPr id="3" name="Subtitle 2"/>
          <p:cNvSpPr>
            <a:spLocks noGrp="1"/>
          </p:cNvSpPr>
          <p:nvPr>
            <p:ph type="subTitle" idx="1"/>
          </p:nvPr>
        </p:nvSpPr>
        <p:spPr>
          <a:xfrm>
            <a:off x="1371600" y="2743200"/>
            <a:ext cx="6400800" cy="2286000"/>
          </a:xfrm>
        </p:spPr>
        <p:txBody>
          <a:bodyPr>
            <a:normAutofit lnSpcReduction="10000"/>
          </a:bodyPr>
          <a:lstStyle/>
          <a:p>
            <a:r>
              <a:rPr lang="ar-JO" dirty="0">
                <a:solidFill>
                  <a:schemeClr val="bg2">
                    <a:lumMod val="25000"/>
                  </a:schemeClr>
                </a:solidFill>
              </a:rPr>
              <a:t>عن المصالحة المزعومة بين الإسلام والعلم</a:t>
            </a:r>
          </a:p>
          <a:p>
            <a:endParaRPr lang="ar-JO" dirty="0">
              <a:solidFill>
                <a:srgbClr val="FF0000"/>
              </a:solidFill>
            </a:endParaRPr>
          </a:p>
          <a:p>
            <a:r>
              <a:rPr lang="ar-JO" dirty="0">
                <a:solidFill>
                  <a:srgbClr val="FF0000"/>
                </a:solidFill>
              </a:rPr>
              <a:t>المحاضر: </a:t>
            </a:r>
            <a:r>
              <a:rPr lang="ar-JO" dirty="0">
                <a:solidFill>
                  <a:schemeClr val="tx1"/>
                </a:solidFill>
              </a:rPr>
              <a:t>إسماعيل حمودة </a:t>
            </a:r>
            <a:r>
              <a:rPr lang="ar-JO" dirty="0">
                <a:solidFill>
                  <a:srgbClr val="FF0000"/>
                </a:solidFill>
              </a:rPr>
              <a:t>– فيزياء ورياضيات</a:t>
            </a:r>
          </a:p>
          <a:p>
            <a:r>
              <a:rPr lang="ar-JO" dirty="0">
                <a:solidFill>
                  <a:schemeClr val="bg2">
                    <a:lumMod val="25000"/>
                  </a:schemeClr>
                </a:solidFill>
              </a:rPr>
              <a:t>جامعة عمان الأهلية</a:t>
            </a:r>
            <a:endParaRPr lang="en-US" dirty="0">
              <a:solidFill>
                <a:schemeClr val="bg2">
                  <a:lumMod val="2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ar-JO" dirty="0"/>
              <a:t>هيكل المحاضرة</a:t>
            </a:r>
            <a:endParaRPr lang="en-US" dirty="0"/>
          </a:p>
        </p:txBody>
      </p:sp>
      <p:sp>
        <p:nvSpPr>
          <p:cNvPr id="3" name="Content Placeholder 2"/>
          <p:cNvSpPr>
            <a:spLocks noGrp="1"/>
          </p:cNvSpPr>
          <p:nvPr>
            <p:ph idx="1"/>
          </p:nvPr>
        </p:nvSpPr>
        <p:spPr>
          <a:xfrm>
            <a:off x="457200" y="1219200"/>
            <a:ext cx="8229600" cy="5486400"/>
          </a:xfrm>
        </p:spPr>
        <p:txBody>
          <a:bodyPr>
            <a:normAutofit lnSpcReduction="10000"/>
          </a:bodyPr>
          <a:lstStyle/>
          <a:p>
            <a:pPr algn="r" rtl="1"/>
            <a:r>
              <a:rPr lang="ar-JO" dirty="0"/>
              <a:t>سبب المحاضرة</a:t>
            </a:r>
          </a:p>
          <a:p>
            <a:pPr algn="r" rtl="1"/>
            <a:r>
              <a:rPr lang="ar-JO" dirty="0"/>
              <a:t>التفريق بين الإسلام والمسلمين</a:t>
            </a:r>
          </a:p>
          <a:p>
            <a:pPr algn="r" rtl="1"/>
            <a:r>
              <a:rPr lang="ar-JO" dirty="0"/>
              <a:t>عن العلاقة التاريخية بين العلم الحديث والدين</a:t>
            </a:r>
            <a:endParaRPr lang="en-US" dirty="0"/>
          </a:p>
          <a:p>
            <a:pPr algn="r" rtl="1"/>
            <a:r>
              <a:rPr lang="ar-JO" dirty="0"/>
              <a:t>تعريف بالعلم الإنساني</a:t>
            </a:r>
          </a:p>
          <a:p>
            <a:pPr algn="r" rtl="1"/>
            <a:r>
              <a:rPr lang="ar-JO" dirty="0"/>
              <a:t>عن النجاح المبهر للعلم الحديث</a:t>
            </a:r>
          </a:p>
          <a:p>
            <a:pPr algn="r" rtl="1"/>
            <a:r>
              <a:rPr lang="ar-JO" dirty="0"/>
              <a:t>الرد على حيادية العلم الحديث في إثبات وجود الله تعالى</a:t>
            </a:r>
          </a:p>
          <a:p>
            <a:pPr algn="r" rtl="1"/>
            <a:r>
              <a:rPr lang="ar-JO" dirty="0"/>
              <a:t>الرد على كون تطور الإنسان البيولوجي حقيقة علمية</a:t>
            </a:r>
          </a:p>
          <a:p>
            <a:pPr algn="r" rtl="1"/>
            <a:r>
              <a:rPr lang="ar-JO" dirty="0"/>
              <a:t>الرد على ” نفي إمكانية أن أن تفيد النصوص الدينية حقائق علمية“ وعلى ”نفي الخوارق والمعجزات“ </a:t>
            </a:r>
          </a:p>
          <a:p>
            <a:pPr algn="r" rtl="1"/>
            <a:r>
              <a:rPr lang="ar-JO" dirty="0"/>
              <a:t>الرد على شبهات تمس العقيدة الأشعرية</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pPr rtl="1"/>
            <a:r>
              <a:rPr lang="ar-JO" b="1" dirty="0"/>
              <a:t>سبب المحاضرة</a:t>
            </a:r>
            <a:endParaRPr lang="en-US" b="1" dirty="0"/>
          </a:p>
        </p:txBody>
      </p:sp>
      <p:sp>
        <p:nvSpPr>
          <p:cNvPr id="3" name="Content Placeholder 2"/>
          <p:cNvSpPr>
            <a:spLocks noGrp="1"/>
          </p:cNvSpPr>
          <p:nvPr>
            <p:ph idx="1"/>
          </p:nvPr>
        </p:nvSpPr>
        <p:spPr>
          <a:xfrm>
            <a:off x="0" y="609600"/>
            <a:ext cx="9144000" cy="6248400"/>
          </a:xfrm>
        </p:spPr>
        <p:txBody>
          <a:bodyPr>
            <a:normAutofit/>
          </a:bodyPr>
          <a:lstStyle/>
          <a:p>
            <a:pPr algn="r" rtl="1"/>
            <a:r>
              <a:rPr lang="ar-SA" dirty="0"/>
              <a:t>الإسلام والعلم	-	</a:t>
            </a:r>
            <a:r>
              <a:rPr lang="ar-SA" b="1" dirty="0"/>
              <a:t>أسئلة علمية كبرى من منظور اسلامي</a:t>
            </a:r>
            <a:endParaRPr lang="en-US" dirty="0"/>
          </a:p>
          <a:p>
            <a:pPr algn="r" rtl="1"/>
            <a:r>
              <a:rPr lang="ar-SA" b="1" dirty="0"/>
              <a:t>مؤتمر</a:t>
            </a:r>
            <a:r>
              <a:rPr lang="ar-JO" b="1" dirty="0"/>
              <a:t> في</a:t>
            </a:r>
            <a:r>
              <a:rPr lang="ar-SA" b="1" dirty="0"/>
              <a:t> عمان في 5-5-2016</a:t>
            </a:r>
            <a:r>
              <a:rPr lang="ar-JO" b="1" dirty="0"/>
              <a:t> </a:t>
            </a:r>
            <a:r>
              <a:rPr lang="ar-JO" dirty="0"/>
              <a:t>في الجمعية العلمية الملكية \</a:t>
            </a:r>
            <a:endParaRPr lang="en-US" dirty="0"/>
          </a:p>
          <a:p>
            <a:pPr lvl="0" algn="r" rtl="1"/>
            <a:r>
              <a:rPr lang="ar-JO" dirty="0"/>
              <a:t>نظم المؤتمر بالتعاون ما بين أكاديمية العالم الإسلامي للعلوم في عمان، ومركز الاسكوا للتكنولوجيا، والجمعية العلمية الملكية، ومؤسسة جون تمبلتون، ومبادرة العلم في العالم الاسلامي، والجمعية التركية لتاريخ العلوم والمؤسسة العلمية الثقافية التعليمية الإسلامية في المغرب.</a:t>
            </a:r>
          </a:p>
          <a:p>
            <a:pPr lvl="0" algn="r" rtl="1"/>
            <a:r>
              <a:rPr lang="ar-JO" dirty="0"/>
              <a:t>تكلم في المؤتمر أعضاء لجنة العمل التي يرأسها أكمل الدين إحسان أوغلو (رئيس منظمة المؤتمر الإسلامي السابق) والتي نشرت في المؤتمر </a:t>
            </a:r>
            <a:r>
              <a:rPr lang="ar-JO" sz="4000" b="1" i="1" u="sng" dirty="0"/>
              <a:t>تقريرا</a:t>
            </a:r>
            <a:r>
              <a:rPr lang="ar-JO" dirty="0"/>
              <a:t> عن نقاشاتها وأبحاثها وتوصياتها في موضوع التوفيق "المصالحة" بين الإسلام والعلم</a:t>
            </a:r>
          </a:p>
          <a:p>
            <a:pPr lvl="0" algn="r" rtl="1"/>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8915400" cy="6705600"/>
          </a:xfrm>
        </p:spPr>
        <p:txBody>
          <a:bodyPr>
            <a:normAutofit/>
          </a:bodyPr>
          <a:lstStyle/>
          <a:p>
            <a:pPr algn="r" rtl="1"/>
            <a:r>
              <a:rPr lang="ar-JO" dirty="0"/>
              <a:t>أعضاء اللجنة علماء ممتازون متدينون غيورون </a:t>
            </a:r>
          </a:p>
          <a:p>
            <a:pPr algn="r" rtl="1"/>
            <a:r>
              <a:rPr lang="ar-JO" dirty="0"/>
              <a:t>كثير من الإيجابيات</a:t>
            </a:r>
          </a:p>
          <a:p>
            <a:pPr algn="r" rtl="1"/>
            <a:r>
              <a:rPr lang="ar-JO" dirty="0"/>
              <a:t>وسلبيات في الكلمات وفي التقرير (لا يتفقون جميعا عليها):</a:t>
            </a:r>
          </a:p>
          <a:p>
            <a:pPr algn="r" rtl="1">
              <a:buNone/>
            </a:pPr>
            <a:r>
              <a:rPr lang="ar-JO" dirty="0"/>
              <a:t>- تركيزعلى مشاكل من جهة الإسلام تجعله </a:t>
            </a:r>
            <a:r>
              <a:rPr lang="ar-JO" i="1" u="sng" dirty="0"/>
              <a:t>غير متوافق </a:t>
            </a:r>
            <a:r>
              <a:rPr lang="ar-JO" dirty="0"/>
              <a:t>مع العلم</a:t>
            </a:r>
          </a:p>
          <a:p>
            <a:pPr algn="r" rtl="1">
              <a:buFontTx/>
              <a:buChar char="-"/>
            </a:pPr>
            <a:r>
              <a:rPr lang="ar-JO" dirty="0"/>
              <a:t>الدعوة إلى الاعتراف بصحة التطور البيولوجي للإنسان، </a:t>
            </a:r>
          </a:p>
          <a:p>
            <a:pPr algn="r" rtl="1">
              <a:buFontTx/>
              <a:buChar char="-"/>
            </a:pPr>
            <a:r>
              <a:rPr lang="ar-JO" dirty="0"/>
              <a:t>وإلى الاعتراف بأن العلم حيادي لا يستطيع البرهنة لا على وجود الله تعالى ولا على عدم وجوده، </a:t>
            </a:r>
          </a:p>
          <a:p>
            <a:pPr algn="r" rtl="1">
              <a:buFontTx/>
              <a:buChar char="-"/>
            </a:pPr>
            <a:r>
              <a:rPr lang="ar-JO" dirty="0"/>
              <a:t>وإلى التخلي عن اعتقاد أن النصوص الدينية يمكن أن تفيد حقائق علمية. </a:t>
            </a:r>
          </a:p>
          <a:p>
            <a:pPr algn="r" rtl="1">
              <a:buFontTx/>
              <a:buChar char="-"/>
            </a:pPr>
            <a:r>
              <a:rPr lang="ar-JO" dirty="0"/>
              <a:t>بل لقد كان هناك تشكيك بإمكانية أن تكون معجزات الأنبياء خارقة لقوانين الطبيعة. (منع التدخل الإلهي المباشر في العالم)</a:t>
            </a:r>
          </a:p>
          <a:p>
            <a:pPr algn="r" rtl="1">
              <a:buFontTx/>
              <a:buChar char="-"/>
            </a:pPr>
            <a:r>
              <a:rPr lang="ar-JO" sz="2800" dirty="0">
                <a:solidFill>
                  <a:srgbClr val="C00000"/>
                </a:solidFill>
              </a:rPr>
              <a:t>موقف العقل والعلم والعالم من رب العالمين  (مصطفى صبري)</a:t>
            </a:r>
            <a:endParaRPr lang="en-US" sz="2800"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a:bodyPr>
          <a:lstStyle/>
          <a:p>
            <a:pPr algn="r" rtl="1">
              <a:buNone/>
            </a:pPr>
            <a:r>
              <a:rPr lang="ar-JO" b="1" dirty="0"/>
              <a:t>تخلف العالم الإسلامي في الوقت الحالي في الإنتاج العلمي</a:t>
            </a:r>
            <a:endParaRPr lang="ar-JO" dirty="0"/>
          </a:p>
          <a:p>
            <a:pPr algn="r" rtl="1"/>
            <a:r>
              <a:rPr lang="ar-JO" dirty="0"/>
              <a:t>التخلف في الإنتاج الصناعي والإنتاج الأدبي والإنتاج الفني والإنتاج الرياضي والإنتاج العلمي. </a:t>
            </a:r>
            <a:r>
              <a:rPr lang="ar-JO" sz="2200" dirty="0">
                <a:solidFill>
                  <a:srgbClr val="C00000"/>
                </a:solidFill>
              </a:rPr>
              <a:t>(عدم انخراط في اللعبة من مجتمعات إسلامية وغير إسلامية)</a:t>
            </a:r>
          </a:p>
          <a:p>
            <a:pPr algn="r" rtl="1"/>
            <a:r>
              <a:rPr lang="ar-JO" dirty="0"/>
              <a:t>الحضارة الإسلامية كانت في وقت ما المتقدمة في الإنتاج العلمي، ثم استفاقت أوروبا المسيحية وتقدمت بمسيحيتها ثم تركت مسيحيتها وتقدمت أكثر </a:t>
            </a:r>
            <a:r>
              <a:rPr lang="ar-JO" sz="2200" dirty="0">
                <a:solidFill>
                  <a:srgbClr val="C00000"/>
                </a:solidFill>
              </a:rPr>
              <a:t>(لا دخل للدين)</a:t>
            </a:r>
          </a:p>
          <a:p>
            <a:pPr algn="r" rtl="1"/>
            <a:r>
              <a:rPr lang="ar-JO" dirty="0"/>
              <a:t>لماذا كانت الثورة العلمية في أوروبا لا في الصين ولا في العالم الإسلامي؟ السبب غير مفهوم حتى الآن </a:t>
            </a:r>
            <a:r>
              <a:rPr lang="ar-JO" dirty="0">
                <a:solidFill>
                  <a:srgbClr val="C00000"/>
                </a:solidFill>
              </a:rPr>
              <a:t>(أثر الفراشة)</a:t>
            </a:r>
          </a:p>
          <a:p>
            <a:pPr algn="r" rtl="1"/>
            <a:r>
              <a:rPr lang="ar-JO" dirty="0"/>
              <a:t>العلم كصناعة ليس بالضرورة بحثا عن الحق ولكنه إنتاج. وقد تشجع العقائد الفاسدة على الإنتاج. </a:t>
            </a:r>
            <a:r>
              <a:rPr lang="ar-JO" dirty="0">
                <a:solidFill>
                  <a:srgbClr val="C00000"/>
                </a:solidFill>
              </a:rPr>
              <a:t>(البراهما)</a:t>
            </a:r>
          </a:p>
          <a:p>
            <a:pPr algn="r" rtl="1"/>
            <a:r>
              <a:rPr lang="ar-JO" dirty="0"/>
              <a:t>قبل القرن السابع عشر كانت أهمية العلم بالنسبة للدول والمجتمعات محدودة لأن معظم أبواب العلم لم تكن تفيد كثيرا في المعارك. </a:t>
            </a:r>
            <a:r>
              <a:rPr lang="ar-JO" dirty="0">
                <a:solidFill>
                  <a:srgbClr val="C00000"/>
                </a:solidFill>
              </a:rPr>
              <a:t>(المغول)</a:t>
            </a:r>
          </a:p>
          <a:p>
            <a:pPr algn="r" rtl="1"/>
            <a:r>
              <a:rPr lang="ar-JO" dirty="0"/>
              <a:t>عقيدة القضاء والقدر ليست سببا لتثبيط الهمم </a:t>
            </a:r>
            <a:r>
              <a:rPr lang="ar-JO" dirty="0">
                <a:solidFill>
                  <a:srgbClr val="C00000"/>
                </a:solidFill>
              </a:rPr>
              <a:t>(الكالفينيون)</a:t>
            </a:r>
            <a:endParaRPr lang="en-US" dirty="0">
              <a:solidFill>
                <a:srgbClr val="C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ar-JO" b="1" dirty="0"/>
              <a:t>العلم كسعي إنساني أو فردي للوصول إلى الحق</a:t>
            </a:r>
            <a:endParaRPr lang="en-US" dirty="0"/>
          </a:p>
        </p:txBody>
      </p:sp>
      <p:sp>
        <p:nvSpPr>
          <p:cNvPr id="3" name="Content Placeholder 2"/>
          <p:cNvSpPr>
            <a:spLocks noGrp="1"/>
          </p:cNvSpPr>
          <p:nvPr>
            <p:ph idx="1"/>
          </p:nvPr>
        </p:nvSpPr>
        <p:spPr>
          <a:xfrm>
            <a:off x="152400" y="1143000"/>
            <a:ext cx="8839200" cy="5715000"/>
          </a:xfrm>
        </p:spPr>
        <p:txBody>
          <a:bodyPr>
            <a:normAutofit fontScale="92500"/>
          </a:bodyPr>
          <a:lstStyle/>
          <a:p>
            <a:pPr algn="r" rtl="1"/>
            <a:r>
              <a:rPr lang="ar-JO" dirty="0"/>
              <a:t>للتبسيط نشبه القدرة العقلية للإنسان بالحاسوب (أجهزة الإدخال، معالج، ذاكرة، أجهزة الإخراج، نظام تشغيل)</a:t>
            </a:r>
          </a:p>
          <a:p>
            <a:pPr algn="r" rtl="1"/>
            <a:r>
              <a:rPr lang="ar-JO" dirty="0"/>
              <a:t>نظام التشغيل فيه مفاهيم وتعريفات ومعلومات وعمليات مبرمجة بشكل مسبق (</a:t>
            </a:r>
            <a:r>
              <a:rPr lang="en-US" dirty="0"/>
              <a:t>a priori</a:t>
            </a:r>
            <a:r>
              <a:rPr lang="ar-JO" dirty="0"/>
              <a:t>): المكان، الزمان، السببية، ضغط البيانات</a:t>
            </a:r>
          </a:p>
          <a:p>
            <a:pPr algn="r" rtl="1"/>
            <a:r>
              <a:rPr lang="ar-JO" dirty="0"/>
              <a:t>المعرفة (</a:t>
            </a:r>
            <a:r>
              <a:rPr lang="en-US" dirty="0"/>
              <a:t>Knowledge</a:t>
            </a:r>
            <a:r>
              <a:rPr lang="ar-JO" dirty="0"/>
              <a:t>) هي مجموع المعلومات والبيانات عن الخارج بعد الضغط والترتيب.</a:t>
            </a:r>
          </a:p>
          <a:p>
            <a:pPr algn="r" rtl="1"/>
            <a:r>
              <a:rPr lang="ar-JO" dirty="0"/>
              <a:t>العلم يبدأ عندما يبدأ الإدراك الواعي بجمع المعلومات (المضغوطة المرتبة) المتعلقة بسياق موضوع محدد يتكرر في الزمان والمكان فيضغط المعلومات فيه بطريقة تعميمية (</a:t>
            </a:r>
            <a:r>
              <a:rPr lang="en-US" dirty="0"/>
              <a:t>extrapolation - induction</a:t>
            </a:r>
            <a:r>
              <a:rPr lang="ar-JO" dirty="0"/>
              <a:t>) يمكن فحصها</a:t>
            </a:r>
            <a:r>
              <a:rPr lang="en-US" dirty="0"/>
              <a:t>)  testable</a:t>
            </a:r>
            <a:r>
              <a:rPr lang="ar-JO" dirty="0"/>
              <a:t> عن طريق "التجربة" مثلا)</a:t>
            </a:r>
          </a:p>
          <a:p>
            <a:pPr algn="r" rtl="1"/>
            <a:r>
              <a:rPr lang="ar-JO" dirty="0"/>
              <a:t>مثال: حي بن يقظان</a:t>
            </a:r>
          </a:p>
          <a:p>
            <a:pPr algn="r" rtl="1"/>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ar-JO" dirty="0"/>
              <a:t>مقدمات المعرفة</a:t>
            </a:r>
            <a:endParaRPr lang="en-US" dirty="0"/>
          </a:p>
        </p:txBody>
      </p:sp>
      <p:sp>
        <p:nvSpPr>
          <p:cNvPr id="3" name="Content Placeholder 2"/>
          <p:cNvSpPr>
            <a:spLocks noGrp="1"/>
          </p:cNvSpPr>
          <p:nvPr>
            <p:ph idx="1"/>
          </p:nvPr>
        </p:nvSpPr>
        <p:spPr>
          <a:xfrm>
            <a:off x="0" y="1066800"/>
            <a:ext cx="9144000" cy="5791200"/>
          </a:xfrm>
        </p:spPr>
        <p:txBody>
          <a:bodyPr>
            <a:normAutofit fontScale="92500" lnSpcReduction="10000"/>
          </a:bodyPr>
          <a:lstStyle/>
          <a:p>
            <a:pPr algn="r" rtl="1"/>
            <a:r>
              <a:rPr lang="ar-JO" dirty="0"/>
              <a:t>عملية استخلاص المعرفة المشروحة في الفقرة السابقة تعتمد على مقدمات فلسفية واعتقادية كثيرة لا برهان عليها:</a:t>
            </a:r>
          </a:p>
          <a:p>
            <a:pPr algn="r" rtl="1"/>
            <a:r>
              <a:rPr lang="ar-JO" dirty="0"/>
              <a:t>عليك أن تصدق أولا بوجود العالم الخارجي وبأن الانعكاسات التي تقيسها أجهزة الإدخال عندك (إحساساتك) صورة صادقة عنه. </a:t>
            </a:r>
          </a:p>
          <a:p>
            <a:pPr algn="r" rtl="1"/>
            <a:r>
              <a:rPr lang="ar-JO" dirty="0"/>
              <a:t>عليك أن تؤمن بأن خوارزميات "الرياضيات والمنطق" المبرمجة في نظام التشغيل صحيحة غير خداعة. </a:t>
            </a:r>
          </a:p>
          <a:p>
            <a:pPr algn="r" rtl="1"/>
            <a:r>
              <a:rPr lang="ar-JO" dirty="0"/>
              <a:t>ثم عليك أن تعترف بأن تعميمك للبيانات ذات العدد المتناهي على الكل غير المتناهي يعتمد على إيمانك بأن نواميس الطبيعة ثابتة لا تتغير هكذا بدون سبب. </a:t>
            </a:r>
          </a:p>
          <a:p>
            <a:pPr algn="r" rtl="1"/>
            <a:r>
              <a:rPr lang="ar-JO" dirty="0"/>
              <a:t>أما إذا كان مصدر المعلومات الذي تفاعلت معه حواسك انسانا آخر فعليك أن تقنع نفسك أن عنده قدرة عقلية مستقلة تعمل بطريقة مماثلة لطريقة قدرتك العقلية.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pPr rtl="1"/>
            <a:r>
              <a:rPr lang="ar-JO" dirty="0"/>
              <a:t>التشكيك والسفسطة </a:t>
            </a:r>
            <a:r>
              <a:rPr lang="en-US" dirty="0"/>
              <a:t>Skepticism &amp; Solipsism </a:t>
            </a:r>
          </a:p>
        </p:txBody>
      </p:sp>
      <p:sp>
        <p:nvSpPr>
          <p:cNvPr id="3" name="Content Placeholder 2"/>
          <p:cNvSpPr>
            <a:spLocks noGrp="1"/>
          </p:cNvSpPr>
          <p:nvPr>
            <p:ph idx="1"/>
          </p:nvPr>
        </p:nvSpPr>
        <p:spPr>
          <a:xfrm>
            <a:off x="0" y="1219200"/>
            <a:ext cx="9144000" cy="5638800"/>
          </a:xfrm>
        </p:spPr>
        <p:txBody>
          <a:bodyPr/>
          <a:lstStyle/>
          <a:p>
            <a:pPr algn="r" rtl="1"/>
            <a:r>
              <a:rPr lang="ar-JO" dirty="0"/>
              <a:t>الوصول إلى حقائق يقينية مبرهن عليها من البداية إلى النهاية محال</a:t>
            </a:r>
          </a:p>
          <a:p>
            <a:pPr algn="r" rtl="1"/>
            <a:r>
              <a:rPr lang="ar-JO" dirty="0"/>
              <a:t>حقيقة الأمر أن معظم الناس وإن ادعوا التشكيك لا يؤمنون به</a:t>
            </a:r>
          </a:p>
          <a:p>
            <a:pPr algn="r" rtl="1"/>
            <a:r>
              <a:rPr lang="ar-JO" dirty="0"/>
              <a:t>"السفسطائي" أو المشكك، الذي لا يؤمن لا بوجودك ولا بوجود الفلوس، لن يسمح لك بالاستيلاء على فلوسه</a:t>
            </a:r>
          </a:p>
          <a:p>
            <a:pPr algn="r" rtl="1"/>
            <a:r>
              <a:rPr lang="ar-JO" dirty="0"/>
              <a:t>كيف يدفع الانسان إذاً شبهة المشككين؟ </a:t>
            </a:r>
          </a:p>
          <a:p>
            <a:pPr algn="r" rtl="1">
              <a:buNone/>
            </a:pPr>
            <a:r>
              <a:rPr lang="ar-JO" dirty="0"/>
              <a:t>المؤمن: خلق الله فيّ فطرة صادقة تدعوني لتصديق حواسي وعقلي. (الغزالي في المنقذ من الضلال: "نور يقذفه الله تعالى في القلب”)</a:t>
            </a:r>
          </a:p>
          <a:p>
            <a:pPr algn="r" rtl="1">
              <a:buNone/>
            </a:pPr>
            <a:r>
              <a:rPr lang="ar-JO" dirty="0"/>
              <a:t>أما غير المؤمن فهو حقا في ورطة!! (لماذا أصدق حواسي وعقلي وهي ليست إلا ما أنتجه الانتخاب الطبيعي على حسب مبدأ البقاء للأصلح؟ لماذا يكون الأصلح صادقا؟ </a:t>
            </a:r>
            <a:r>
              <a:rPr lang="en-US" dirty="0" err="1">
                <a:solidFill>
                  <a:srgbClr val="C00000"/>
                </a:solidFill>
              </a:rPr>
              <a:t>Plantinga</a:t>
            </a:r>
            <a:r>
              <a:rPr lang="ar-JO" dirty="0"/>
              <a: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0"/>
            <a:ext cx="9144000" cy="6096000"/>
          </a:xfrm>
        </p:spPr>
        <p:txBody>
          <a:bodyPr>
            <a:normAutofit/>
          </a:bodyPr>
          <a:lstStyle/>
          <a:p>
            <a:pPr algn="r" rtl="1"/>
            <a:r>
              <a:rPr lang="ar-JO" dirty="0"/>
              <a:t>في الماضي كان أي حقل من المعارف يسمى علما. وهكذا كانت علوم الإسلام الشرعية والعلوم الطبيعية تتفق جميعا في كونها ضمن العلوم. في هذه العلوم جميعا يسعى الإنسان للوصول إلى الحقائق والمعارف الصحيحة: </a:t>
            </a:r>
            <a:r>
              <a:rPr lang="ar-JO" u="sng" dirty="0"/>
              <a:t>أولا</a:t>
            </a:r>
            <a:r>
              <a:rPr lang="ar-JO" dirty="0"/>
              <a:t> بتقرير المعارف العقلية المجمع عليها </a:t>
            </a:r>
            <a:r>
              <a:rPr lang="ar-JO" u="sng" dirty="0"/>
              <a:t>وثانيا</a:t>
            </a:r>
            <a:r>
              <a:rPr lang="ar-JO" dirty="0"/>
              <a:t> باستخدام الوسائل التي تنتج معرفة مثل القياس والتجربة وجمع القراءات والمشاهدات وتقرير مدى مصداقية كل منها.</a:t>
            </a:r>
          </a:p>
          <a:p>
            <a:pPr algn="r" rtl="1"/>
            <a:r>
              <a:rPr lang="ar-JO" dirty="0"/>
              <a:t>في الوقت الحديث صارت كلمة العلم (العلم الحديث) حكرا على الجهد الإنساني المنهجي المنظم الذي يرتب وينظم المعارف (حول الكون وما فيه) على شكل تفسيرات وتنبؤات قابلة للفحص. هذا التعريف يضم العلوم الطبيعية والعلوم الإنسانية </a:t>
            </a:r>
            <a:r>
              <a:rPr lang="ar-JO" sz="2400" dirty="0"/>
              <a:t>(ولا يشمل في الأصل العلوم التطبيقية كالهندسة والطب ولا العلوم المساعدة المنهجية التي لا تعتمد على التجربة والمشاهدة كالرياضيات والمنطق... رغم أن الاستخدام المتداول يعتبرها علوما). </a:t>
            </a:r>
            <a:endParaRPr lang="en-US" sz="2400" dirty="0"/>
          </a:p>
        </p:txBody>
      </p:sp>
      <p:sp>
        <p:nvSpPr>
          <p:cNvPr id="4" name="TextBox 3"/>
          <p:cNvSpPr txBox="1"/>
          <p:nvPr/>
        </p:nvSpPr>
        <p:spPr>
          <a:xfrm>
            <a:off x="2590800" y="0"/>
            <a:ext cx="4114800" cy="830997"/>
          </a:xfrm>
          <a:prstGeom prst="rect">
            <a:avLst/>
          </a:prstGeom>
          <a:noFill/>
        </p:spPr>
        <p:txBody>
          <a:bodyPr wrap="square" rtlCol="0">
            <a:spAutoFit/>
          </a:bodyPr>
          <a:lstStyle/>
          <a:p>
            <a:pPr algn="ctr"/>
            <a:r>
              <a:rPr lang="ar-JO" sz="4800" dirty="0"/>
              <a:t>تعريف العلم</a:t>
            </a:r>
            <a:endParaRPr lang="en-US" sz="4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ar-JO" dirty="0"/>
              <a:t>منظومات فكرية متجاورة</a:t>
            </a:r>
            <a:endParaRPr lang="en-US" dirty="0"/>
          </a:p>
        </p:txBody>
      </p:sp>
      <p:sp>
        <p:nvSpPr>
          <p:cNvPr id="3" name="Content Placeholder 2"/>
          <p:cNvSpPr>
            <a:spLocks noGrp="1"/>
          </p:cNvSpPr>
          <p:nvPr>
            <p:ph idx="1"/>
          </p:nvPr>
        </p:nvSpPr>
        <p:spPr>
          <a:xfrm>
            <a:off x="0" y="914400"/>
            <a:ext cx="9144000" cy="5943600"/>
          </a:xfrm>
        </p:spPr>
        <p:txBody>
          <a:bodyPr>
            <a:normAutofit/>
          </a:bodyPr>
          <a:lstStyle/>
          <a:p>
            <a:pPr lvl="1" algn="r" rtl="1"/>
            <a:r>
              <a:rPr lang="ar-JO" dirty="0"/>
              <a:t>ليس هناك اختلاف جوهري بين الإسلام والماركسية والعلم الحديث من ناحية الشكل المعرفي. كلها منظومات فكرية تدعي أنها منظومات معرفية تضم مقولات معرفية. </a:t>
            </a:r>
          </a:p>
          <a:p>
            <a:pPr lvl="1" algn="r" rtl="1"/>
            <a:r>
              <a:rPr lang="ar-JO" dirty="0"/>
              <a:t>هي كلها تسعى للحق وتدعي أنها تنتج مقولات صحيحة. </a:t>
            </a:r>
          </a:p>
          <a:p>
            <a:pPr lvl="1" algn="r" rtl="1"/>
            <a:r>
              <a:rPr lang="ar-JO" dirty="0"/>
              <a:t>وهي كلها تحتوي على نظام داخلي يحكم على مدى مصداقية المقولات المختلفة فيه، </a:t>
            </a:r>
          </a:p>
          <a:p>
            <a:pPr lvl="1" algn="r" rtl="1"/>
            <a:r>
              <a:rPr lang="ar-JO" dirty="0"/>
              <a:t>وهي كلها تدعي أن نظامها الداخلي الحاكم موضوعي مبني على مبادئ عقلانية متاحة لكل باحث عن الحق</a:t>
            </a:r>
            <a:endParaRPr lang="en-US" sz="2400" dirty="0"/>
          </a:p>
          <a:p>
            <a:pPr algn="r" rtl="1"/>
            <a:r>
              <a:rPr lang="ar-JO" dirty="0"/>
              <a:t> </a:t>
            </a:r>
            <a:r>
              <a:rPr lang="ar-JO" sz="2400" dirty="0">
                <a:solidFill>
                  <a:srgbClr val="C00000"/>
                </a:solidFill>
              </a:rPr>
              <a:t>النظام الداخلي الحاكم في الإسلام هو علم الأصول المخدوم من علوم القرآن والحديث وعلوم اللغة وعلوم التاريخ. </a:t>
            </a:r>
            <a:endParaRPr lang="en-US" sz="2400" dirty="0">
              <a:solidFill>
                <a:srgbClr val="C00000"/>
              </a:solidFill>
            </a:endParaRPr>
          </a:p>
          <a:p>
            <a:pPr algn="r" rtl="1"/>
            <a:r>
              <a:rPr lang="ar-JO" sz="2400" dirty="0">
                <a:solidFill>
                  <a:srgbClr val="C00000"/>
                </a:solidFill>
              </a:rPr>
              <a:t>من مبادئ النظام الداخلي الحاكم في العلم الحديث المحترمة مبدأ قابلية الدحض </a:t>
            </a:r>
            <a:r>
              <a:rPr lang="en-US" sz="2400" dirty="0">
                <a:solidFill>
                  <a:srgbClr val="C00000"/>
                </a:solidFill>
              </a:rPr>
              <a:t>(</a:t>
            </a:r>
            <a:r>
              <a:rPr lang="en-US" sz="2400" dirty="0" err="1">
                <a:solidFill>
                  <a:srgbClr val="C00000"/>
                </a:solidFill>
              </a:rPr>
              <a:t>Falsifiability</a:t>
            </a:r>
            <a:r>
              <a:rPr lang="en-US" sz="2400" dirty="0">
                <a:solidFill>
                  <a:srgbClr val="C00000"/>
                </a:solidFill>
              </a:rPr>
              <a:t>)</a:t>
            </a:r>
            <a:r>
              <a:rPr lang="ar-JO" sz="2400" dirty="0">
                <a:solidFill>
                  <a:srgbClr val="C00000"/>
                </a:solidFill>
              </a:rPr>
              <a:t> ومبدأ الالتزام المثودولوجي بالتفسير الطبيعي (</a:t>
            </a:r>
            <a:r>
              <a:rPr lang="en-US" sz="2400" dirty="0">
                <a:solidFill>
                  <a:srgbClr val="C00000"/>
                </a:solidFill>
              </a:rPr>
              <a:t>Methodological Naturalism</a:t>
            </a:r>
            <a:r>
              <a:rPr lang="ar-JO" sz="2400" dirty="0">
                <a:solidFill>
                  <a:srgbClr val="C00000"/>
                </a:solidFill>
              </a:rPr>
              <a:t>) ؟؟</a:t>
            </a:r>
            <a:endParaRPr lang="en-US" sz="2400" dirty="0">
              <a:solidFill>
                <a:srgbClr val="C00000"/>
              </a:solidFill>
            </a:endParaRPr>
          </a:p>
          <a:p>
            <a:pPr algn="r" rtl="1"/>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rtl="1"/>
            <a:r>
              <a:rPr lang="ar-JO" b="1" dirty="0"/>
              <a:t>هل يحصل تقاطع منظومتي الإسلام والعلم الحديث وعدم التوافق بينهما؟</a:t>
            </a:r>
            <a:endParaRPr lang="en-US" dirty="0"/>
          </a:p>
        </p:txBody>
      </p:sp>
      <p:sp>
        <p:nvSpPr>
          <p:cNvPr id="3" name="Content Placeholder 2"/>
          <p:cNvSpPr>
            <a:spLocks noGrp="1"/>
          </p:cNvSpPr>
          <p:nvPr>
            <p:ph idx="1"/>
          </p:nvPr>
        </p:nvSpPr>
        <p:spPr>
          <a:xfrm>
            <a:off x="3657600" y="1447800"/>
            <a:ext cx="5486400" cy="5410200"/>
          </a:xfrm>
          <a:solidFill>
            <a:schemeClr val="accent6">
              <a:lumMod val="60000"/>
              <a:lumOff val="40000"/>
            </a:schemeClr>
          </a:solidFill>
        </p:spPr>
        <p:txBody>
          <a:bodyPr>
            <a:normAutofit lnSpcReduction="10000"/>
          </a:bodyPr>
          <a:lstStyle/>
          <a:p>
            <a:pPr algn="r" rtl="1"/>
            <a:r>
              <a:rPr lang="ar-JO" dirty="0"/>
              <a:t>نعم يحصل</a:t>
            </a:r>
          </a:p>
          <a:p>
            <a:pPr algn="r" rtl="1"/>
            <a:r>
              <a:rPr lang="ar-JO" dirty="0"/>
              <a:t>كلتا المنظومتين تسعيان نحو الحق. </a:t>
            </a:r>
          </a:p>
          <a:p>
            <a:pPr algn="r" rtl="1"/>
            <a:r>
              <a:rPr lang="ar-JO" dirty="0"/>
              <a:t>إذا وجد تناقض لا وجه لرفعه فإن أحدهما مخطئ. </a:t>
            </a:r>
          </a:p>
          <a:p>
            <a:pPr algn="r" rtl="1"/>
            <a:r>
              <a:rPr lang="ar-JO" dirty="0"/>
              <a:t>بما أني مسلم فلن يكون الخطأ عندي إلا في تطبيق النظام الداخلي الحاكم تطبيقا خاطئا من بعض المتكلمين باسم الإسلام. </a:t>
            </a:r>
          </a:p>
          <a:p>
            <a:pPr algn="r" rtl="1"/>
            <a:r>
              <a:rPr lang="ar-JO" dirty="0"/>
              <a:t>من المهم معرفة أن الكثير الكثير من المقولات احتمالية بدرجات مصداقية متفاوتة. </a:t>
            </a:r>
          </a:p>
        </p:txBody>
      </p:sp>
      <p:sp>
        <p:nvSpPr>
          <p:cNvPr id="5" name="TextBox 4"/>
          <p:cNvSpPr txBox="1"/>
          <p:nvPr/>
        </p:nvSpPr>
        <p:spPr>
          <a:xfrm>
            <a:off x="0" y="1447800"/>
            <a:ext cx="3657600" cy="5509200"/>
          </a:xfrm>
          <a:prstGeom prst="rect">
            <a:avLst/>
          </a:prstGeom>
          <a:solidFill>
            <a:schemeClr val="accent6">
              <a:lumMod val="20000"/>
              <a:lumOff val="80000"/>
            </a:schemeClr>
          </a:solidFill>
        </p:spPr>
        <p:txBody>
          <a:bodyPr wrap="square" rtlCol="0">
            <a:spAutoFit/>
          </a:bodyPr>
          <a:lstStyle/>
          <a:p>
            <a:pPr algn="r" rtl="1">
              <a:buFont typeface="Arial" pitchFamily="34" charset="0"/>
              <a:buChar char="•"/>
            </a:pPr>
            <a:r>
              <a:rPr lang="ar-JO" sz="3200" dirty="0"/>
              <a:t>أما إذا كانت المقولة "التي تناقض مقولة العلم الحديث" ذات مصداقية شبه يقينية فأنا فورا أقتنع بخطأ "مقولة العلم الحديث". </a:t>
            </a:r>
          </a:p>
          <a:p>
            <a:pPr algn="r" rtl="1">
              <a:buFont typeface="Arial" pitchFamily="34" charset="0"/>
              <a:buChar char="•"/>
            </a:pPr>
            <a:r>
              <a:rPr lang="ar-JO" sz="3200" dirty="0"/>
              <a:t>مثلا العلم الحديث يرفض وجود رسائل خارجية في الأحلام وسورة يوسف عليه السلام تؤكدها... إذاً "العلم الحديث" هنا مخطئ</a:t>
            </a:r>
          </a:p>
          <a:p>
            <a:pPr algn="r" rtl="1">
              <a:buFont typeface="Arial" pitchFamily="34" charset="0"/>
              <a:buChar char="•"/>
            </a:pP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pPr rtl="1"/>
            <a:r>
              <a:rPr lang="ar-JO" dirty="0"/>
              <a:t>موقف العالم المسلم من العلم الحديث</a:t>
            </a:r>
            <a:endParaRPr lang="en-US" dirty="0"/>
          </a:p>
        </p:txBody>
      </p:sp>
      <p:sp>
        <p:nvSpPr>
          <p:cNvPr id="3" name="Content Placeholder 2"/>
          <p:cNvSpPr>
            <a:spLocks noGrp="1"/>
          </p:cNvSpPr>
          <p:nvPr>
            <p:ph idx="1"/>
          </p:nvPr>
        </p:nvSpPr>
        <p:spPr>
          <a:xfrm>
            <a:off x="-152400" y="1143000"/>
            <a:ext cx="9296400" cy="5410200"/>
          </a:xfrm>
        </p:spPr>
        <p:txBody>
          <a:bodyPr/>
          <a:lstStyle/>
          <a:p>
            <a:pPr algn="r" rtl="1"/>
            <a:r>
              <a:rPr lang="ar-JO" dirty="0"/>
              <a:t>إعجاب وامتنان لأنه طلب للحق ... بدون انبهار أعمى</a:t>
            </a:r>
          </a:p>
          <a:p>
            <a:pPr algn="r" rtl="1"/>
            <a:r>
              <a:rPr lang="ar-JO" dirty="0"/>
              <a:t>اقتداء بالمنهج العلمي الموضوعي والوعي بالتوجه المادي الطبيعي</a:t>
            </a:r>
          </a:p>
          <a:p>
            <a:pPr algn="r" rtl="1"/>
            <a:r>
              <a:rPr lang="ar-JO" dirty="0"/>
              <a:t>إشفاق على العلم والعلماء من المصيبة الكبرى ”نزعة الإلحاد“</a:t>
            </a:r>
          </a:p>
          <a:p>
            <a:pPr algn="r" rtl="1"/>
            <a:r>
              <a:rPr lang="ar-JO" dirty="0"/>
              <a:t>تبيّن الأسباب ومعالجتها (تاريخ العلم – فلسفة العلم – غرور العلم)</a:t>
            </a:r>
          </a:p>
          <a:p>
            <a:pPr algn="r" rtl="1">
              <a:buFontTx/>
              <a:buChar char="-"/>
            </a:pPr>
            <a:r>
              <a:rPr lang="ar-JO" dirty="0"/>
              <a:t>التفسير الطبيعي هو الأولى... ولكن رفض أي تفسير غير طبيعي؟؟؟</a:t>
            </a:r>
          </a:p>
          <a:p>
            <a:pPr algn="r" rtl="1">
              <a:buFontTx/>
              <a:buChar char="-"/>
            </a:pPr>
            <a:r>
              <a:rPr lang="ar-JO" dirty="0"/>
              <a:t>نجاح الفيزياء غير طبيعي!! يحتاج نفسه إلى تفسير</a:t>
            </a:r>
          </a:p>
          <a:p>
            <a:pPr algn="r" rtl="1">
              <a:buFontTx/>
              <a:buChar char="-"/>
            </a:pPr>
            <a:r>
              <a:rPr lang="ar-JO" dirty="0"/>
              <a:t>نجاح العلم الحديث يعود إلى هدية لا نفهمها ولا نستحقها هي: فاعلية الرياضيات غير المفهومة في العلوم الطبيعية</a:t>
            </a:r>
          </a:p>
          <a:p>
            <a:pPr algn="r" rtl="1">
              <a:buFontTx/>
              <a:buChar char="-"/>
            </a:pPr>
            <a:r>
              <a:rPr lang="ar-JO" dirty="0"/>
              <a:t>الغرور طبع إنساني!!</a:t>
            </a:r>
            <a:r>
              <a:rPr lang="en-US" dirty="0"/>
              <a:t> </a:t>
            </a:r>
            <a:r>
              <a:rPr lang="ar-JO" dirty="0"/>
              <a:t>(</a:t>
            </a:r>
            <a:r>
              <a:rPr lang="en-US" dirty="0"/>
              <a:t>Dawkins, Weinberg</a:t>
            </a:r>
            <a:r>
              <a:rPr lang="ar-JO" dirty="0"/>
              <a:t>)</a:t>
            </a:r>
          </a:p>
          <a:p>
            <a:pPr algn="r" rtl="1">
              <a:buFontTx/>
              <a:buChar char="-"/>
            </a:pPr>
            <a:endParaRPr lang="ar-JO" dirty="0"/>
          </a:p>
          <a:p>
            <a:pPr algn="r" rtl="1">
              <a:buNone/>
            </a:pPr>
            <a:endParaRPr lang="ar-JO"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600" y="0"/>
            <a:ext cx="4343400" cy="609600"/>
          </a:xfrm>
          <a:solidFill>
            <a:schemeClr val="accent2"/>
          </a:solidFill>
        </p:spPr>
        <p:txBody>
          <a:bodyPr>
            <a:normAutofit fontScale="90000"/>
          </a:bodyPr>
          <a:lstStyle/>
          <a:p>
            <a:pPr rtl="1"/>
            <a:r>
              <a:rPr lang="ar-JO" dirty="0"/>
              <a:t> العلم الحديث لا يستطيع:</a:t>
            </a:r>
            <a:endParaRPr lang="en-US" dirty="0"/>
          </a:p>
        </p:txBody>
      </p:sp>
      <p:sp>
        <p:nvSpPr>
          <p:cNvPr id="3" name="Content Placeholder 2"/>
          <p:cNvSpPr>
            <a:spLocks noGrp="1"/>
          </p:cNvSpPr>
          <p:nvPr>
            <p:ph idx="1"/>
          </p:nvPr>
        </p:nvSpPr>
        <p:spPr>
          <a:xfrm>
            <a:off x="4724400" y="609600"/>
            <a:ext cx="4419600" cy="6248400"/>
          </a:xfrm>
          <a:solidFill>
            <a:schemeClr val="accent6">
              <a:lumMod val="20000"/>
              <a:lumOff val="80000"/>
            </a:schemeClr>
          </a:solidFill>
        </p:spPr>
        <p:txBody>
          <a:bodyPr>
            <a:normAutofit fontScale="62500" lnSpcReduction="20000"/>
          </a:bodyPr>
          <a:lstStyle/>
          <a:p>
            <a:pPr algn="r" rtl="1"/>
            <a:r>
              <a:rPr lang="ar-JO" dirty="0"/>
              <a:t>إثبات خلو مسلماته التي يبني عليها الرياضيات من التناقض (</a:t>
            </a:r>
            <a:r>
              <a:rPr lang="en-US" dirty="0" err="1"/>
              <a:t>Goedel</a:t>
            </a:r>
            <a:r>
              <a:rPr lang="ar-JO" dirty="0"/>
              <a:t>). </a:t>
            </a:r>
          </a:p>
          <a:p>
            <a:pPr algn="r" rtl="1"/>
            <a:r>
              <a:rPr lang="ar-JO" dirty="0"/>
              <a:t>التنبؤ بالطقس بعد 20 يوما (أثر الفراشة </a:t>
            </a:r>
            <a:r>
              <a:rPr lang="en-US" dirty="0"/>
              <a:t>Butterfly Effect</a:t>
            </a:r>
            <a:r>
              <a:rPr lang="ar-JO" dirty="0"/>
              <a:t>). </a:t>
            </a:r>
          </a:p>
          <a:p>
            <a:pPr algn="r" rtl="1"/>
            <a:r>
              <a:rPr lang="ar-JO" dirty="0"/>
              <a:t>دفع شبه المشككين في تصديق الحواس والعقل. </a:t>
            </a:r>
          </a:p>
          <a:p>
            <a:pPr algn="r" rtl="1"/>
            <a:r>
              <a:rPr lang="ar-JO" dirty="0"/>
              <a:t>تفسير كون العالم قابلا للفهم (</a:t>
            </a:r>
            <a:r>
              <a:rPr lang="en-US" dirty="0"/>
              <a:t>Comprehensibility of the World</a:t>
            </a:r>
            <a:r>
              <a:rPr lang="ar-JO" dirty="0"/>
              <a:t>). </a:t>
            </a:r>
          </a:p>
          <a:p>
            <a:pPr algn="r" rtl="1"/>
            <a:r>
              <a:rPr lang="ar-JO" dirty="0"/>
              <a:t>تفسير </a:t>
            </a:r>
            <a:r>
              <a:rPr lang="ar-JO"/>
              <a:t>الإيمان بوجود موضوعي </a:t>
            </a:r>
            <a:r>
              <a:rPr lang="ar-JO" dirty="0"/>
              <a:t>للأخلاق (</a:t>
            </a:r>
            <a:r>
              <a:rPr lang="en-US" dirty="0"/>
              <a:t>Objective Morality</a:t>
            </a:r>
            <a:r>
              <a:rPr lang="ar-JO" dirty="0"/>
              <a:t>) بنفس قدر الإيمان بوجود موضوعي للعالم الخارجي. </a:t>
            </a:r>
          </a:p>
          <a:p>
            <a:pPr algn="r" rtl="1"/>
            <a:r>
              <a:rPr lang="ar-JO" dirty="0"/>
              <a:t>تفسيراستعداد كثير من الناس للتضحية بدون مقابل (</a:t>
            </a:r>
            <a:r>
              <a:rPr lang="en-US" dirty="0"/>
              <a:t>Altruism</a:t>
            </a:r>
            <a:r>
              <a:rPr lang="ar-JO" dirty="0"/>
              <a:t>)، </a:t>
            </a:r>
          </a:p>
          <a:p>
            <a:pPr algn="r" rtl="1"/>
            <a:r>
              <a:rPr lang="ar-JO" dirty="0"/>
              <a:t>تفسير الوعي (</a:t>
            </a:r>
            <a:r>
              <a:rPr lang="en-US" dirty="0"/>
              <a:t>Consciousness</a:t>
            </a:r>
            <a:r>
              <a:rPr lang="ar-JO" dirty="0"/>
              <a:t>)، </a:t>
            </a:r>
          </a:p>
          <a:p>
            <a:pPr algn="r" rtl="1"/>
            <a:r>
              <a:rPr lang="ar-JO" dirty="0"/>
              <a:t>تفسير الإرادة الحرة للإنسان (</a:t>
            </a:r>
            <a:r>
              <a:rPr lang="en-US" dirty="0"/>
              <a:t>Free Will</a:t>
            </a:r>
            <a:r>
              <a:rPr lang="ar-JO" dirty="0"/>
              <a:t>) . </a:t>
            </a:r>
          </a:p>
          <a:p>
            <a:pPr algn="r" rtl="1"/>
            <a:r>
              <a:rPr lang="ar-JO" dirty="0"/>
              <a:t>تحديد إذا كانت ذرة راديوم ستتحلل في الدقيقة التالية أم لا. </a:t>
            </a:r>
          </a:p>
          <a:p>
            <a:pPr algn="r" rtl="1"/>
            <a:r>
              <a:rPr lang="ar-JO" dirty="0"/>
              <a:t>تفسير لماذا تؤثر قناعة الانسان على الأمور الخارجية (سرعة شفاء المريض – تحقق الأماني) </a:t>
            </a:r>
          </a:p>
          <a:p>
            <a:pPr algn="r" rtl="1"/>
            <a:r>
              <a:rPr lang="ar-JO" dirty="0"/>
              <a:t>تفسير كيف وصلت البشرية إلى كثير من المعارف السابقة مثل اللغة والزراعة والرياضيات وأسرار الأعشاب والإبر الصينية. </a:t>
            </a:r>
          </a:p>
        </p:txBody>
      </p:sp>
      <p:sp>
        <p:nvSpPr>
          <p:cNvPr id="4" name="TextBox 3"/>
          <p:cNvSpPr txBox="1"/>
          <p:nvPr/>
        </p:nvSpPr>
        <p:spPr>
          <a:xfrm>
            <a:off x="0" y="1"/>
            <a:ext cx="4800600" cy="6863417"/>
          </a:xfrm>
          <a:prstGeom prst="rect">
            <a:avLst/>
          </a:prstGeom>
          <a:solidFill>
            <a:schemeClr val="accent6">
              <a:lumMod val="60000"/>
              <a:lumOff val="40000"/>
            </a:schemeClr>
          </a:solidFill>
        </p:spPr>
        <p:txBody>
          <a:bodyPr wrap="square" rtlCol="0">
            <a:spAutoFit/>
          </a:bodyPr>
          <a:lstStyle/>
          <a:p>
            <a:pPr algn="r" rtl="1">
              <a:buFont typeface="Arial" pitchFamily="34" charset="0"/>
              <a:buChar char="•"/>
            </a:pPr>
            <a:r>
              <a:rPr lang="ar-JO" sz="2000" dirty="0"/>
              <a:t>تفسير الإلهام (</a:t>
            </a:r>
            <a:r>
              <a:rPr lang="en-US" sz="2000" dirty="0"/>
              <a:t>Inspiration</a:t>
            </a:r>
            <a:r>
              <a:rPr lang="ar-JO" sz="2000" dirty="0"/>
              <a:t>) الذي يجعل العالم يصل إلى الحقيقة العلمية. </a:t>
            </a:r>
          </a:p>
          <a:p>
            <a:pPr algn="r" rtl="1">
              <a:buFont typeface="Arial" pitchFamily="34" charset="0"/>
              <a:buChar char="•"/>
            </a:pPr>
            <a:r>
              <a:rPr lang="ar-JO" sz="2000" dirty="0"/>
              <a:t>تفسير لماذا يشعر الكلب على بعد كيلومترات بنيّة صاحبه العودة إلى البيت. </a:t>
            </a:r>
          </a:p>
          <a:p>
            <a:pPr algn="r" rtl="1">
              <a:buFont typeface="Arial" pitchFamily="34" charset="0"/>
              <a:buChar char="•"/>
            </a:pPr>
            <a:r>
              <a:rPr lang="ar-JO" sz="2000" dirty="0"/>
              <a:t>تفسير صدق الأحلام. </a:t>
            </a:r>
          </a:p>
          <a:p>
            <a:pPr algn="r" rtl="1">
              <a:buFont typeface="Arial" pitchFamily="34" charset="0"/>
              <a:buChar char="•"/>
            </a:pPr>
            <a:r>
              <a:rPr lang="ar-JO" sz="2000" dirty="0"/>
              <a:t>الاقتناع بقوة عين الحسود. </a:t>
            </a:r>
          </a:p>
          <a:p>
            <a:pPr algn="r" rtl="1">
              <a:buFont typeface="Arial" pitchFamily="34" charset="0"/>
              <a:buChar char="•"/>
            </a:pPr>
            <a:r>
              <a:rPr lang="ar-JO" sz="2000" dirty="0"/>
              <a:t>تفسير عمل الإبر الصينية. </a:t>
            </a:r>
          </a:p>
          <a:p>
            <a:pPr algn="r" rtl="1">
              <a:buFont typeface="Arial" pitchFamily="34" charset="0"/>
              <a:buChar char="•"/>
            </a:pPr>
            <a:r>
              <a:rPr lang="ar-JO" sz="2000" dirty="0"/>
              <a:t>تفسير ما يفعله الفقراء (الدراويش) واليوغيون من عجائب في تحكمهم بأجسادهم وقطعها ولصقها ومنع الدم من السيلان.</a:t>
            </a:r>
          </a:p>
          <a:p>
            <a:pPr algn="r" rtl="1">
              <a:buFont typeface="Arial" pitchFamily="34" charset="0"/>
              <a:buChar char="•"/>
            </a:pPr>
            <a:r>
              <a:rPr lang="ar-JO" sz="2000" dirty="0"/>
              <a:t>تفسير كثير من أفعال المشعوذين والسحرة (مثل ديفيد كوبرفيلد ومغيّري أقنعة الوجوه الصينيين). </a:t>
            </a:r>
          </a:p>
          <a:p>
            <a:pPr algn="r" rtl="1">
              <a:buFont typeface="Arial" pitchFamily="34" charset="0"/>
              <a:buChar char="•"/>
            </a:pPr>
            <a:r>
              <a:rPr lang="ar-JO" sz="2000" dirty="0"/>
              <a:t>تفسير الانفجار الكامبري (</a:t>
            </a:r>
            <a:r>
              <a:rPr lang="en-US" sz="2000" dirty="0"/>
              <a:t>Cambrian Explosion</a:t>
            </a:r>
            <a:r>
              <a:rPr lang="ar-JO" sz="2000" dirty="0"/>
              <a:t>). </a:t>
            </a:r>
          </a:p>
          <a:p>
            <a:pPr algn="r" rtl="1">
              <a:buFont typeface="Arial" pitchFamily="34" charset="0"/>
              <a:buChar char="•"/>
            </a:pPr>
            <a:r>
              <a:rPr lang="ar-JO" sz="2000" dirty="0"/>
              <a:t>تحديد موقع تخزين الغريزة في المخلوقات. </a:t>
            </a:r>
          </a:p>
          <a:p>
            <a:pPr algn="r" rtl="1">
              <a:buFont typeface="Arial" pitchFamily="34" charset="0"/>
              <a:buChar char="•"/>
            </a:pPr>
            <a:r>
              <a:rPr lang="ar-JO" sz="2000" dirty="0"/>
              <a:t>تفسير لماذا ينتحر الأسد سلطان فيأكل يده (التي ضرب بها خطأ مدربه محمد الحلو ضربة قاتلة) ويتركها تدمي حتى يموت. </a:t>
            </a:r>
          </a:p>
          <a:p>
            <a:pPr algn="r" rtl="1">
              <a:buFont typeface="Arial" pitchFamily="34" charset="0"/>
              <a:buChar char="•"/>
            </a:pPr>
            <a:r>
              <a:rPr lang="ar-JO" sz="2000" dirty="0"/>
              <a:t>تفسير الضبط الفائق الدقة للكون (</a:t>
            </a:r>
            <a:r>
              <a:rPr lang="en-US" sz="2000" dirty="0"/>
              <a:t>Fine Tuning</a:t>
            </a:r>
            <a:r>
              <a:rPr lang="ar-JO" sz="2000" dirty="0"/>
              <a:t>). </a:t>
            </a:r>
          </a:p>
          <a:p>
            <a:pPr algn="r" rtl="1">
              <a:buFont typeface="Arial" pitchFamily="34" charset="0"/>
              <a:buChar char="•"/>
            </a:pPr>
            <a:r>
              <a:rPr lang="ar-JO" sz="2000" dirty="0"/>
              <a:t>تفسير الشعور الغامر بالجمال عند مشاهدة غروب الشمس والشعور الغامر بالعظمة بالقرب من بركان ثائر. </a:t>
            </a:r>
          </a:p>
          <a:p>
            <a:pPr algn="r" rtl="1">
              <a:buFont typeface="Arial" pitchFamily="34" charset="0"/>
              <a:buChar char="•"/>
            </a:pPr>
            <a:r>
              <a:rPr lang="ar-JO" sz="2000" dirty="0"/>
              <a:t>تفسير توجه الإنسان الملحد في طائرة تسقط أو في مركب يغرق إلى الدعاء الصادق لله تعالى بالنجاة.</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JO" dirty="0"/>
              <a:t>العلاقة التاريخية بين العلم الحديث والدين</a:t>
            </a:r>
            <a:endParaRPr lang="en-US" dirty="0"/>
          </a:p>
        </p:txBody>
      </p:sp>
      <p:sp>
        <p:nvSpPr>
          <p:cNvPr id="3" name="Content Placeholder 2"/>
          <p:cNvSpPr>
            <a:spLocks noGrp="1"/>
          </p:cNvSpPr>
          <p:nvPr>
            <p:ph idx="1"/>
          </p:nvPr>
        </p:nvSpPr>
        <p:spPr>
          <a:xfrm>
            <a:off x="0" y="1600200"/>
            <a:ext cx="9144000" cy="4876800"/>
          </a:xfrm>
        </p:spPr>
        <p:txBody>
          <a:bodyPr/>
          <a:lstStyle/>
          <a:p>
            <a:pPr algn="r" rtl="1"/>
            <a:r>
              <a:rPr lang="ar-JO" dirty="0"/>
              <a:t>الثورة العلمية: الجيل الأول – علماء متدينون يصادمون تعاليم الكنيسة</a:t>
            </a:r>
          </a:p>
          <a:p>
            <a:pPr algn="r" rtl="1"/>
            <a:r>
              <a:rPr lang="ar-JO" dirty="0"/>
              <a:t>الجيل الثاني والثالث: ديكارت وباسكال  -  نيوتن ولايبنتز</a:t>
            </a:r>
          </a:p>
          <a:p>
            <a:pPr algn="r" rtl="1"/>
            <a:r>
              <a:rPr lang="ar-JO" dirty="0"/>
              <a:t>عصر التنوير: نيوتن كما ظنه فولتير</a:t>
            </a:r>
          </a:p>
          <a:p>
            <a:pPr algn="r" rtl="1"/>
            <a:r>
              <a:rPr lang="ar-JO" dirty="0"/>
              <a:t>الملحدون والربوبيون</a:t>
            </a:r>
          </a:p>
          <a:p>
            <a:pPr algn="r" rtl="1"/>
            <a:r>
              <a:rPr lang="ar-JO" dirty="0"/>
              <a:t>انتصار العلم في القرن التاسع عشر– نزعة ”العلمية“ </a:t>
            </a:r>
            <a:r>
              <a:rPr lang="en-US" dirty="0"/>
              <a:t>SCIENTISM</a:t>
            </a:r>
            <a:endParaRPr lang="ar-JO" dirty="0"/>
          </a:p>
          <a:p>
            <a:pPr algn="r" rtl="1"/>
            <a:r>
              <a:rPr lang="ar-JO" dirty="0"/>
              <a:t>ردّات الفعل في القرن العشرين ... انهزام ”العلمية“</a:t>
            </a:r>
          </a:p>
          <a:p>
            <a:pPr algn="r" rtl="1"/>
            <a:r>
              <a:rPr lang="ar-JO" dirty="0"/>
              <a:t>المثقفون في العالم الإسلامي والعلم الحديث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rmAutofit fontScale="90000"/>
          </a:bodyPr>
          <a:lstStyle/>
          <a:p>
            <a:pPr rtl="1"/>
            <a:r>
              <a:rPr lang="ar-JO" b="1" dirty="0"/>
              <a:t>(</a:t>
            </a:r>
            <a:r>
              <a:rPr lang="en-US" b="1" dirty="0"/>
              <a:t>Methodological Naturalism</a:t>
            </a:r>
            <a:r>
              <a:rPr lang="ar-JO" b="1" dirty="0"/>
              <a:t>): </a:t>
            </a:r>
            <a:br>
              <a:rPr lang="ar-JO" b="1" dirty="0"/>
            </a:br>
            <a:r>
              <a:rPr lang="ar-JO" b="1" dirty="0"/>
              <a:t>مبدأ الالتزام المثودولوجي بالتفسير الطبيعي</a:t>
            </a:r>
            <a:endParaRPr lang="en-US" b="1" dirty="0"/>
          </a:p>
        </p:txBody>
      </p:sp>
      <p:sp>
        <p:nvSpPr>
          <p:cNvPr id="3" name="Content Placeholder 2"/>
          <p:cNvSpPr>
            <a:spLocks noGrp="1"/>
          </p:cNvSpPr>
          <p:nvPr>
            <p:ph idx="1"/>
          </p:nvPr>
        </p:nvSpPr>
        <p:spPr>
          <a:xfrm>
            <a:off x="457200" y="1600200"/>
            <a:ext cx="8229600" cy="4876800"/>
          </a:xfrm>
        </p:spPr>
        <p:txBody>
          <a:bodyPr>
            <a:normAutofit lnSpcReduction="10000"/>
          </a:bodyPr>
          <a:lstStyle/>
          <a:p>
            <a:pPr algn="r" rtl="1"/>
            <a:r>
              <a:rPr lang="ar-JO" dirty="0"/>
              <a:t>رفض اعتبار أي عناصر غير طبيعية في البحث العلمي</a:t>
            </a:r>
          </a:p>
          <a:p>
            <a:pPr algn="r" rtl="1"/>
            <a:r>
              <a:rPr lang="ar-JO" dirty="0"/>
              <a:t>لنفرض الآن أن العلماء حاولوا تفسير ظاهرة وجود كتاب اسمه "القرآن”</a:t>
            </a:r>
          </a:p>
          <a:p>
            <a:pPr algn="r" rtl="1"/>
            <a:r>
              <a:rPr lang="ar-JO" dirty="0"/>
              <a:t>إذا منعت كل التفسيرات غير الطبيعية فلا تنتظر إلا جوابا واحدا من هؤلاء العلماء: "القرآن من تأليف محمد”</a:t>
            </a:r>
          </a:p>
          <a:p>
            <a:pPr algn="r" rtl="1"/>
            <a:r>
              <a:rPr lang="ar-JO" dirty="0"/>
              <a:t>ماكسيم رودينسون يفسر ظاهرة الوحي: هذا من عجائب "العقل الباطن" التي ستتكشف لنا في المستقبل</a:t>
            </a:r>
          </a:p>
          <a:p>
            <a:pPr algn="r" rtl="1"/>
            <a:r>
              <a:rPr lang="ar-JO" sz="2400" dirty="0"/>
              <a:t>رودينسون اضطر لاعتقاد أن العقل الباطن كون شخصية جديدة اسمها جبريل كانت تؤلف كلاما في غاية الإتقان بأسلوب مختلف تماما عن أسلوب الشخصية الأصلية ثم تتكلم مع الشخصية الأصلية (المرة تلو الأخرى طوال 23 سنة) وتأمرها بحفظ هذا الكلام</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pPr rtl="1"/>
            <a:r>
              <a:rPr lang="ar-JO" dirty="0"/>
              <a:t>المعجزات وخرق العادة</a:t>
            </a:r>
            <a:endParaRPr lang="en-US" dirty="0"/>
          </a:p>
        </p:txBody>
      </p:sp>
      <p:sp>
        <p:nvSpPr>
          <p:cNvPr id="3" name="Content Placeholder 2"/>
          <p:cNvSpPr>
            <a:spLocks noGrp="1"/>
          </p:cNvSpPr>
          <p:nvPr>
            <p:ph idx="1"/>
          </p:nvPr>
        </p:nvSpPr>
        <p:spPr>
          <a:xfrm>
            <a:off x="0" y="1219200"/>
            <a:ext cx="8991600" cy="5638800"/>
          </a:xfrm>
        </p:spPr>
        <p:txBody>
          <a:bodyPr>
            <a:normAutofit fontScale="85000" lnSpcReduction="10000"/>
          </a:bodyPr>
          <a:lstStyle/>
          <a:p>
            <a:pPr marL="342900" lvl="1" indent="-342900" algn="r" rtl="1">
              <a:buFont typeface="Arial" pitchFamily="34" charset="0"/>
              <a:buChar char="•"/>
            </a:pPr>
            <a:r>
              <a:rPr lang="ar-JO" dirty="0"/>
              <a:t>خرق قوانين الطبيعة (مثل معجزات الأنبياء وكرامات الأولياء وغير ذلك) ثابت في الدين ومنقول باشتهار وتواتر في كل المجتمعات. </a:t>
            </a:r>
          </a:p>
          <a:p>
            <a:pPr marL="342900" lvl="1" indent="-342900" algn="r" rtl="1">
              <a:buFont typeface="Arial" pitchFamily="34" charset="0"/>
              <a:buChar char="•"/>
            </a:pPr>
            <a:r>
              <a:rPr lang="ar-JO" dirty="0"/>
              <a:t>في محاولة للتوفيق مع العلم الحديث نادى البعض صراحة بفهم جديد غير حرفي للنصوص الدينية</a:t>
            </a:r>
          </a:p>
          <a:p>
            <a:pPr marL="342900" lvl="1" indent="-342900" algn="r" rtl="1">
              <a:buFont typeface="Arial" pitchFamily="34" charset="0"/>
              <a:buChar char="•"/>
            </a:pPr>
            <a:r>
              <a:rPr lang="ar-JO" dirty="0"/>
              <a:t>وطالب آخرون العلماء بالتفتيش عن تفسيرات طبيعية للمعجزات، توافق العلم فلا تتناقض مثلا مع قانون حفظ الطاقة.</a:t>
            </a:r>
          </a:p>
          <a:p>
            <a:pPr marL="342900" lvl="1" indent="-342900" algn="r" rtl="1">
              <a:buFont typeface="Arial" pitchFamily="34" charset="0"/>
              <a:buChar char="•"/>
            </a:pPr>
            <a:r>
              <a:rPr lang="ar-JO" dirty="0"/>
              <a:t>ليس في أي قانون فيزيائي حجية الضرورة والوجوب (</a:t>
            </a:r>
            <a:r>
              <a:rPr lang="en-US" dirty="0"/>
              <a:t>necessity</a:t>
            </a:r>
            <a:r>
              <a:rPr lang="ar-JO" dirty="0"/>
              <a:t>)، </a:t>
            </a:r>
          </a:p>
          <a:p>
            <a:pPr marL="342900" lvl="1" indent="-342900" algn="r" rtl="1">
              <a:buFont typeface="Arial" pitchFamily="34" charset="0"/>
              <a:buChar char="•"/>
            </a:pPr>
            <a:r>
              <a:rPr lang="ar-JO" dirty="0"/>
              <a:t>لا يمكن فرض هذا القانون على قدرة الله تعالى ومشيئته.</a:t>
            </a:r>
          </a:p>
          <a:p>
            <a:pPr marL="342900" lvl="1" indent="-342900" algn="r" rtl="1">
              <a:buFont typeface="Arial" pitchFamily="34" charset="0"/>
              <a:buChar char="•"/>
            </a:pPr>
            <a:r>
              <a:rPr lang="ar-JO" dirty="0"/>
              <a:t>أما تعلقهم بقانون حفظ الطاقة فهو تعلق سخيف. معظم العلماء كانوا على استعداد للتضحية بقانون حفظ الطاقة في سبيل تفسير طيف أشعة بيتا قبل أن يفاجئهم باولي (</a:t>
            </a:r>
            <a:r>
              <a:rPr lang="en-US" dirty="0"/>
              <a:t>Pauli</a:t>
            </a:r>
            <a:r>
              <a:rPr lang="ar-JO" dirty="0"/>
              <a:t>) بحله العبقري، النيوترينو</a:t>
            </a:r>
          </a:p>
          <a:p>
            <a:pPr marL="342900" lvl="1" indent="-342900" algn="r" rtl="1">
              <a:buFont typeface="Arial" pitchFamily="34" charset="0"/>
              <a:buChar char="•"/>
            </a:pPr>
            <a:r>
              <a:rPr lang="ar-JO" dirty="0"/>
              <a:t>كلفة اختراع جسيم لا يمكن رؤيته في المختبر أقل من كلفة التضحية بقانون حفظ الطاقة. </a:t>
            </a:r>
          </a:p>
          <a:p>
            <a:pPr marL="342900" lvl="1" indent="-342900" algn="r" rtl="1">
              <a:buFont typeface="Arial" pitchFamily="34" charset="0"/>
              <a:buChar char="•"/>
            </a:pPr>
            <a:r>
              <a:rPr lang="ar-JO" dirty="0"/>
              <a:t>وبنفس المنطق كلفة التضحية بقانون حفظ الطاقة أقل بكثير من كلفة "التضحية" بصفات الألوهية مثل القدرة والإرادة. </a:t>
            </a:r>
          </a:p>
          <a:p>
            <a:pPr marL="342900" lvl="1" indent="-342900" algn="r" rtl="1">
              <a:buFont typeface="Arial" pitchFamily="34" charset="0"/>
              <a:buChar char="•"/>
            </a:pPr>
            <a:r>
              <a:rPr lang="ar-JO" sz="2400" dirty="0"/>
              <a:t>المعجزة هي دليل النبوة الذي يقام به الحجة على المخالفين: خرق للعادة في مقام التحدي!ّ! </a:t>
            </a:r>
            <a:endParaRPr lang="en-US" sz="2400" dirty="0"/>
          </a:p>
          <a:p>
            <a:pPr algn="r" rtl="1"/>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pPr lvl="1" algn="ctr" rtl="1">
              <a:spcBef>
                <a:spcPct val="0"/>
              </a:spcBef>
            </a:pPr>
            <a:r>
              <a:rPr lang="ar-JO" sz="2800" b="1" dirty="0"/>
              <a:t>هل من الممكن استخراج حقائق علمية من النصوص الدينية؟</a:t>
            </a:r>
            <a:endParaRPr lang="en-US" sz="2800" dirty="0"/>
          </a:p>
        </p:txBody>
      </p:sp>
      <p:sp>
        <p:nvSpPr>
          <p:cNvPr id="3" name="Content Placeholder 2"/>
          <p:cNvSpPr>
            <a:spLocks noGrp="1"/>
          </p:cNvSpPr>
          <p:nvPr>
            <p:ph idx="1"/>
          </p:nvPr>
        </p:nvSpPr>
        <p:spPr>
          <a:xfrm>
            <a:off x="457200" y="762000"/>
            <a:ext cx="8229600" cy="5638800"/>
          </a:xfrm>
        </p:spPr>
        <p:txBody>
          <a:bodyPr>
            <a:normAutofit fontScale="85000" lnSpcReduction="10000"/>
          </a:bodyPr>
          <a:lstStyle/>
          <a:p>
            <a:pPr algn="r" rtl="1"/>
            <a:r>
              <a:rPr lang="ar-JO" dirty="0"/>
              <a:t>أنا أتفهم حساسية العلماء الجادين (أعضاء مجموعة العمل) من استفحال دعاوى الإعجاز العلمي في القرآن الكريم والسنة النبوية الشريفة (وقد لاحظت حساسية أعضاء مجموعة العمل "القوة المشتغلة" في التقرير)</a:t>
            </a:r>
          </a:p>
          <a:p>
            <a:pPr algn="r" rtl="1"/>
            <a:r>
              <a:rPr lang="ar-JO" dirty="0"/>
              <a:t> وأنا أقر بوجود تجاوزات غير علمية وغير منصفة وغير مقبولة دينيا في هذا المجال. </a:t>
            </a:r>
          </a:p>
          <a:p>
            <a:pPr algn="r" rtl="1"/>
            <a:r>
              <a:rPr lang="ar-JO" dirty="0"/>
              <a:t>ولكن وجود هذه التجاوزات لا يعني أن كتاب الله المعجز المحفوظ خال من أي إشارات علمية أو تركيبات رياضية. </a:t>
            </a:r>
          </a:p>
          <a:p>
            <a:pPr algn="r" rtl="1"/>
            <a:r>
              <a:rPr lang="ar-JO" dirty="0"/>
              <a:t>(أعتقد جازما أن فحوصا إحصائية بسيطة تستطيع إثبات ظواهر رقمية في القرآن الكريم لا يمكن للصدفة أن تفسرها ولا يعتقد أحد أن محمد بن عبد الله صلى الله عليه وعلى آله وسلم خطر بباله الحرص على وجودها – مثل ظاهرة العدد 19). </a:t>
            </a:r>
          </a:p>
          <a:p>
            <a:pPr algn="r" rtl="1"/>
            <a:r>
              <a:rPr lang="ar-JO" dirty="0"/>
              <a:t>كما أن وجود هذه التجاوزات لا يكون الرد العلمي الجاد عليه أن تشطب إمكانية التعرف على حقائق علمية من النصوص الدينية. تفسر بالعقد النفسية وأمراض العقل الباطن وإنما سببها هو المس الشيطاني.</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pPr rtl="1"/>
            <a:r>
              <a:rPr lang="ar-JO" dirty="0"/>
              <a:t>حقائق يؤكدها الدين قد يجوز فحصها علميا</a:t>
            </a:r>
            <a:endParaRPr lang="en-US" dirty="0"/>
          </a:p>
        </p:txBody>
      </p:sp>
      <p:sp>
        <p:nvSpPr>
          <p:cNvPr id="3" name="Content Placeholder 2"/>
          <p:cNvSpPr>
            <a:spLocks noGrp="1"/>
          </p:cNvSpPr>
          <p:nvPr>
            <p:ph idx="1"/>
          </p:nvPr>
        </p:nvSpPr>
        <p:spPr>
          <a:xfrm>
            <a:off x="228600" y="1219200"/>
            <a:ext cx="8915400" cy="5638800"/>
          </a:xfrm>
        </p:spPr>
        <p:txBody>
          <a:bodyPr>
            <a:normAutofit/>
          </a:bodyPr>
          <a:lstStyle/>
          <a:p>
            <a:pPr lvl="2" algn="r" rtl="1"/>
            <a:r>
              <a:rPr lang="ar-JO" sz="3200" dirty="0"/>
              <a:t>وجود ظاهرة دورية هي الأسبوع</a:t>
            </a:r>
            <a:endParaRPr lang="en-US" sz="3200" dirty="0"/>
          </a:p>
          <a:p>
            <a:pPr lvl="2" algn="r" rtl="1"/>
            <a:r>
              <a:rPr lang="ar-JO" sz="3200" dirty="0"/>
              <a:t>وجود ظاهرة دورية هي السنة القمرية</a:t>
            </a:r>
            <a:endParaRPr lang="en-US" sz="3200" dirty="0"/>
          </a:p>
          <a:p>
            <a:pPr lvl="2" algn="r" rtl="1"/>
            <a:r>
              <a:rPr lang="ar-JO" sz="3200" dirty="0"/>
              <a:t> وعي الإنسان يؤثر على العالم المادي. (كلما زادت قناعتك بتحقق دعائك زاد احتمال التحقق)</a:t>
            </a:r>
            <a:endParaRPr lang="en-US" sz="3200" dirty="0"/>
          </a:p>
          <a:p>
            <a:pPr lvl="2" algn="r" rtl="1"/>
            <a:r>
              <a:rPr lang="ar-JO" sz="3200" dirty="0"/>
              <a:t>إمكانية الإبصار الجزئي لحوادث تفصيلية مستقبلية في النوم</a:t>
            </a:r>
            <a:endParaRPr lang="en-US" sz="3200" dirty="0"/>
          </a:p>
          <a:p>
            <a:pPr lvl="2" algn="r" rtl="1"/>
            <a:r>
              <a:rPr lang="ar-JO" sz="3200" dirty="0"/>
              <a:t>وجود كائنات غير مرئية تستطيع أن توسوس للإنسان وتتلاعب بأحاديث نفسه.</a:t>
            </a:r>
          </a:p>
          <a:p>
            <a:pPr lvl="2" algn="r" rtl="1"/>
            <a:r>
              <a:rPr lang="ar-JO" sz="3200" dirty="0"/>
              <a:t>وجود ظواهر نفسية شاذة لا تفسر بالعقد النفسية وأمراض العقل الباطن وإنما سببها هو المس الشيطاني.</a:t>
            </a:r>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838200"/>
          </a:xfrm>
        </p:spPr>
        <p:txBody>
          <a:bodyPr>
            <a:normAutofit fontScale="90000"/>
          </a:bodyPr>
          <a:lstStyle/>
          <a:p>
            <a:pPr rtl="1"/>
            <a:r>
              <a:rPr lang="ar-JO" b="1" dirty="0"/>
              <a:t>التطور البيولوجي للإنسان</a:t>
            </a:r>
            <a:br>
              <a:rPr lang="ar-JO" b="1" dirty="0"/>
            </a:br>
            <a:r>
              <a:rPr lang="ar-JO" u="sng" dirty="0"/>
              <a:t>الظاهرة</a:t>
            </a:r>
            <a:r>
              <a:rPr lang="ar-JO" dirty="0"/>
              <a:t>: الأنواع المختلفة تناسلت عن أصل واحد</a:t>
            </a:r>
            <a:br>
              <a:rPr lang="ar-JO" dirty="0"/>
            </a:br>
            <a:endParaRPr lang="en-US" dirty="0"/>
          </a:p>
        </p:txBody>
      </p:sp>
      <p:sp>
        <p:nvSpPr>
          <p:cNvPr id="3" name="Content Placeholder 2"/>
          <p:cNvSpPr>
            <a:spLocks noGrp="1"/>
          </p:cNvSpPr>
          <p:nvPr>
            <p:ph idx="1"/>
          </p:nvPr>
        </p:nvSpPr>
        <p:spPr>
          <a:xfrm>
            <a:off x="457200" y="1371600"/>
            <a:ext cx="8229600" cy="5486400"/>
          </a:xfrm>
        </p:spPr>
        <p:txBody>
          <a:bodyPr>
            <a:normAutofit fontScale="85000" lnSpcReduction="10000"/>
          </a:bodyPr>
          <a:lstStyle/>
          <a:p>
            <a:pPr algn="r" rtl="1"/>
            <a:r>
              <a:rPr lang="ar-JO" dirty="0"/>
              <a:t>الراجح في العلم الحديث نظرية الأصل الواحد (تسمى تجاوزا ”حقيقة علمية“)</a:t>
            </a:r>
          </a:p>
          <a:p>
            <a:pPr algn="r" rtl="1"/>
            <a:r>
              <a:rPr lang="ar-JO" dirty="0"/>
              <a:t>الإسلام أكثر الأديان انفتاحا على مثل هذا الاحتمال (ما عدا الإنسان)</a:t>
            </a:r>
          </a:p>
          <a:p>
            <a:pPr algn="r" rtl="1"/>
            <a:r>
              <a:rPr lang="ar-JO" dirty="0"/>
              <a:t>دوران الشمس حول الأرض كان قبل كوبرنيكس ”حقيقة علمية“</a:t>
            </a:r>
          </a:p>
          <a:p>
            <a:pPr algn="r" rtl="1"/>
            <a:r>
              <a:rPr lang="ar-JO" dirty="0"/>
              <a:t>الراجح في الإسلام رفض القول بتطور الإنسان (ظاهر النصوص القطعية: سيدنا آدم لم يكن له والدان)</a:t>
            </a:r>
            <a:r>
              <a:rPr lang="ar-JO" dirty="0">
                <a:solidFill>
                  <a:srgbClr val="C00000"/>
                </a:solidFill>
              </a:rPr>
              <a:t>(مباهلة أهل نجران)</a:t>
            </a:r>
            <a:endParaRPr lang="ar-JO" dirty="0"/>
          </a:p>
          <a:p>
            <a:pPr algn="r" rtl="1"/>
            <a:r>
              <a:rPr lang="ar-JO" dirty="0"/>
              <a:t>تطويع النصوص على أنها كناية أو على أن "مخاطبة القرآن الكريم للعلماء غير مخاطبته للعامة وأنّ فهم هؤلاء غير فهم أولئك" (وهو رأي يرجعون به إلى ابن رشد الحفيد) أقل ما يقال به أنه مرفوض دينيا </a:t>
            </a:r>
          </a:p>
          <a:p>
            <a:pPr algn="r" rtl="1"/>
            <a:r>
              <a:rPr lang="ar-JO" dirty="0"/>
              <a:t>-(</a:t>
            </a:r>
            <a:r>
              <a:rPr lang="ar-JO" dirty="0">
                <a:solidFill>
                  <a:srgbClr val="C00000"/>
                </a:solidFill>
              </a:rPr>
              <a:t>يفتح الباب للتفسير الباطني ... فلا يعود هناك أي ثابت في الدين</a:t>
            </a:r>
            <a:r>
              <a:rPr lang="ar-JO" dirty="0"/>
              <a:t>)</a:t>
            </a:r>
          </a:p>
          <a:p>
            <a:pPr algn="r" rtl="1"/>
            <a:r>
              <a:rPr lang="ar-JO" dirty="0">
                <a:solidFill>
                  <a:srgbClr val="C00000"/>
                </a:solidFill>
              </a:rPr>
              <a:t>- هل استخدمت كل الكتب السماوية نفس الكناية؟ هل دأبت جميع الأديان على أسلوب خطابات متعددة ذات مستويات متعددة؟</a:t>
            </a:r>
            <a:endParaRPr lang="ar-JO"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295400"/>
            <a:ext cx="9144000" cy="5334000"/>
          </a:xfrm>
        </p:spPr>
        <p:txBody>
          <a:bodyPr/>
          <a:lstStyle/>
          <a:p>
            <a:pPr algn="r" rtl="1"/>
            <a:r>
              <a:rPr lang="ar-JO" dirty="0"/>
              <a:t>10 مشاكل عويصة في الورقة المصاحبة</a:t>
            </a:r>
          </a:p>
          <a:p>
            <a:pPr algn="r" rtl="1"/>
            <a:r>
              <a:rPr lang="ar-JO" dirty="0"/>
              <a:t>من ألطفها مشكلة اللغة الإنسانية المجردة (قواعد اللغة) المبنية على مبادئ ومتغيرات (</a:t>
            </a:r>
            <a:r>
              <a:rPr lang="en-US" dirty="0"/>
              <a:t>Principles &amp; Parameters - Chomsky</a:t>
            </a:r>
            <a:r>
              <a:rPr lang="ar-JO" dirty="0"/>
              <a:t>)</a:t>
            </a:r>
          </a:p>
          <a:p>
            <a:pPr algn="r" rtl="1"/>
            <a:r>
              <a:rPr lang="ar-JO" dirty="0"/>
              <a:t>مشكلة الحقيقة تظهر أن الداروينية تنفي نفسها</a:t>
            </a:r>
            <a:r>
              <a:rPr lang="en-US" dirty="0" err="1"/>
              <a:t>Plantinga</a:t>
            </a:r>
            <a:r>
              <a:rPr lang="en-US" dirty="0"/>
              <a:t> </a:t>
            </a:r>
            <a:endParaRPr lang="ar-JO" dirty="0"/>
          </a:p>
          <a:p>
            <a:pPr algn="r" rtl="1"/>
            <a:r>
              <a:rPr lang="ar-JO" dirty="0"/>
              <a:t>بالإضافة إلى تطور المادة الحية من المادة الميتة </a:t>
            </a:r>
            <a:r>
              <a:rPr lang="ar-JO" sz="2800" dirty="0"/>
              <a:t>(</a:t>
            </a:r>
            <a:r>
              <a:rPr lang="en-US" sz="2800" dirty="0">
                <a:solidFill>
                  <a:srgbClr val="FF0000"/>
                </a:solidFill>
              </a:rPr>
              <a:t>Thomas Nagel</a:t>
            </a:r>
            <a:r>
              <a:rPr lang="ar-JO" sz="2800" dirty="0"/>
              <a:t>)</a:t>
            </a:r>
          </a:p>
          <a:p>
            <a:pPr algn="r" rtl="1"/>
            <a:r>
              <a:rPr lang="ar-JO" dirty="0"/>
              <a:t>وتطور الوعي (الإحساس والرغبة والاعتقاد والتفكير والعمل المختار) عن طريق خوارزميات!!! (</a:t>
            </a:r>
            <a:r>
              <a:rPr lang="ar-JO" dirty="0">
                <a:solidFill>
                  <a:srgbClr val="C00000"/>
                </a:solidFill>
              </a:rPr>
              <a:t>الفرق بين الحي </a:t>
            </a:r>
            <a:r>
              <a:rPr lang="ar-JO" dirty="0" err="1">
                <a:solidFill>
                  <a:srgbClr val="C00000"/>
                </a:solidFill>
              </a:rPr>
              <a:t>والزومبي</a:t>
            </a:r>
            <a:r>
              <a:rPr lang="ar-JO" dirty="0"/>
              <a:t>)</a:t>
            </a:r>
          </a:p>
          <a:p>
            <a:pPr algn="r" rtl="1"/>
            <a:r>
              <a:rPr lang="ar-JO" dirty="0"/>
              <a:t>نقض التطور يؤدي إلى الخضوع لحجة التصميم والنظام على وجود الله تعالى </a:t>
            </a:r>
            <a:r>
              <a:rPr lang="ar-JO" dirty="0">
                <a:solidFill>
                  <a:srgbClr val="FF0000"/>
                </a:solidFill>
              </a:rPr>
              <a:t>(مهربان: 1- </a:t>
            </a:r>
            <a:r>
              <a:rPr lang="en-US" dirty="0">
                <a:solidFill>
                  <a:srgbClr val="FF0000"/>
                </a:solidFill>
              </a:rPr>
              <a:t>Aliens</a:t>
            </a:r>
            <a:r>
              <a:rPr lang="ar-JO" dirty="0">
                <a:solidFill>
                  <a:srgbClr val="FF0000"/>
                </a:solidFill>
              </a:rPr>
              <a:t>  2- </a:t>
            </a:r>
            <a:r>
              <a:rPr lang="en-US" dirty="0">
                <a:solidFill>
                  <a:srgbClr val="FF0000"/>
                </a:solidFill>
              </a:rPr>
              <a:t>Simulation</a:t>
            </a:r>
            <a:r>
              <a:rPr lang="ar-JO" dirty="0">
                <a:solidFill>
                  <a:srgbClr val="FF0000"/>
                </a:solidFill>
              </a:rPr>
              <a:t>)</a:t>
            </a:r>
          </a:p>
          <a:p>
            <a:pPr algn="r" rtl="1"/>
            <a:endParaRPr lang="en-US" dirty="0"/>
          </a:p>
        </p:txBody>
      </p:sp>
      <p:sp>
        <p:nvSpPr>
          <p:cNvPr id="4" name="Title 1"/>
          <p:cNvSpPr>
            <a:spLocks noGrp="1"/>
          </p:cNvSpPr>
          <p:nvPr>
            <p:ph type="title"/>
          </p:nvPr>
        </p:nvSpPr>
        <p:spPr>
          <a:xfrm>
            <a:off x="533400" y="1143000"/>
            <a:ext cx="8229600" cy="228600"/>
          </a:xfrm>
        </p:spPr>
        <p:txBody>
          <a:bodyPr>
            <a:normAutofit fontScale="90000"/>
          </a:bodyPr>
          <a:lstStyle/>
          <a:p>
            <a:pPr rtl="1"/>
            <a:r>
              <a:rPr lang="ar-JO" b="1" dirty="0"/>
              <a:t>التطور البيولوجي للإنسان</a:t>
            </a:r>
            <a:br>
              <a:rPr lang="ar-JO" b="1" dirty="0"/>
            </a:br>
            <a:r>
              <a:rPr lang="ar-JO" dirty="0"/>
              <a:t>الآلية: الطفرات العشوائية والانتخاب الطبيعي</a:t>
            </a:r>
            <a:br>
              <a:rPr lang="en-US" dirty="0"/>
            </a:br>
            <a:br>
              <a:rPr lang="ar-JO" dirty="0"/>
            </a:b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rtl="1"/>
            <a:r>
              <a:rPr lang="ar-JO" b="1" i="1" u="sng" dirty="0"/>
              <a:t>لماذا التأكيد على عبارة: "العلم لا يستطيع إثبات وجود الإله ولا يستطيع دحض وجود الإله”؟؟</a:t>
            </a:r>
            <a:endParaRPr lang="en-US" dirty="0"/>
          </a:p>
        </p:txBody>
      </p:sp>
      <p:sp>
        <p:nvSpPr>
          <p:cNvPr id="3" name="Content Placeholder 2"/>
          <p:cNvSpPr>
            <a:spLocks noGrp="1"/>
          </p:cNvSpPr>
          <p:nvPr>
            <p:ph idx="1"/>
          </p:nvPr>
        </p:nvSpPr>
        <p:spPr>
          <a:xfrm>
            <a:off x="0" y="1600200"/>
            <a:ext cx="9144000" cy="5257800"/>
          </a:xfrm>
        </p:spPr>
        <p:txBody>
          <a:bodyPr>
            <a:normAutofit fontScale="92500" lnSpcReduction="20000"/>
          </a:bodyPr>
          <a:lstStyle/>
          <a:p>
            <a:pPr algn="r" rtl="1"/>
            <a:r>
              <a:rPr lang="ar-JO" dirty="0"/>
              <a:t>الكيل بمكيالين: مقولات العلم عليها أدلة </a:t>
            </a:r>
            <a:r>
              <a:rPr lang="en-US" dirty="0"/>
              <a:t>Proofs</a:t>
            </a:r>
            <a:r>
              <a:rPr lang="ar-JO" dirty="0"/>
              <a:t> أما الاحتجاج على وجود الله فهو بحجج </a:t>
            </a:r>
            <a:r>
              <a:rPr lang="en-US" dirty="0"/>
              <a:t>Arguments</a:t>
            </a:r>
            <a:r>
              <a:rPr lang="ar-JO" dirty="0"/>
              <a:t> تقبل وترفض</a:t>
            </a:r>
          </a:p>
          <a:p>
            <a:pPr algn="r" rtl="1"/>
            <a:r>
              <a:rPr lang="ar-JO" dirty="0"/>
              <a:t>تماما مثل قصة الرجل العامّي: </a:t>
            </a:r>
          </a:p>
          <a:p>
            <a:pPr algn="r" rtl="1">
              <a:buNone/>
            </a:pPr>
            <a:r>
              <a:rPr lang="ar-JO" dirty="0"/>
              <a:t>مسكين لا يفرق بين الكفر والإيمان ولهذا يسلم قياده للشيخ فلان</a:t>
            </a:r>
          </a:p>
          <a:p>
            <a:pPr algn="r" rtl="1">
              <a:buNone/>
            </a:pPr>
            <a:r>
              <a:rPr lang="ar-JO" dirty="0"/>
              <a:t>مسكين لا يفرق بين الخيانة والوطنية ولهذا يسلم قياده للزعيم  فلان</a:t>
            </a:r>
          </a:p>
          <a:p>
            <a:pPr algn="r" rtl="1">
              <a:buNone/>
            </a:pPr>
            <a:r>
              <a:rPr lang="ar-JO" dirty="0"/>
              <a:t>ولكن لماذا لا يسلّم هذا المسكين فلوسه لفلان يتاجر فيها؟؟</a:t>
            </a:r>
          </a:p>
          <a:p>
            <a:pPr algn="r" rtl="1">
              <a:buNone/>
            </a:pPr>
            <a:r>
              <a:rPr lang="ar-JO" sz="2800" dirty="0">
                <a:solidFill>
                  <a:srgbClr val="FF0000"/>
                </a:solidFill>
              </a:rPr>
              <a:t>(الفلوس مسألة عملية لها أولوية يجب أن أفهمها بخلاف المبادئ والأخلاق؟)</a:t>
            </a:r>
          </a:p>
          <a:p>
            <a:pPr algn="r" rtl="1"/>
            <a:r>
              <a:rPr lang="ar-JO" dirty="0"/>
              <a:t>إذا أردت الكيل بمكيال واحد فأنت فالعلم الحديث ليس فيه أي إثبات!!</a:t>
            </a:r>
            <a:endParaRPr lang="en-US" dirty="0"/>
          </a:p>
          <a:p>
            <a:pPr algn="r" rtl="1"/>
            <a:r>
              <a:rPr lang="ar-JO" dirty="0"/>
              <a:t>أثبت نظرية النسبية أو نظرية الكم أو نظرية التطور أو الخيوط الفائقة</a:t>
            </a:r>
          </a:p>
          <a:p>
            <a:pPr algn="r" rtl="1"/>
            <a:r>
              <a:rPr lang="ar-JO" dirty="0"/>
              <a:t>النظريات العلمية لا يمكن البرهنة على صحتها ولكن </a:t>
            </a:r>
          </a:p>
          <a:p>
            <a:pPr algn="r" rtl="1"/>
            <a:r>
              <a:rPr lang="ar-JO" dirty="0"/>
              <a:t>برهن من فضلك أن 1+1=2 </a:t>
            </a:r>
            <a:r>
              <a:rPr lang="en-US" dirty="0"/>
              <a:t>(</a:t>
            </a:r>
            <a:r>
              <a:rPr lang="en-US" dirty="0">
                <a:solidFill>
                  <a:srgbClr val="FF0000"/>
                </a:solidFill>
              </a:rPr>
              <a:t>Russel-360pages – </a:t>
            </a:r>
            <a:r>
              <a:rPr lang="en-US" dirty="0" err="1">
                <a:solidFill>
                  <a:srgbClr val="FF0000"/>
                </a:solidFill>
              </a:rPr>
              <a:t>Goedel</a:t>
            </a:r>
            <a:r>
              <a:rPr lang="en-US" dirty="0"/>
              <a:t>)</a:t>
            </a:r>
            <a:endParaRPr lang="ar-JO" dirty="0"/>
          </a:p>
          <a:p>
            <a:pPr algn="r" rtl="1">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10000"/>
          </a:bodyPr>
          <a:lstStyle/>
          <a:p>
            <a:pPr lvl="0" algn="r" rtl="1"/>
            <a:r>
              <a:rPr lang="ar-JO" dirty="0"/>
              <a:t>العلم الحديث وحده ببنائه التعميمي على شكل تفسيرات وتنبؤات ليس من المطلوب منه البرهنة على أي شيء. المطلوب منه جمع الأدلة (المشاهدات والقياسات) لتعزيز الثقة بتفسيراته وتنبؤاته. </a:t>
            </a:r>
            <a:endParaRPr lang="en-US" dirty="0"/>
          </a:p>
          <a:p>
            <a:pPr lvl="0" algn="r" rtl="1"/>
            <a:r>
              <a:rPr lang="ar-JO" dirty="0"/>
              <a:t>أما إذا ربطت أدلة العلم الحديث بمقدمات فلسفية معينة فإن من الممكن الوصول إلى البرهنة. </a:t>
            </a:r>
            <a:endParaRPr lang="en-US" dirty="0"/>
          </a:p>
          <a:p>
            <a:pPr lvl="0" algn="r" rtl="1"/>
            <a:r>
              <a:rPr lang="ar-JO" dirty="0"/>
              <a:t>بناء على نفس المبدأ تستطيع إثبات وجود الله تعالى مستعينا بمقدمات فلسفية تسلّم </a:t>
            </a:r>
            <a:r>
              <a:rPr lang="ar-JO" dirty="0" err="1"/>
              <a:t>بها</a:t>
            </a:r>
            <a:r>
              <a:rPr lang="ar-JO" dirty="0"/>
              <a:t>. مثلا يستطيع العلم الحديث بالقياس والمشاهدة إثبات أن جسما ما يتغير من زمن إلى آخر. إذا سلم المرء بالمقدمات الفلسفية التالية فهو يستطيع البرهنة على وجود واجب الوجود (الله تعالى): المتغير ممكن الوجود (</a:t>
            </a:r>
            <a:r>
              <a:rPr lang="en-US" dirty="0"/>
              <a:t>contingent</a:t>
            </a:r>
            <a:r>
              <a:rPr lang="ar-JO" dirty="0"/>
              <a:t>) – المركب من مكونات أحدها ممكن الوجود هو نفسه ممكن الوجود – مبدأ السببية (ممكن الوجود يحتاج إلى سبب يرجح وجوده على عدمه) – استحالة الدور (</a:t>
            </a:r>
            <a:r>
              <a:rPr lang="en-US" dirty="0"/>
              <a:t>circular reasoning</a:t>
            </a:r>
            <a:r>
              <a:rPr lang="ar-JO" dirty="0"/>
              <a:t>) – استحالة التسلسل (</a:t>
            </a:r>
            <a:r>
              <a:rPr lang="en-US" dirty="0"/>
              <a:t>infinite regress</a:t>
            </a:r>
            <a:r>
              <a:rPr lang="ar-JO" dirty="0"/>
              <a:t>).</a:t>
            </a:r>
            <a:endParaRPr lang="en-US" dirty="0"/>
          </a:p>
          <a:p>
            <a:pPr algn="r" rtl="1"/>
            <a:r>
              <a:rPr lang="ar-JO" dirty="0"/>
              <a:t>هناك مشاهدات علمية مختلفة تعزز أركان بعض الحجج الفلسفية المشهورة على وجود الله مثل 1) الانفجار العظيم (</a:t>
            </a:r>
            <a:r>
              <a:rPr lang="en-US" dirty="0"/>
              <a:t>Big Bang</a:t>
            </a:r>
            <a:r>
              <a:rPr lang="ar-JO" dirty="0"/>
              <a:t>) في"حجة الحدوث" (</a:t>
            </a:r>
            <a:r>
              <a:rPr lang="en-US" dirty="0"/>
              <a:t>Cosmological </a:t>
            </a:r>
            <a:r>
              <a:rPr lang="en-US" dirty="0" err="1"/>
              <a:t>Kalam</a:t>
            </a:r>
            <a:r>
              <a:rPr lang="en-US" dirty="0"/>
              <a:t> argument</a:t>
            </a:r>
            <a:r>
              <a:rPr lang="ar-JO" dirty="0"/>
              <a:t>) 2) والضبط الدقيق (</a:t>
            </a:r>
            <a:r>
              <a:rPr lang="en-US" dirty="0"/>
              <a:t>Fine Tuning</a:t>
            </a:r>
            <a:r>
              <a:rPr lang="ar-JO" dirty="0"/>
              <a:t>) في حجة النظام والتصميم (</a:t>
            </a:r>
            <a:r>
              <a:rPr lang="en-US" dirty="0"/>
              <a:t>Design Argument</a:t>
            </a:r>
            <a:r>
              <a:rPr lang="ar-JO" dirty="0"/>
              <a:t>) 3) ودراسة القرآن الكريم في حجة المعجزة (</a:t>
            </a:r>
            <a:r>
              <a:rPr lang="en-US" dirty="0"/>
              <a:t>Argument from Miracle</a:t>
            </a:r>
            <a:r>
              <a:rPr lang="ar-JO" dirty="0"/>
              <a: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pPr lvl="0" algn="r" rtl="1"/>
            <a:r>
              <a:rPr lang="ar-JO" dirty="0"/>
              <a:t>في سياق إمكانية المحاكاة يذكر </a:t>
            </a:r>
            <a:r>
              <a:rPr lang="ar-JO" dirty="0" err="1"/>
              <a:t>بوستروم</a:t>
            </a:r>
            <a:r>
              <a:rPr lang="ar-JO" dirty="0"/>
              <a:t> طريقة أخرى (بالإضافة للمعجزة) للاستدلال على أن عالمنا مخلوق خلقه صانع حكيم (المبرمج) هي الطريقة غير المباشرة وتكون بدراسة الإمكانات الأخرى المقبولة منطقيا (التي تزاحم احتمال الصانع الحكيم) وتبيين ضعفها. لاحظ معي أن حصر الإمكانات المتزاحمة منطقيا لا يصح معه الهروب المعروف بإله الفجوات (</a:t>
            </a:r>
            <a:r>
              <a:rPr lang="en-US" dirty="0"/>
              <a:t>God of the Gaps</a:t>
            </a:r>
            <a:r>
              <a:rPr lang="ar-JO" dirty="0"/>
              <a:t>). نفي الإمكانات المنطقية المختلفة كلها ما عدا واحدا دليل على صحة هذا الواحد، وليست هناك فجوات!</a:t>
            </a:r>
            <a:endParaRPr lang="en-US" dirty="0"/>
          </a:p>
          <a:p>
            <a:pPr algn="r" rtl="1"/>
            <a:r>
              <a:rPr lang="ar-JO" dirty="0"/>
              <a:t>إذا بحثت في قناعات علماء ملحدين كبار وجدت ما يؤكد أن كثيرا منهم كانوا يبحثون عن الله في أسرار الطبيعة ولا يتذرعون </a:t>
            </a:r>
            <a:r>
              <a:rPr lang="ar-JO" dirty="0" err="1"/>
              <a:t>بـ</a:t>
            </a:r>
            <a:r>
              <a:rPr lang="ar-JO" dirty="0"/>
              <a:t>"إله الفجوات". بول ديراك الملحد يقول: إذا استطاع العلم حساب احتمال نشأة الحياة على الأرض بناء على قوانين الطبيعة واكتشف أن الاحتمال صغير جدا جدا جدا، فلن يكون هناك مفر من الإيمان بالله. (لاحظ معي أن ديراك كان بإمكانه التذرع بأن علينا إعادة البحث عن القوانين الصحيحة للطبيعة) آخرون مثل </a:t>
            </a:r>
            <a:r>
              <a:rPr lang="ar-JO" dirty="0" err="1"/>
              <a:t>واينبرغ</a:t>
            </a:r>
            <a:r>
              <a:rPr lang="ar-JO" dirty="0"/>
              <a:t> (</a:t>
            </a:r>
            <a:r>
              <a:rPr lang="en-US" dirty="0"/>
              <a:t>Steven Weinberg</a:t>
            </a:r>
            <a:r>
              <a:rPr lang="ar-JO" dirty="0"/>
              <a:t>) يرون أنه ليس هناك إلا 3 إمكانات لتفسير نشأة كوننا: الصدفة، أو العوالم المتعددة (</a:t>
            </a:r>
            <a:r>
              <a:rPr lang="en-US" dirty="0" err="1"/>
              <a:t>multiverse</a:t>
            </a:r>
            <a:r>
              <a:rPr lang="ar-JO" dirty="0"/>
              <a:t>)، أو الله!! </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TotalTime>
  <Words>2849</Words>
  <Application>Microsoft Office PowerPoint</Application>
  <PresentationFormat>On-screen Show (4:3)</PresentationFormat>
  <Paragraphs>176</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الاغترار بالعلم الحديث</vt:lpstr>
      <vt:lpstr>هيكل المحاضرة</vt:lpstr>
      <vt:lpstr>سبب المحاضرة</vt:lpstr>
      <vt:lpstr>PowerPoint Presentation</vt:lpstr>
      <vt:lpstr>PowerPoint Presentation</vt:lpstr>
      <vt:lpstr>العلم كسعي إنساني أو فردي للوصول إلى الحق</vt:lpstr>
      <vt:lpstr>مقدمات المعرفة</vt:lpstr>
      <vt:lpstr>التشكيك والسفسطة Skepticism &amp; Solipsism </vt:lpstr>
      <vt:lpstr>PowerPoint Presentation</vt:lpstr>
      <vt:lpstr>منظومات فكرية متجاورة</vt:lpstr>
      <vt:lpstr>هل يحصل تقاطع منظومتي الإسلام والعلم الحديث وعدم التوافق بينهما؟</vt:lpstr>
      <vt:lpstr>موقف العالم المسلم من العلم الحديث</vt:lpstr>
      <vt:lpstr> العلم الحديث لا يستطيع:</vt:lpstr>
      <vt:lpstr>العلاقة التاريخية بين العلم الحديث والدين</vt:lpstr>
      <vt:lpstr>(Methodological Naturalism):  مبدأ الالتزام المثودولوجي بالتفسير الطبيعي</vt:lpstr>
      <vt:lpstr>المعجزات وخرق العادة</vt:lpstr>
      <vt:lpstr>هل من الممكن استخراج حقائق علمية من النصوص الدينية؟</vt:lpstr>
      <vt:lpstr>حقائق يؤكدها الدين قد يجوز فحصها علميا</vt:lpstr>
      <vt:lpstr>التطور البيولوجي للإنسان الظاهرة: الأنواع المختلفة تناسلت عن أصل واحد </vt:lpstr>
      <vt:lpstr>التطور البيولوجي للإنسان الآلية: الطفرات العشوائية والانتخاب الطبيعي  </vt:lpstr>
      <vt:lpstr>لماذا التأكيد على عبارة: "العلم لا يستطيع إثبات وجود الإله ولا يستطيع دحض وجود الإله”؟؟</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الاغترار بالعلم الحديث</dc:title>
  <dc:creator>HomePc</dc:creator>
  <cp:lastModifiedBy>ismail hammoudeh</cp:lastModifiedBy>
  <cp:revision>78</cp:revision>
  <dcterms:created xsi:type="dcterms:W3CDTF">2016-12-02T15:49:00Z</dcterms:created>
  <dcterms:modified xsi:type="dcterms:W3CDTF">2026-08-31T21:20:54Z</dcterms:modified>
</cp:coreProperties>
</file>