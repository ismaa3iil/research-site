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656f1cb7cf4eb8" /><Relationship Type="http://schemas.openxmlformats.org/officeDocument/2006/relationships/extended-properties" Target="/docProps/app.xml" Id="R57920abf35a244cc" /><Relationship Type="http://schemas.openxmlformats.org/officeDocument/2006/relationships/officeDocument" Target="/ppt/presentation.xml" Id="R0ecebba89ccb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3442a6c8a4a27"/>
  </p:sldMasterIdLst>
  <p:notesMasterIdLst>
    <p:notesMasterId xmlns:r="http://schemas.openxmlformats.org/officeDocument/2006/relationships" r:id="R71017e437152469c"/>
  </p:notesMasterIdLst>
  <p:sldIdLst>
    <p:sldId xmlns:r="http://schemas.openxmlformats.org/officeDocument/2006/relationships" id="256" r:id="R77e38572cca74f37"/>
    <p:sldId xmlns:r="http://schemas.openxmlformats.org/officeDocument/2006/relationships" id="257" r:id="Rd6f9713f31604e73"/>
    <p:sldId xmlns:r="http://schemas.openxmlformats.org/officeDocument/2006/relationships" id="258" r:id="R10bd69e7974f4d28"/>
    <p:sldId xmlns:r="http://schemas.openxmlformats.org/officeDocument/2006/relationships" id="259" r:id="Rcd4159f7b4d4440b"/>
    <p:sldId xmlns:r="http://schemas.openxmlformats.org/officeDocument/2006/relationships" id="260" r:id="R66cbf83dc8ca4526"/>
    <p:sldId xmlns:r="http://schemas.openxmlformats.org/officeDocument/2006/relationships" id="261" r:id="R7e0cb9c2aa484cc9"/>
    <p:sldId xmlns:r="http://schemas.openxmlformats.org/officeDocument/2006/relationships" id="262" r:id="Re1caba0fa8724bf7"/>
    <p:sldId xmlns:r="http://schemas.openxmlformats.org/officeDocument/2006/relationships" id="263" r:id="Rbb47dcf672c348fc"/>
    <p:sldId xmlns:r="http://schemas.openxmlformats.org/officeDocument/2006/relationships" id="264" r:id="R4091abaf6548425c"/>
    <p:sldId xmlns:r="http://schemas.openxmlformats.org/officeDocument/2006/relationships" id="265" r:id="Rb8fe3605a4e64052"/>
    <p:sldId xmlns:r="http://schemas.openxmlformats.org/officeDocument/2006/relationships" id="266" r:id="R2f5bb8c0c03348e6"/>
    <p:sldId xmlns:r="http://schemas.openxmlformats.org/officeDocument/2006/relationships" id="267" r:id="Rfd6d0581fcbf4531"/>
    <p:sldId xmlns:r="http://schemas.openxmlformats.org/officeDocument/2006/relationships" id="268" r:id="R11b623b8c1ff4e2d"/>
    <p:sldId xmlns:r="http://schemas.openxmlformats.org/officeDocument/2006/relationships" id="269" r:id="Ref722c9c0e044abf"/>
    <p:sldId xmlns:r="http://schemas.openxmlformats.org/officeDocument/2006/relationships" id="270" r:id="Rb2438cb4d76e4f80"/>
    <p:sldId xmlns:r="http://schemas.openxmlformats.org/officeDocument/2006/relationships" id="271" r:id="Rd6d43595ca5a46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26d713f7104c7c" /><Relationship Type="http://schemas.openxmlformats.org/officeDocument/2006/relationships/slideMaster" Target="/ppt/slideMasters/slideMaster1.xml" Id="R5c43442a6c8a4a27" /><Relationship Type="http://schemas.openxmlformats.org/officeDocument/2006/relationships/notesMaster" Target="/ppt/notesMasters/notesMaster1.xml" Id="R71017e437152469c" /><Relationship Type="http://schemas.openxmlformats.org/officeDocument/2006/relationships/presProps" Target="/ppt/presProps.xml" Id="Re31158ad25a74ea6" /><Relationship Type="http://schemas.openxmlformats.org/officeDocument/2006/relationships/tableStyles" Target="/ppt/tableStyles.xml" Id="R2410a713b73840ff" /><Relationship Type="http://schemas.openxmlformats.org/officeDocument/2006/relationships/slide" Target="/ppt/slides/slide1.xml" Id="R77e38572cca74f37" /><Relationship Type="http://schemas.openxmlformats.org/officeDocument/2006/relationships/slide" Target="/ppt/slides/slide2.xml" Id="Rd6f9713f31604e73" /><Relationship Type="http://schemas.openxmlformats.org/officeDocument/2006/relationships/slide" Target="/ppt/slides/slide3.xml" Id="R10bd69e7974f4d28" /><Relationship Type="http://schemas.openxmlformats.org/officeDocument/2006/relationships/slide" Target="/ppt/slides/slide4.xml" Id="Rcd4159f7b4d4440b" /><Relationship Type="http://schemas.openxmlformats.org/officeDocument/2006/relationships/slide" Target="/ppt/slides/slide5.xml" Id="R66cbf83dc8ca4526" /><Relationship Type="http://schemas.openxmlformats.org/officeDocument/2006/relationships/slide" Target="/ppt/slides/slide6.xml" Id="R7e0cb9c2aa484cc9" /><Relationship Type="http://schemas.openxmlformats.org/officeDocument/2006/relationships/slide" Target="/ppt/slides/slide7.xml" Id="Re1caba0fa8724bf7" /><Relationship Type="http://schemas.openxmlformats.org/officeDocument/2006/relationships/slide" Target="/ppt/slides/slide8.xml" Id="Rbb47dcf672c348fc" /><Relationship Type="http://schemas.openxmlformats.org/officeDocument/2006/relationships/slide" Target="/ppt/slides/slide9.xml" Id="R4091abaf6548425c" /><Relationship Type="http://schemas.openxmlformats.org/officeDocument/2006/relationships/slide" Target="/ppt/slides/slide10.xml" Id="Rb8fe3605a4e64052" /><Relationship Type="http://schemas.openxmlformats.org/officeDocument/2006/relationships/slide" Target="/ppt/slides/slide11.xml" Id="R2f5bb8c0c03348e6" /><Relationship Type="http://schemas.openxmlformats.org/officeDocument/2006/relationships/slide" Target="/ppt/slides/slide12.xml" Id="Rfd6d0581fcbf4531" /><Relationship Type="http://schemas.openxmlformats.org/officeDocument/2006/relationships/slide" Target="/ppt/slides/slide13.xml" Id="R11b623b8c1ff4e2d" /><Relationship Type="http://schemas.openxmlformats.org/officeDocument/2006/relationships/slide" Target="/ppt/slides/slide14.xml" Id="Ref722c9c0e044abf" /><Relationship Type="http://schemas.openxmlformats.org/officeDocument/2006/relationships/slide" Target="/ppt/slides/slide15.xml" Id="Rb2438cb4d76e4f80" /><Relationship Type="http://schemas.openxmlformats.org/officeDocument/2006/relationships/slide" Target="/ppt/slides/slide16.xml" Id="Rd6d43595ca5a46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eebed357cd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da1a2ef9ea466f" /><Relationship Type="http://schemas.openxmlformats.org/officeDocument/2006/relationships/notesMaster" Target="/ppt/notesMasters/notesMaster1.xml" Id="Raf8bb0251912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f6efa8ca3b41dc" /><Relationship Type="http://schemas.openxmlformats.org/officeDocument/2006/relationships/notesMaster" Target="/ppt/notesMasters/notesMaster1.xml" Id="R0308080761ff41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0eca10a5cd43f9" /><Relationship Type="http://schemas.openxmlformats.org/officeDocument/2006/relationships/notesMaster" Target="/ppt/notesMasters/notesMaster1.xml" Id="Rff7ad81b30f94d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cf3ddd6d644f5a" /><Relationship Type="http://schemas.openxmlformats.org/officeDocument/2006/relationships/notesMaster" Target="/ppt/notesMasters/notesMaster1.xml" Id="Ref4618e8e35349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08e7451974eb4" /><Relationship Type="http://schemas.openxmlformats.org/officeDocument/2006/relationships/notesMaster" Target="/ppt/notesMasters/notesMaster1.xml" Id="Re839dbef2e4b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fab7ff408c4302" /><Relationship Type="http://schemas.openxmlformats.org/officeDocument/2006/relationships/notesMaster" Target="/ppt/notesMasters/notesMaster1.xml" Id="Rb38fec30ea4b43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c7e8b5ef814310" /><Relationship Type="http://schemas.openxmlformats.org/officeDocument/2006/relationships/notesMaster" Target="/ppt/notesMasters/notesMaster1.xml" Id="Rec8f5bac660d48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f7c42c99834f7d" /><Relationship Type="http://schemas.openxmlformats.org/officeDocument/2006/relationships/notesMaster" Target="/ppt/notesMasters/notesMaster1.xml" Id="R06f587f733ce4c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0cd44d80b84a90" /><Relationship Type="http://schemas.openxmlformats.org/officeDocument/2006/relationships/notesMaster" Target="/ppt/notesMasters/notesMaster1.xml" Id="R87f49b2153f64e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b4027d030346d2" /><Relationship Type="http://schemas.openxmlformats.org/officeDocument/2006/relationships/notesMaster" Target="/ppt/notesMasters/notesMaster1.xml" Id="Rcb8fc2b3a4e34f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dad5d2d6a34ae4" /><Relationship Type="http://schemas.openxmlformats.org/officeDocument/2006/relationships/notesMaster" Target="/ppt/notesMasters/notesMaster1.xml" Id="R8eab15336cb846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74a2dc27794889" /><Relationship Type="http://schemas.openxmlformats.org/officeDocument/2006/relationships/notesMaster" Target="/ppt/notesMasters/notesMaster1.xml" Id="R5bd55ece31e046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e01bfd27774792" /><Relationship Type="http://schemas.openxmlformats.org/officeDocument/2006/relationships/notesMaster" Target="/ppt/notesMasters/notesMaster1.xml" Id="R982f9e3d37864b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f3e08632214290" /><Relationship Type="http://schemas.openxmlformats.org/officeDocument/2006/relationships/notesMaster" Target="/ppt/notesMasters/notesMaster1.xml" Id="R1142c70e679e41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d7a7d2ddac4727" /><Relationship Type="http://schemas.openxmlformats.org/officeDocument/2006/relationships/notesMaster" Target="/ppt/notesMasters/notesMaster1.xml" Id="R842fe4bd125b40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a3e3c6911c481b" /><Relationship Type="http://schemas.openxmlformats.org/officeDocument/2006/relationships/notesMaster" Target="/ppt/notesMasters/notesMaster1.xml" Id="R82af1b7d8ece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from Attractive_Centers_Goal1_Bundle (1).zip. Light, editable scientific diagrams; click-advanced fade transitions provide progressive builds. All areas have denominator 126.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Integrated attractivity: for a straight displacement p_i(t)=p_i(0)+td, integrate d·dX/dt≥0. If symmetry forces X(0)=q, then d·(X(1)−q)≥0.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triangle area is 21×12/2=126. D=(A+B+C)/3 is inside ABC, so the four-point convex hull has the same area.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any 2+2 partition, translate one pair until the four points form a parallelogram. Central symmetry fixes the center at the diagonal midpoint. Restoring the pair by parallel motions gives the two strip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explicit strip inequalities are equations (4.1)–(4.3) in the source paper. Their intersection with the hull is a nine-vertex polygon of area 73.59722, or 58.4105% of 126.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rule: for u=p_j−p_i and m=(p_i+p_j)/2, if all other points lie on one side of the perpendicular bisector u·(z−m)=0, projection and parallel restoration prove σu·(X−m)≥0.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six pairs are useful in this example. A linear redundancy test shows that three cut the parallelogram chest. The resulting five-vertex polygon has area 26.76208, or 21.2397% of the hull.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Q0 uses an equilateral triangle on AB and places D0 at its center, so symmetry forces X(Q0)=D0. The network retains one center variable at each intermediate configuration. Every edge carries one genuine attractivity inequality. Linear programming eliminates intermediate variables without a Boolean shortcut.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two-order network chest occupies 30.8008% of the hull. It is not nested with the bisector chest. Their intersection can therefore be substantially smaller than either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Reflection and parallel restoration prove min(n·midpoint,n·others) ≤ n·X ≤ max(...). Apply all six pairs and the hull, with midpoint slabs. Exact benchmark area 451/48, ratio 451/6048.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broad finite-response, similarity- and permutation-equivariant class, h·ΔY is the sum of two nonnegative terms. The second follows by multiplying the h/3 inequality by 3. If analytic definitions exclude some inserted configurations, continuous extension is needed. This does NOT assume Y equals any preassigned X₃.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benchmark values reproduced in bundle paper1_integration.py. Browser network alone is 31.3696% because its intermediate-node convention differs. Both reach 5.9302% once the new constraints are included. Area retained is not area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area = 71649181/5386656 − (1510727/448888)√3. Equality in this benchmark does not establish optimality for arbitrary four-point configurations.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Diameter-ball proof: old objective gradient vanishes at x and is monotone, so (y−x)·∇F(y)≥0. The new equilibrium has ∇F(y)=−α(y−z), α&gt;0. If x ranges over a polytope C, use the convex hull of balls [v,z] for vertices v of C. The browser uses sampled support directions, so its polytope encloses the curved construction.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exclusion: for q=(t,0,t), the cubic power-4 gradient satisfies Fx−Fz=3t; at t=0 its z-component is −2. Thus no equilibrium lies on the proposed segment. Bundle stability/power4_counterexample.py also certifies a numerical enclosure. M₄ is attractive by the dimension-independent theorem.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Goal 1 revision 2 bundle, README, PAPERS_I_IV_RECONCILIATION.md, paper1_integration.py and stability certificates. The 46-normal scope is restricted, not universal completeness. Browser does not implement the full recursive LP / continuous 3D family. Independent Goal 2 validation continues; candidate boundary centers must not be represented as proved attractive.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35d17eaaa4a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4da2d8803e4602" /><Relationship Type="http://schemas.openxmlformats.org/officeDocument/2006/relationships/slideLayout" Target="/ppt/slideLayouts/slideLayout1.xml" Id="Rf439c0b646fe49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39c0b646fe49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d85c7997345cf" /><Relationship Type="http://schemas.openxmlformats.org/officeDocument/2006/relationships/notesSlide" Target="/ppt/notesSlides/notesSlide1.xml" Id="R24c6079d2f68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4ec61752f4fa1" /><Relationship Type="http://schemas.openxmlformats.org/officeDocument/2006/relationships/notesSlide" Target="/ppt/notesSlides/notesSlide2.xml" Id="Rbb8134913c4d4b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0839e8b434fa3" /><Relationship Type="http://schemas.openxmlformats.org/officeDocument/2006/relationships/notesSlide" Target="/ppt/notesSlides/notesSlide3.xml" Id="R13eb0452201d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0053ab57e4db4" /><Relationship Type="http://schemas.openxmlformats.org/officeDocument/2006/relationships/notesSlide" Target="/ppt/notesSlides/notesSlide4.xml" Id="Rc13f8591012845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3bd0050394cde" /><Relationship Type="http://schemas.openxmlformats.org/officeDocument/2006/relationships/notesSlide" Target="/ppt/notesSlides/notesSlide5.xml" Id="R1baa4e1eae6b41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992d057c546df" /><Relationship Type="http://schemas.openxmlformats.org/officeDocument/2006/relationships/notesSlide" Target="/ppt/notesSlides/notesSlide6.xml" Id="Rbe66c8f1de7e49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fcb91aa294718" /><Relationship Type="http://schemas.openxmlformats.org/officeDocument/2006/relationships/notesSlide" Target="/ppt/notesSlides/notesSlide7.xml" Id="Rf8f9ee93ebf947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72800c85048e7" /><Relationship Type="http://schemas.openxmlformats.org/officeDocument/2006/relationships/notesSlide" Target="/ppt/notesSlides/notesSlide8.xml" Id="R19c3b5d81d5a42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e67b909e74f06" /><Relationship Type="http://schemas.openxmlformats.org/officeDocument/2006/relationships/notesSlide" Target="/ppt/notesSlides/notesSlide9.xml" Id="R64c12c8c087940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5fd52b01f45a5" /><Relationship Type="http://schemas.openxmlformats.org/officeDocument/2006/relationships/notesSlide" Target="/ppt/notesSlides/notesSlide10.xml" Id="Rbe269d2febb945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80efcb8714a5f" /><Relationship Type="http://schemas.openxmlformats.org/officeDocument/2006/relationships/notesSlide" Target="/ppt/notesSlides/notesSlide11.xml" Id="R034caa9e654d4d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0827d439e42d9" /><Relationship Type="http://schemas.openxmlformats.org/officeDocument/2006/relationships/notesSlide" Target="/ppt/notesSlides/notesSlide12.xml" Id="R36a2cd5494a447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b23d44617447a" /><Relationship Type="http://schemas.openxmlformats.org/officeDocument/2006/relationships/notesSlide" Target="/ppt/notesSlides/notesSlide13.xml" Id="R1e78d4383ec842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a4dd3777f4e36" /><Relationship Type="http://schemas.openxmlformats.org/officeDocument/2006/relationships/notesSlide" Target="/ppt/notesSlides/notesSlide14.xml" Id="Rb41e1d3d67c140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824a4a9fa4b37" /><Relationship Type="http://schemas.openxmlformats.org/officeDocument/2006/relationships/notesSlide" Target="/ppt/notesSlides/notesSlide15.xml" Id="R9dc076b63fd045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0da30ab294ede" /><Relationship Type="http://schemas.openxmlformats.org/officeDocument/2006/relationships/notesSlide" Target="/ppt/notesSlides/notesSlide16.xml" Id="R54f2a2ff7fc849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E32E35-2EC8-4322-A84B-FF65BB0C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Constructing a chest for four planar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56E39-7E54-4337-8721-ACB59AA9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Revision 2 • verified improvements • local review copy, not published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0B9B4-1401-4ECB-B482-94A97049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48C71-0416-432F-ABEB-F77FAC9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F842A-4349-4CB5-AB1B-9055F9B2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B9011-2009-41E3-A7B4-EF917145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4B896-E4A7-4B66-ABF2-1F78A609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09C69-2380-47AF-A756-B5805884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67CD9-4200-4E8D-9A72-FC49A982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3CA4C-7614-4106-BA9D-2C83E4C9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ADDFC-2E73-4BD1-B5BD-33406A67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1CA33-C159-43FB-8F51-7E067189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03FD0-CF9F-4931-91BB-099B949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AB8C6-9E31-4428-B58A-F4A65916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95" y="2591346"/>
            <a:ext cx="3936225" cy="2868550"/>
          </a:xfrm>
          <a:custGeom xmlns:a="http://schemas.openxmlformats.org/drawingml/2006/main">
            <a:pathLst>
              <a:path w="3936225" h="2868550">
                <a:moveTo>
                  <a:pt x="880649" y="2868550"/>
                </a:moveTo>
                <a:lnTo>
                  <a:pt x="2552730" y="2868550"/>
                </a:lnTo>
                <a:lnTo>
                  <a:pt x="3932845" y="2235986"/>
                </a:lnTo>
                <a:lnTo>
                  <a:pt x="3936225" y="2225591"/>
                </a:lnTo>
                <a:lnTo>
                  <a:pt x="3349931" y="955267"/>
                </a:lnTo>
                <a:lnTo>
                  <a:pt x="2076243" y="0"/>
                </a:lnTo>
                <a:lnTo>
                  <a:pt x="3967" y="949792"/>
                </a:lnTo>
                <a:lnTo>
                  <a:pt x="1687" y="955267"/>
                </a:lnTo>
                <a:lnTo>
                  <a:pt x="0" y="960468"/>
                </a:lnTo>
                <a:close/>
              </a:path>
            </a:pathLst>
          </a:custGeom>
          <a:solidFill xmlns:a="http://schemas.openxmlformats.org/drawingml/2006/main">
            <a:srgbClr val="A87819">
              <a:alpha val="12000"/>
            </a:srgbClr>
          </a:solidFill>
          <a:ln xmlns:a="http://schemas.openxmlformats.org/drawingml/2006/main" w="14288">
            <a:solidFill>
              <a:srgbClr val="A878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60770-B28E-40E5-A8F6-82FA2EA9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15" y="3505178"/>
            <a:ext cx="1446410" cy="1104369"/>
          </a:xfrm>
          <a:custGeom xmlns:a="http://schemas.openxmlformats.org/drawingml/2006/main">
            <a:pathLst>
              <a:path w="1446410" h="1104369">
                <a:moveTo>
                  <a:pt x="1446410" y="1104369"/>
                </a:moveTo>
                <a:lnTo>
                  <a:pt x="1446410" y="559616"/>
                </a:lnTo>
                <a:lnTo>
                  <a:pt x="103330" y="0"/>
                </a:lnTo>
                <a:lnTo>
                  <a:pt x="0" y="501701"/>
                </a:lnTo>
                <a:close/>
              </a:path>
            </a:pathLst>
          </a:custGeom>
          <a:solidFill xmlns:a="http://schemas.openxmlformats.org/drawingml/2006/main">
            <a:srgbClr val="158368">
              <a:alpha val="38000"/>
            </a:srgbClr>
          </a:solidFill>
          <a:ln xmlns:a="http://schemas.openxmlformats.org/drawingml/2006/main" w="28575">
            <a:solidFill>
              <a:srgbClr val="1583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5D36C-D2CA-42D1-AE6E-1726E530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2CAEC-6035-4419-B8F7-34E6E76C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E7023-0CDE-4B2F-A4B9-0FA61C08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82B6B-0870-4DB4-BA4F-4EBC55E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9123F-284B-4378-8BD7-517016F3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AB628-D408-4F9B-A5C1-764FC4A9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510D9-7FEF-44AA-9C40-C18A0144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02E39-2247-4E05-8D01-08C66935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8068B-BB74-4596-AD03-0E84747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F29FF-AA15-4E57-B3F4-8E7D782C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91D4B-79BB-46D1-9E40-F6159DF8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5.9302%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8ED2A-F304-4CBD-97C3-DE69B88F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of the convex hull remains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B6A5B8-C836-4FFA-8E4F-0909A424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9A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DE823-9789-4866-83B8-5A01CDD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86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Symmetry and networks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D2DE2-15DE-4049-80A9-418A818D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43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From midpoint strips to stronger edge and orbit bounds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6DAD3-74EC-4B8A-BE85-01E50A4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3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A92DC9-31BC-412B-A573-132C96D5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48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Centroid insertion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574518-1A90-44E5-ACE5-418CB964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05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Transfer the triangle chest without an absorption axiom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57E94F-669E-44F4-A3E8-4C48E05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578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13–20–21 triangle + its centroid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E091FD-5E1B-430F-BB7C-95F7B670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4022197"/>
      </p:ext>
    </p:extLst>
  </p:cSld>
  <p:transition spd="slow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A9DAF-5F49-4C8B-82B9-C01DB021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Attractivity turns motion into a half-plane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F05A4-14C4-44AD-B777-0C3A66E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15077-FCF5-4D4C-96FF-593E8750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When one input point moves by d, the center may move sideways or forward, but never backward: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714EC-93C9-4BA0-B28F-A3707395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87B82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87B82"/>
                </a:solidFill>
                <a:latin typeface="Arial"/>
                <a:ea typeface="Arial"/>
                <a:cs typeface="Arial"/>
              </a:rPr>
              <a:t>d · (X₁ − X₀) ≥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85A93-E306-4B71-B5CB-35F0CE4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84911-5ACA-4C4C-81D7-1E92A03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71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81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8CA13-04C7-4AD0-9FD8-3128E7E6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57625"/>
            <a:ext cx="2476500" cy="571500"/>
          </a:xfrm>
          <a:custGeom xmlns:a="http://schemas.openxmlformats.org/drawingml/2006/main">
            <a:pathLst>
              <a:path w="2476500" h="571500">
                <a:moveTo>
                  <a:pt x="0" y="57150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8781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CE7EB-A8C1-4AAA-8667-528B2A85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moved vertex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138C2-7772-49A5-BDD4-92BA62EC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05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8E0FD-767A-4FAF-AF36-604E4226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19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8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3FE49-F994-42B5-B98B-0842D9C3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1238250" cy="285750"/>
          </a:xfrm>
          <a:custGeom xmlns:a="http://schemas.openxmlformats.org/drawingml/2006/main">
            <a:pathLst>
              <a:path w="1238250" h="285750">
                <a:moveTo>
                  <a:pt x="0" y="28575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B8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370E3-7E0F-4DFE-AAB1-9F196894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72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center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A95E6-B497-4A9E-B356-2B583AFB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240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75E98-1B46-4653-B9C2-9667EAA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33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A chest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1AF85-5004-4E82-987C-D1407AB9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is any convex region that contains the value of every attractive center for the displayed configuration.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EB228-C89B-465C-A2A6-3D060775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Symmetry fixes X₀.</a:t>
            </a:r>
          </a:p>
          <a:p xmlns:a="http://schemas.openxmlformats.org/drawingml/2006/main">
            <a:pPr algn="ctr">
              <a:defRPr sz="15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Attractivity supplies the supporting inequality.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9FF9F-0BD0-4D0F-AA10-7F42FAA8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405861"/>
      </p:ext>
    </p:extLst>
  </p:cSld>
  <p:transition spd="slow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131C8-D26F-4CC9-B77F-A3732445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The four-point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8D000-B2D5-4F8A-8813-ABA30B8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The fourth point is the centroid of a 13–20–21 triangle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B0753-70C2-4AF6-A08E-760EA936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C1A59-4A30-4C29-9E77-4CA6543D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F8D78-FD30-47D7-B26D-663A9C85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D3C14-868F-4053-83F3-AD8DAF35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CA560-5D95-40CC-BD36-48045769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7AC77-4D5C-47F5-956C-E7B8CA84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18CC2-46C4-4379-BF91-84C55FF6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A8737-6E98-4C82-B39E-6C816A67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BC5E8-AC8A-4888-8D76-6F3370F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5F3F2-DE3A-4909-959C-AB01A78F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65BF9-36D7-46AE-B840-AA4DE51C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697E3-44E6-4C57-9484-3F2F2EC6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6A184-8D48-4054-9C96-ED43CF0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85059-1DF5-421B-ACA9-1BD260F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6962E-128D-4A3A-925C-DC1F611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4A11A-D076-4B47-8802-DED428E4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6220B-E222-480D-B7B7-8925E342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AE1E6-EACA-41B7-A8A3-043BB803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267EA-8120-4D74-8BD0-0D2D0009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0C41B-4A94-439C-9DBB-92FEEB26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6D0A8-36BC-4AF7-AB88-C6607F1D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34378-64FC-4744-BB6B-BC43B36A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764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 = (0, 0)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 = (21, 0)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 = (5, 12)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D = (26/3, 4)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872693-6A04-43A0-A107-A25FAB3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|BC| = 20</a:t>
            </a:r>
          </a:p>
          <a:p xmlns:a="http://schemas.openxmlformats.org/drawingml/2006/main">
            <a:pPr algn="l">
              <a:defRPr sz="15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|CA| = 13</a:t>
            </a:r>
          </a:p>
          <a:p xmlns:a="http://schemas.openxmlformats.org/drawingml/2006/main">
            <a:pPr algn="l">
              <a:defRPr sz="15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|AB| = 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94C40-7344-40D3-AD27-171C08F4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938BD-FC38-4F49-B745-0DCF8580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area of conv{A,B,C,D}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889D3D-478B-4C9B-8950-5131935D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15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D lies inside ABC,</a:t>
            </a:r>
          </a:p>
          <a:p xmlns:a="http://schemas.openxmlformats.org/drawingml/2006/main">
            <a:pPr algn="ctr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so the hull remains the triangle.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ABBD7-B2AA-4BB7-A16A-AFF0FAC7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1760870"/>
      </p:ext>
    </p:extLst>
  </p:cSld>
  <p:transition spd="slow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ADCD2-29B2-4779-9118-214C748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One 2+2 partition produces one strip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C5F0-A498-4EE5-B51B-0F99157F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First build a centrally symmetric predecessor, then restore the translated pair in parallel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C0763-18E3-4DED-B584-429B6E2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54B59-85D6-48DC-B812-47F6CC27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7E65F-0FFC-42BC-8A25-588EF85C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C4F0F-955D-482C-91ED-84F26538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ADFA6-04B5-417D-92E0-1824602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2F710-739C-4509-ACFD-FE99DBEC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CFD4B-CEDA-4FC2-B397-2422E3B1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83CFA-0803-4EC1-A0DB-C64705CE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E1C7E-32D8-4927-84C0-FFD58E95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60C99-A2B4-4004-BF75-B2E2C0DD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3B345-6326-462D-A7E1-DA7472F4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687FB-1668-4BB7-AE6B-EA58BBD8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custGeom xmlns:a="http://schemas.openxmlformats.org/drawingml/2006/main">
            <a:pathLst>
              <a:path w="7334250" h="4464326">
                <a:moveTo>
                  <a:pt x="7334250" y="2464680"/>
                </a:moveTo>
                <a:lnTo>
                  <a:pt x="7334250" y="0"/>
                </a:lnTo>
                <a:lnTo>
                  <a:pt x="5976592" y="0"/>
                </a:lnTo>
                <a:lnTo>
                  <a:pt x="0" y="2739272"/>
                </a:lnTo>
                <a:lnTo>
                  <a:pt x="0" y="4464326"/>
                </a:lnTo>
                <a:lnTo>
                  <a:pt x="2971386" y="4464326"/>
                </a:lnTo>
                <a:close/>
              </a:path>
            </a:pathLst>
          </a:custGeom>
          <a:solidFill xmlns:a="http://schemas.openxmlformats.org/drawingml/2006/main">
            <a:srgbClr val="A87819">
              <a:alpha val="24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62276-BAF1-478B-A1A7-E463EBFE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5976592" cy="2739272"/>
          </a:xfrm>
          <a:custGeom xmlns:a="http://schemas.openxmlformats.org/drawingml/2006/main">
            <a:pathLst>
              <a:path w="5976592" h="2739272">
                <a:moveTo>
                  <a:pt x="0" y="2739272"/>
                </a:moveTo>
                <a:lnTo>
                  <a:pt x="5976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A87819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4EBD5-DC51-4B8B-A915-6B46D34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786" y="3779130"/>
            <a:ext cx="4362864" cy="1999646"/>
          </a:xfrm>
          <a:custGeom xmlns:a="http://schemas.openxmlformats.org/drawingml/2006/main">
            <a:pathLst>
              <a:path w="4362864" h="1999646">
                <a:moveTo>
                  <a:pt x="4362864" y="0"/>
                </a:moveTo>
                <a:lnTo>
                  <a:pt x="0" y="1999646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A87819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B4E53-2646-44F6-B039-29F52F5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9F40D-9D33-432F-8FEB-89AF6BDE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E1176-4782-4999-91E4-01D8AF7C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AC8A6-AB0F-4746-8ED2-86F6B5A1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61EC4-8E76-47E6-AD44-14F43958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B352B-0C9A-413E-A489-A842F139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D2F8C-CAF1-4CC4-A59A-468A8C13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573F6-2CD2-4DFB-B814-73284D9B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45213-AB33-4EFA-9623-612194FD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559AD-A17D-4D7B-9BFD-1EF7BAEB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0E8A2-BF40-468A-AEF4-85CC961A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81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Partition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AF15C-4A92-4D04-B74D-526F5598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{A,B} | {C,D}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56A41-CB35-4E8D-83B0-BF978248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m₁ = (A+B)/2</a:t>
            </a:r>
          </a:p>
          <a:p xmlns:a="http://schemas.openxmlformats.org/drawingml/2006/main">
            <a:pPr algn="l">
              <a:defRPr sz="16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m₂ = (C+D)/2</a:t>
            </a:r>
          </a:p>
          <a:p xmlns:a="http://schemas.openxmlformats.org/drawingml/2006/main">
            <a:pPr algn="l">
              <a:defRPr sz="16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d = m₁ − m₂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4263F-652E-402E-AC3E-0A3B59DE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min(d·m₁,d·m₂) ≤ d·X ≤ max(d·m₁,d·m₂)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87FC8-77CD-4EE8-8396-5687599D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673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−701/18 ≤ (11/3)x − 8y ≤ 77/2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574B83-5D3A-46DC-AD8B-5C8D845D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4403602"/>
      </p:ext>
    </p:extLst>
  </p:cSld>
  <p:transition spd="slow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B341E3-8C36-40F9-89BC-A7B45C5B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Three partitions give the parallelogram chest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A9D10-8CB9-458B-A8D1-F7E3CD3F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Intersect the three strips with the convex hull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7D2AD-FF7F-4C90-BDBE-39B5DF4D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EEF16-6118-42A9-8F1E-FA8FF9E2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3A0C4-7DFB-45AE-B766-D70B57A3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D91F4-E13D-46C5-96F8-A384B13C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2A615-38B0-4787-8117-6E54FB54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BE3C4-9050-4E9D-9B0B-83E1E1D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6C950-40A7-4C7F-BCC3-543A0FB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F02AE-DBEC-4DDC-96DF-D870A212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686EE-D4AF-4C41-B34C-4EA17B3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80481-E09D-4BF3-8053-3399AAA7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AAEE2-5BEF-4FC0-9ECB-ECA651B8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45447-EAC5-46D8-BCC1-534EDB3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95" y="2591346"/>
            <a:ext cx="3936225" cy="2868550"/>
          </a:xfrm>
          <a:custGeom xmlns:a="http://schemas.openxmlformats.org/drawingml/2006/main">
            <a:pathLst>
              <a:path w="3936225" h="2868550">
                <a:moveTo>
                  <a:pt x="880649" y="2868550"/>
                </a:moveTo>
                <a:lnTo>
                  <a:pt x="2552730" y="2868550"/>
                </a:lnTo>
                <a:lnTo>
                  <a:pt x="3932845" y="2235986"/>
                </a:lnTo>
                <a:lnTo>
                  <a:pt x="3936225" y="2225591"/>
                </a:lnTo>
                <a:lnTo>
                  <a:pt x="3349931" y="955267"/>
                </a:lnTo>
                <a:lnTo>
                  <a:pt x="2076243" y="0"/>
                </a:lnTo>
                <a:lnTo>
                  <a:pt x="3967" y="949792"/>
                </a:lnTo>
                <a:lnTo>
                  <a:pt x="1687" y="955267"/>
                </a:lnTo>
                <a:lnTo>
                  <a:pt x="0" y="960468"/>
                </a:lnTo>
                <a:close/>
              </a:path>
            </a:pathLst>
          </a:custGeom>
          <a:solidFill xmlns:a="http://schemas.openxmlformats.org/drawingml/2006/main">
            <a:srgbClr val="A87819">
              <a:alpha val="42000"/>
            </a:srgbClr>
          </a:solidFill>
          <a:ln xmlns:a="http://schemas.openxmlformats.org/drawingml/2006/main" w="28575">
            <a:solidFill>
              <a:srgbClr val="A878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DC37B-A64E-4062-B635-29369A3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5976592" cy="2739272"/>
          </a:xfrm>
          <a:custGeom xmlns:a="http://schemas.openxmlformats.org/drawingml/2006/main">
            <a:pathLst>
              <a:path w="5976592" h="2739272">
                <a:moveTo>
                  <a:pt x="0" y="2739272"/>
                </a:moveTo>
                <a:lnTo>
                  <a:pt x="5976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87819">
                <a:alpha val="70000"/>
              </a:srgbClr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CA43C-B143-47E9-B4E2-1442792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786" y="3779130"/>
            <a:ext cx="4362864" cy="1999646"/>
          </a:xfrm>
          <a:custGeom xmlns:a="http://schemas.openxmlformats.org/drawingml/2006/main">
            <a:pathLst>
              <a:path w="4362864" h="1999646">
                <a:moveTo>
                  <a:pt x="4362864" y="0"/>
                </a:moveTo>
                <a:lnTo>
                  <a:pt x="0" y="1999646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87819">
                <a:alpha val="70000"/>
              </a:srgbClr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36FE2-535D-4068-B010-B1158E1F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78" y="1314450"/>
            <a:ext cx="1447890" cy="4464326"/>
          </a:xfrm>
          <a:custGeom xmlns:a="http://schemas.openxmlformats.org/drawingml/2006/main">
            <a:pathLst>
              <a:path w="1447890" h="4464326">
                <a:moveTo>
                  <a:pt x="0" y="4464326"/>
                </a:moveTo>
                <a:lnTo>
                  <a:pt x="1447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87819">
                <a:alpha val="70000"/>
              </a:srgbClr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14B31-9978-45E2-B2E9-13FC35F2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537" y="1314450"/>
            <a:ext cx="1447890" cy="4464326"/>
          </a:xfrm>
          <a:custGeom xmlns:a="http://schemas.openxmlformats.org/drawingml/2006/main">
            <a:pathLst>
              <a:path w="1447890" h="4464326">
                <a:moveTo>
                  <a:pt x="0" y="4464326"/>
                </a:moveTo>
                <a:lnTo>
                  <a:pt x="1447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87819">
                <a:alpha val="70000"/>
              </a:srgbClr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BE70C-71BF-4B76-B087-F3E459B4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497" y="1314450"/>
            <a:ext cx="2060458" cy="4464326"/>
          </a:xfrm>
          <a:custGeom xmlns:a="http://schemas.openxmlformats.org/drawingml/2006/main">
            <a:pathLst>
              <a:path w="2060458" h="4464326">
                <a:moveTo>
                  <a:pt x="2060458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87819">
                <a:alpha val="70000"/>
              </a:srgbClr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2E29B-814B-4503-9033-C1D9ADD6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64" y="1314450"/>
            <a:ext cx="2060458" cy="4464326"/>
          </a:xfrm>
          <a:custGeom xmlns:a="http://schemas.openxmlformats.org/drawingml/2006/main">
            <a:pathLst>
              <a:path w="2060458" h="4464326">
                <a:moveTo>
                  <a:pt x="2060458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87819">
                <a:alpha val="70000"/>
              </a:srgbClr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53805-822F-4C5C-87B6-31986BE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13E6B-9C76-44D0-86E3-A0AE86DC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A8AAF-1F63-472C-8B23-8838D642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46DD9-6677-4C40-AF2C-3FCF2A4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4EA08-B330-46B5-9ACD-62B8A85E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62BC0-10E8-4A78-9B54-37735B22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E0A2F-37CF-466C-B31F-DF7B0317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A8D92-CF6A-41A1-BA6A-D7C30F98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7D7F4-A018-4CED-B451-D5FF2DC7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6B2C6-DA38-41C0-A1C3-E9DC4258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711556-1A6B-4F34-96DD-207C93F0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58.4105%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8D6546-6944-457F-AAEE-8B2CFB1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of the hull remains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1DE50-5FD5-487E-A4C5-79B94FC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81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15B73D-21ED-49DF-B88B-54755F36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9 vertices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E8CC70-5CCD-4EB2-BC52-0FC2B9B2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95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Area 73.59722 out of 126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8368E6-E3C2-45ED-9D8E-2A64110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819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171C57-E9B0-4C5C-81E9-9E299CDD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41.5895% removed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67FC07-67BF-4618-9592-C0DB9163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91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 rigorous chest from parallel motion only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AE53A2-87B3-4C34-ADF4-C4EC735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This is the basic four-point chest.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8CB1A-3A03-4B95-8195-107E02F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6360610"/>
      </p:ext>
    </p:extLst>
  </p:cSld>
  <p:transition spd="slow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961CF-B492-4234-BC5D-5B0D27C5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 useful perpendicular bisector gives a half-plane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E45C9-8822-4ED8-B658-F722F890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For pair A,B, both remaining points lie on the same side of x = 10.5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912B4-0763-420C-921C-DA4CA3D0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B8AF2-DD17-4B16-BFD9-E1744FDB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B1EBD-2F00-4448-B9CA-74A14A99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DEFC0-69B2-4B69-B76B-AB2A8059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B8952-B5BF-49AE-9C00-C506CDF4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60715-FE79-4593-B85B-7209D243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4EE2A-A2FA-490B-A429-419F747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E669C-B2FE-4989-A4FF-A4DDA892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B9383-B57C-4BC7-874E-A54C09A2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C4C7B-5943-4ED0-A8FE-F5431780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DC295-AEDE-4FFA-A6AE-8D268FD3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E5AED-20D2-4482-848C-3CB2BC2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3667125" cy="4464326"/>
          </a:xfrm>
          <a:custGeom xmlns:a="http://schemas.openxmlformats.org/drawingml/2006/main">
            <a:pathLst>
              <a:path w="3667125" h="4464326">
                <a:moveTo>
                  <a:pt x="0" y="4464326"/>
                </a:moveTo>
                <a:lnTo>
                  <a:pt x="3667125" y="4464326"/>
                </a:lnTo>
                <a:lnTo>
                  <a:pt x="36671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E569C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53A3C-F6F5-40CB-B710-9579DB5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E569C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30DE5-8342-44BD-BFAC-89E12A0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B7869-57CE-4D17-8B7B-BDDEF965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8DE3B-5B28-4DFB-ACAB-F9937D61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C3C25-9946-4856-A504-4E0EBF9D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3E976-BD5B-477E-B031-6AB46EB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84EF6-ECCD-4B73-83AB-29EAA0D5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53E3E-E485-4B76-91E4-82FF409C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D3BCD-BA8D-4D32-803B-AC41A953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56279-1A8E-4B4E-A8F1-3E7FD9A6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1E8FD-72D4-427C-B8D0-8AE35558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1A68B2-7085-4185-96BD-17C9BEF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633330"/>
            <a:ext cx="1753842" cy="9525"/>
          </a:xfrm>
          <a:custGeom xmlns:a="http://schemas.openxmlformats.org/drawingml/2006/main">
            <a:pathLst>
              <a:path w="1753842" h="9525">
                <a:moveTo>
                  <a:pt x="175384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8E569C">
                <a:alpha val="70000"/>
              </a:srgbClr>
            </a:solidFill>
            <a:prstDash val="dot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E6808-FB22-495B-A3F3-97F56878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911" y="4184374"/>
            <a:ext cx="584614" cy="9525"/>
          </a:xfrm>
          <a:custGeom xmlns:a="http://schemas.openxmlformats.org/drawingml/2006/main">
            <a:pathLst>
              <a:path w="584614" h="9525">
                <a:moveTo>
                  <a:pt x="58461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8E569C">
                <a:alpha val="70000"/>
              </a:srgbClr>
            </a:solidFill>
            <a:prstDash val="dot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CAB905-C928-4F8C-9255-056E6B4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Project C and D onto the bisector. Reflection swaps A and B and fixes the projections, so the predecessor center lies on x = 10.5.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81FB8F-1400-4B52-87BA-4C164F40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38500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Restoring C and D uses parallel leftward motions.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91C5C1-522A-4459-A77C-F5ACB037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x ≤ 10.5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6A0935-5917-4431-806A-1628275B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334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This inequality cuts the gold chest.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E5D49-798E-414D-8BEC-70D68E91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6453810"/>
      </p:ext>
    </p:extLst>
  </p:cSld>
  <p:transition spd="slow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FA9D6-4CF7-4012-AB72-44D8D5D8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Six useful pairs refine the chest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3377F-321A-4A42-85D3-A6EB08C7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Three bisector inequalities are independent of the parallelogram strips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75A3A-CBEE-4413-8DCC-EF2184F4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50A97-739E-4FE6-A73E-52EA591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79E4A-321A-4614-B395-DADBA03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AFD39-5589-4563-8FD0-19018E30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83E29-B3E0-4561-8A27-581324C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A9897-6ECD-4AFF-B470-E67B909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1E1D1-646D-4A55-BBC7-D86E7A5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A147C-D70E-4722-9190-E5E8508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C0806-BD80-41D8-A12E-792F2A8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1D397-7100-4FB1-B3EE-4DA53945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D36A3-CD76-4744-A0D9-2C340801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57D28-F83D-48D3-BA81-D8177C2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95" y="2591346"/>
            <a:ext cx="3936225" cy="2868550"/>
          </a:xfrm>
          <a:custGeom xmlns:a="http://schemas.openxmlformats.org/drawingml/2006/main">
            <a:pathLst>
              <a:path w="3936225" h="2868550">
                <a:moveTo>
                  <a:pt x="880649" y="2868550"/>
                </a:moveTo>
                <a:lnTo>
                  <a:pt x="2552730" y="2868550"/>
                </a:lnTo>
                <a:lnTo>
                  <a:pt x="3932845" y="2235986"/>
                </a:lnTo>
                <a:lnTo>
                  <a:pt x="3936225" y="2225591"/>
                </a:lnTo>
                <a:lnTo>
                  <a:pt x="3349931" y="955267"/>
                </a:lnTo>
                <a:lnTo>
                  <a:pt x="2076243" y="0"/>
                </a:lnTo>
                <a:lnTo>
                  <a:pt x="3967" y="949792"/>
                </a:lnTo>
                <a:lnTo>
                  <a:pt x="1687" y="955267"/>
                </a:lnTo>
                <a:lnTo>
                  <a:pt x="0" y="960468"/>
                </a:lnTo>
                <a:close/>
              </a:path>
            </a:pathLst>
          </a:custGeom>
          <a:solidFill xmlns:a="http://schemas.openxmlformats.org/drawingml/2006/main">
            <a:srgbClr val="A87819">
              <a:alpha val="14000"/>
            </a:srgbClr>
          </a:solidFill>
          <a:ln xmlns:a="http://schemas.openxmlformats.org/drawingml/2006/main" w="19050">
            <a:solidFill>
              <a:srgbClr val="A87819">
                <a:alpha val="5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E7B61-8B80-41B2-A4EC-38343893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482" y="2591346"/>
            <a:ext cx="2551043" cy="2018201"/>
          </a:xfrm>
          <a:custGeom xmlns:a="http://schemas.openxmlformats.org/drawingml/2006/main">
            <a:pathLst>
              <a:path w="2551043" h="2018201">
                <a:moveTo>
                  <a:pt x="2280" y="949792"/>
                </a:moveTo>
                <a:lnTo>
                  <a:pt x="0" y="955267"/>
                </a:lnTo>
                <a:lnTo>
                  <a:pt x="2551043" y="2018201"/>
                </a:lnTo>
                <a:lnTo>
                  <a:pt x="2551043" y="357366"/>
                </a:lnTo>
                <a:lnTo>
                  <a:pt x="2074556" y="0"/>
                </a:lnTo>
                <a:close/>
              </a:path>
            </a:pathLst>
          </a:custGeom>
          <a:solidFill xmlns:a="http://schemas.openxmlformats.org/drawingml/2006/main">
            <a:srgbClr val="8E569C">
              <a:alpha val="42000"/>
            </a:srgbClr>
          </a:solidFill>
          <a:ln xmlns:a="http://schemas.openxmlformats.org/drawingml/2006/main" w="28575">
            <a:solidFill>
              <a:srgbClr val="8E56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CE7F7-B27C-44AB-AA01-35F5B17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E569C">
                <a:alpha val="58000"/>
              </a:srgbClr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34ACF-4269-4523-B5D4-1582443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1579"/>
            <a:ext cx="6473273" cy="2697197"/>
          </a:xfrm>
          <a:custGeom xmlns:a="http://schemas.openxmlformats.org/drawingml/2006/main">
            <a:pathLst>
              <a:path w="6473273" h="2697197">
                <a:moveTo>
                  <a:pt x="0" y="0"/>
                </a:moveTo>
                <a:lnTo>
                  <a:pt x="6473273" y="269719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E569C">
                <a:alpha val="58000"/>
              </a:srgbClr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B1BC8-A444-4413-A3F0-32FAA597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64" y="1314450"/>
            <a:ext cx="2060458" cy="4464326"/>
          </a:xfrm>
          <a:custGeom xmlns:a="http://schemas.openxmlformats.org/drawingml/2006/main">
            <a:pathLst>
              <a:path w="2060458" h="4464326">
                <a:moveTo>
                  <a:pt x="2060458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E569C">
                <a:alpha val="58000"/>
              </a:srgbClr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49E2C-0570-465A-867F-98041147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604" y="1314450"/>
            <a:ext cx="3348245" cy="4464326"/>
          </a:xfrm>
          <a:custGeom xmlns:a="http://schemas.openxmlformats.org/drawingml/2006/main">
            <a:pathLst>
              <a:path w="3348245" h="4464326">
                <a:moveTo>
                  <a:pt x="0" y="4464326"/>
                </a:moveTo>
                <a:lnTo>
                  <a:pt x="3348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E569C">
                <a:alpha val="58000"/>
              </a:srgbClr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4C95A-3356-45B8-ACAF-D2F8C60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78" y="1314450"/>
            <a:ext cx="1447890" cy="4464326"/>
          </a:xfrm>
          <a:custGeom xmlns:a="http://schemas.openxmlformats.org/drawingml/2006/main">
            <a:pathLst>
              <a:path w="1447890" h="4464326">
                <a:moveTo>
                  <a:pt x="0" y="4464326"/>
                </a:moveTo>
                <a:lnTo>
                  <a:pt x="1447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E569C">
                <a:alpha val="58000"/>
              </a:srgbClr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E1EF2-0FF8-49E7-BEF6-F75049AF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5976592" cy="2739272"/>
          </a:xfrm>
          <a:custGeom xmlns:a="http://schemas.openxmlformats.org/drawingml/2006/main">
            <a:pathLst>
              <a:path w="5976592" h="2739272">
                <a:moveTo>
                  <a:pt x="0" y="2739272"/>
                </a:moveTo>
                <a:lnTo>
                  <a:pt x="5976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E569C">
                <a:alpha val="58000"/>
              </a:srgbClr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AF615-9C38-4D3D-8358-08B639B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A44DE-D2A2-4AA8-846F-00763FA6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1A29C-F113-4AB5-913E-F7D64ADB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9286CB-37AE-469C-9F1E-EFE01ED6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744EC-9B1E-4C59-855E-940B7B1F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C21C1-3D48-41F0-97DC-3CF34AE2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827A37-82AF-44E0-88A8-7A121DF2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85523-44A5-46DA-A34E-BC202110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BFA1F-3CB1-46D1-A0B6-FC6BD92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EA5ED-4DD2-4BE1-815F-1284670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A6B93-614E-4F2F-A995-D848BCE7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21.2397%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F5CCB-84C4-4513-B413-6602E0F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of the hull remains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7D08E-4985-4FC5-9BC0-7B90EC66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1CDB8F-511F-43F3-BF4B-12725AB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5 vertices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CE83F0-F30B-4496-B7DE-6622E26F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95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Area 26.76208 out of 126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717568-5CF0-4BC5-9470-67F0501D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449A0E-77CE-44D0-BAD8-DD4B0948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78.7603% removed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30D72F-3817-4B7E-A95A-16DCA02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91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Rigorous and independent of the 2+2 strips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D98B9D-4EE8-4FA0-B13B-2D05B85D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43550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The dashed lines show</a:t>
            </a:r>
          </a:p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all six useful bisectors.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711267-D3BB-4ED5-8FAB-34FF26D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767235"/>
      </p:ext>
    </p:extLst>
  </p:cSld>
  <p:transition spd="slow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B73F74-1B88-4FD6-A855-7515867F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The network keeps the unknown intermediate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DF242-DB84-48C4-9889-A94A6F62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Nonparallel motions cannot be collapsed into two independent endpoint inequalities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7EA79-0E36-483E-9888-198ACA9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8B94C-3D99-427B-B69D-ED7DDD39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A8781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239B9-6911-4059-9774-53C460B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Q₀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BB39B-D592-4018-B01C-FD8BCF1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equilateral anchor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D8F3F-2D42-4E86-9501-66C1085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3979A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6987B-8C46-41B9-8C4C-35C26AA3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28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Q_C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668B7-296F-4552-B6B1-95C8C6B9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C moved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D67DB-A9C6-49AD-91BE-4E8F3AA9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8E569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9119-13AA-46B1-90E9-A488EB4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Q_D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893E5-2153-49CE-8C4A-2F4D9341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814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D moved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A3329-4A18-4702-8883-25B9314E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9050">
            <a:solidFill>
              <a:srgbClr val="087B8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5B214-76C7-4495-8475-E578A21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81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7B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7B82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C51EA-46D9-4354-81B7-24ECBB91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289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ED3D7-36EA-4A8A-BC5B-4936BE4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047750" cy="714375"/>
          </a:xfrm>
          <a:custGeom xmlns:a="http://schemas.openxmlformats.org/drawingml/2006/main">
            <a:pathLst>
              <a:path w="1047750" h="714375">
                <a:moveTo>
                  <a:pt x="0" y="714375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979A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29200-C93A-4E24-907C-72D5C7D8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036" y="2381250"/>
            <a:ext cx="122464" cy="107311"/>
          </a:xfrm>
          <a:custGeom xmlns:a="http://schemas.openxmlformats.org/drawingml/2006/main">
            <a:pathLst>
              <a:path w="122464" h="107311">
                <a:moveTo>
                  <a:pt x="60682" y="107311"/>
                </a:moveTo>
                <a:lnTo>
                  <a:pt x="122464" y="0"/>
                </a:lnTo>
                <a:lnTo>
                  <a:pt x="0" y="1831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979A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02A6C-6DE5-49A9-8657-6A60EFC3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1047750" cy="762000"/>
          </a:xfrm>
          <a:custGeom xmlns:a="http://schemas.openxmlformats.org/drawingml/2006/main">
            <a:pathLst>
              <a:path w="1047750" h="762000">
                <a:moveTo>
                  <a:pt x="0" y="0"/>
                </a:moveTo>
                <a:lnTo>
                  <a:pt x="104775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8E569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1956A-DC1E-4770-863F-E72569D5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649" y="3986612"/>
            <a:ext cx="121851" cy="109138"/>
          </a:xfrm>
          <a:custGeom xmlns:a="http://schemas.openxmlformats.org/drawingml/2006/main">
            <a:pathLst>
              <a:path w="121851" h="109138">
                <a:moveTo>
                  <a:pt x="0" y="87116"/>
                </a:moveTo>
                <a:lnTo>
                  <a:pt x="121851" y="109138"/>
                </a:lnTo>
                <a:lnTo>
                  <a:pt x="6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8E569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54048-F80F-4527-830A-26872A55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1238250" cy="714375"/>
          </a:xfrm>
          <a:custGeom xmlns:a="http://schemas.openxmlformats.org/drawingml/2006/main">
            <a:pathLst>
              <a:path w="1238250" h="714375">
                <a:moveTo>
                  <a:pt x="0" y="0"/>
                </a:moveTo>
                <a:lnTo>
                  <a:pt x="123825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979A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23CD8-BD4D-4EA5-B258-030171C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007" y="2993255"/>
            <a:ext cx="123493" cy="102370"/>
          </a:xfrm>
          <a:custGeom xmlns:a="http://schemas.openxmlformats.org/drawingml/2006/main">
            <a:pathLst>
              <a:path w="123493" h="102370">
                <a:moveTo>
                  <a:pt x="0" y="93305"/>
                </a:moveTo>
                <a:lnTo>
                  <a:pt x="123493" y="102370"/>
                </a:lnTo>
                <a:lnTo>
                  <a:pt x="53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3979A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63C6A-ED9A-4752-BC16-BF9A2D2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1238250" cy="762000"/>
          </a:xfrm>
          <a:custGeom xmlns:a="http://schemas.openxmlformats.org/drawingml/2006/main">
            <a:pathLst>
              <a:path w="1238250" h="762000">
                <a:moveTo>
                  <a:pt x="0" y="76200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8E569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C4B83-49F7-417E-85E0-991AC1C3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314" y="3333750"/>
            <a:ext cx="123186" cy="104306"/>
          </a:xfrm>
          <a:custGeom xmlns:a="http://schemas.openxmlformats.org/drawingml/2006/main">
            <a:pathLst>
              <a:path w="123186" h="104306">
                <a:moveTo>
                  <a:pt x="56455" y="104306"/>
                </a:moveTo>
                <a:lnTo>
                  <a:pt x="123186" y="0"/>
                </a:lnTo>
                <a:lnTo>
                  <a:pt x="0" y="12566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8E569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BC399-20B4-49EB-A223-D43DC466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X(Q₀) = D₀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854B9-E27C-47D4-B9EC-B8EC4B5C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83036-3E17-43C4-AAEE-BBDD9342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C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F1F38A-64A0-45FD-B969-78BF87EC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u·(y−D₀) ≥ 0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v·(X−y) ≥ 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DE0CD-C5AF-4628-B2FB-6B461AB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8DA5F-D7C6-430E-A7B8-F7ACF7A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v·(z−D₀) ≥ 0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u·(X−z) ≥ 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CEDA1-89E5-4019-BA85-BCD561AE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Bound y and z by proved intermediate chests, then eliminate them by linear programming.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200D50-8326-410C-9E3D-DC1E986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7730539"/>
      </p:ext>
    </p:extLst>
  </p:cSld>
  <p:transition spd="slow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DB0DF7-B182-4848-9FE5-E25F4EFC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Two motion orders produce a different rigorous chest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D026-C55E-45F7-8FCE-78F3349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Paper I reference implementation: both orientations and all vertex permutations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E4C75-1023-40AD-9954-FDC23FB5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DE80A-765B-45FA-BB7E-CE35A677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79C69-D6A0-4F03-A79A-3691A749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2EE75-F050-405F-B4C2-C763894D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DDA6E-E944-4761-9E91-267D1E2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22805-A54C-405A-9B3B-240B5F7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5E871-0252-4347-B87A-1D7681A8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B14CB-DCBF-4749-B8FC-7C880D69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BA4C3-E024-44F0-9B90-526AD98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D8B72-B869-43BF-8D46-366DBBEA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F15DD-7F78-4A54-BBD5-A11FCE4C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7854E-9E08-4CA5-A910-58C12DDD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95" y="2591346"/>
            <a:ext cx="3936225" cy="2868550"/>
          </a:xfrm>
          <a:custGeom xmlns:a="http://schemas.openxmlformats.org/drawingml/2006/main">
            <a:pathLst>
              <a:path w="3936225" h="2868550">
                <a:moveTo>
                  <a:pt x="880649" y="2868550"/>
                </a:moveTo>
                <a:lnTo>
                  <a:pt x="2552730" y="2868550"/>
                </a:lnTo>
                <a:lnTo>
                  <a:pt x="3932845" y="2235986"/>
                </a:lnTo>
                <a:lnTo>
                  <a:pt x="3936225" y="2225591"/>
                </a:lnTo>
                <a:lnTo>
                  <a:pt x="3349931" y="955267"/>
                </a:lnTo>
                <a:lnTo>
                  <a:pt x="2076243" y="0"/>
                </a:lnTo>
                <a:lnTo>
                  <a:pt x="3967" y="949792"/>
                </a:lnTo>
                <a:lnTo>
                  <a:pt x="1687" y="955267"/>
                </a:lnTo>
                <a:lnTo>
                  <a:pt x="0" y="960468"/>
                </a:lnTo>
                <a:close/>
              </a:path>
            </a:pathLst>
          </a:custGeom>
          <a:solidFill xmlns:a="http://schemas.openxmlformats.org/drawingml/2006/main">
            <a:srgbClr val="A87819">
              <a:alpha val="10000"/>
            </a:srgbClr>
          </a:solidFill>
          <a:ln xmlns:a="http://schemas.openxmlformats.org/drawingml/2006/main" w="19050">
            <a:solidFill>
              <a:srgbClr val="A87819">
                <a:alpha val="4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97EEC-D0A1-42BC-96E2-2B2ED8C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560" y="2765455"/>
            <a:ext cx="2861942" cy="2694441"/>
          </a:xfrm>
          <a:custGeom xmlns:a="http://schemas.openxmlformats.org/drawingml/2006/main">
            <a:pathLst>
              <a:path w="2861942" h="2694441">
                <a:moveTo>
                  <a:pt x="0" y="2584185"/>
                </a:moveTo>
                <a:lnTo>
                  <a:pt x="50887" y="2694441"/>
                </a:lnTo>
                <a:lnTo>
                  <a:pt x="88595" y="2694441"/>
                </a:lnTo>
                <a:lnTo>
                  <a:pt x="2861942" y="1773913"/>
                </a:lnTo>
                <a:lnTo>
                  <a:pt x="866602" y="0"/>
                </a:lnTo>
                <a:lnTo>
                  <a:pt x="497387" y="169223"/>
                </a:lnTo>
                <a:close/>
              </a:path>
            </a:pathLst>
          </a:custGeom>
          <a:solidFill xmlns:a="http://schemas.openxmlformats.org/drawingml/2006/main">
            <a:srgbClr val="3979AD">
              <a:alpha val="42000"/>
            </a:srgbClr>
          </a:solidFill>
          <a:ln xmlns:a="http://schemas.openxmlformats.org/drawingml/2006/main" w="28575">
            <a:solidFill>
              <a:srgbClr val="3979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2A6DF-1773-48C5-A64B-389E58A0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84926-B06D-4E67-964F-42399246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7CFE3-E268-40C7-990E-8DF08C21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914FF-C0C6-460F-961E-61BA72CB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9D463-9A0C-43A5-B75F-C994D2C6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A0205-8EFA-4356-8F37-CE52635D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FC7DF-EB55-4A25-8D59-6FD8E57B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ECBAE-CA86-46A2-A085-3A08B48D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15265-4982-49BB-ACE2-2DD5A073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2E74D-D7A8-4440-B40F-3235A39A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6EB21-B323-4145-9CAB-EFFD5B17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30.8008%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7C79F2-92E4-413E-AEAA-1EF7B810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of the hull remains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66A00-3923-420F-B686-EF16796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9A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47137-B2D7-45DB-B993-3D3EFA72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6 vertices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318E5-2422-4D70-8F5C-213CA210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95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Reference area: 38.80901 / 126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D446F-472D-4C22-B22B-67BC9CE8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9A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2EA9B4-897E-4149-870C-60DBEB4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69.1992% removed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D30968-764B-4E01-804A-F554CCA8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91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Rigorous, but neither stronger nor weaker than every bisector cut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31DED7-0915-4C39-9576-063550B5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435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Reference network convention.</a:t>
            </a:r>
          </a:p>
          <a:p xmlns:a="http://schemas.openxmlformats.org/drawingml/2006/main">
            <a:pPr algn="ctr">
              <a:defRPr sz="142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Browser variant: 31.3696%.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CB8FD0-07F3-4D4E-ACA4-37EB2EA2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8214769"/>
      </p:ext>
    </p:extLst>
  </p:cSld>
  <p:transition spd="slow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D1A8FF-F432-49C3-AFE3-9F0041F0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Edge-projection slabs improve the elementary chest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4BEA9-C7F5-4CD6-9DF1-C3161069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Replace a one-sided bisector test by a two-sided projection 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ED944-8212-47B3-A171-45A4E0B6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5C859-D7EF-4293-A5EB-F303354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95E53-ED33-43DF-B88E-6344A0D6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9EFB5-987D-4AE5-897B-6E4EECB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8B5D3-A076-48AB-B0C5-7708F096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B5918-B8F5-43F2-A789-A85848C8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04D16-1F32-4EE5-AAF6-AD2AE803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D2DB5-9290-45F5-A103-52AE35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C49A4-17AF-4170-93C2-DB3C743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107C3-A323-42CB-BE0B-D2D0336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146F2-AB50-49C3-BCC7-69BF26CB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8E4F5-30EF-40DF-B0F6-21619980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482" y="2591346"/>
            <a:ext cx="2551043" cy="2018201"/>
          </a:xfrm>
          <a:custGeom xmlns:a="http://schemas.openxmlformats.org/drawingml/2006/main">
            <a:pathLst>
              <a:path w="2551043" h="2018201">
                <a:moveTo>
                  <a:pt x="2280" y="949792"/>
                </a:moveTo>
                <a:lnTo>
                  <a:pt x="0" y="955267"/>
                </a:lnTo>
                <a:lnTo>
                  <a:pt x="2551043" y="2018201"/>
                </a:lnTo>
                <a:lnTo>
                  <a:pt x="2551043" y="357366"/>
                </a:lnTo>
                <a:lnTo>
                  <a:pt x="2074556" y="0"/>
                </a:lnTo>
                <a:close/>
              </a:path>
            </a:pathLst>
          </a:custGeom>
          <a:solidFill xmlns:a="http://schemas.openxmlformats.org/drawingml/2006/main">
            <a:srgbClr val="8E569C">
              <a:alpha val="12000"/>
            </a:srgbClr>
          </a:solidFill>
          <a:ln xmlns:a="http://schemas.openxmlformats.org/drawingml/2006/main" w="13335">
            <a:solidFill>
              <a:srgbClr val="8E56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32E2A-02B2-46ED-8CBD-BE5852D7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3334026"/>
            <a:ext cx="1753842" cy="1275522"/>
          </a:xfrm>
          <a:custGeom xmlns:a="http://schemas.openxmlformats.org/drawingml/2006/main">
            <a:pathLst>
              <a:path w="1753842" h="1275522">
                <a:moveTo>
                  <a:pt x="0" y="544754"/>
                </a:moveTo>
                <a:lnTo>
                  <a:pt x="1753842" y="1275522"/>
                </a:lnTo>
                <a:lnTo>
                  <a:pt x="1753842" y="7307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79AD">
              <a:alpha val="32000"/>
            </a:srgbClr>
          </a:solidFill>
          <a:ln xmlns:a="http://schemas.openxmlformats.org/drawingml/2006/main" w="28575">
            <a:solidFill>
              <a:srgbClr val="3979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49FCC-0472-4785-BF41-522DE969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E6BE0-D64B-4F1C-89A8-F1B17E17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9B2D5-2C9D-480F-8313-13B25059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08B74-A2F5-423D-9197-E37D195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547F7-CDF0-49D8-BBC2-55341D29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159A4-CF2D-44AC-A7A8-B4F2F30B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A3B5B-7545-4DB2-8256-86B23CF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809B0-6FDF-4F58-8D99-DBD42BE5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2AEE9-360D-4FAB-883C-10FA00E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01FA8-722A-4767-A771-B92C0631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D0E01-8E17-4950-A5E9-FB08C700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7.4570%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C6ADD-518E-4496-A284-5E9D65CB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of the hull remains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5A29C-004C-4429-93C9-FA008FF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34956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5 ≤ x ≤ 21/2</a:t>
            </a:r>
          </a:p>
          <a:p xmlns:a="http://schemas.openxmlformats.org/drawingml/2006/main">
            <a:pPr algn="ctr">
              <a:defRPr sz="180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169/10 ≤ x + 12y/5 ≤ 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315991-11A1-4D78-AF84-B11FEB3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3051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For each pair, project its midpoint and both remaining points onto the pair direction. Their smallest and largest projections bound the center.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B8A23-1DD5-4488-BA70-45949164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3821628"/>
      </p:ext>
    </p:extLst>
  </p:cSld>
  <p:transition spd="slow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A1156-1F00-42BC-97E5-D5DEF721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Centroid insertion transfers the whole triangle chest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B1D5B-B069-4E6A-90AF-D86FC203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This special insertion theorem needs no absorption or stability axiom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F7043-3ECD-4BED-A2A1-A09E8948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CA305-47C7-4814-A57D-D7FE5EEF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7C3BF-8D55-458C-975A-918DC77A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5D67A-8316-4997-B3C9-9173C997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F8902-AFE1-4CC3-AC95-D45A981F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85CC5-DFBA-47BD-91D7-2C4581D4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158F6-5DCE-4315-A756-4B1D6FB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457B5-95F6-4D03-9B19-7C643847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A7733-8253-4291-86CD-AEFCE8B2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2B4A6-9CB8-46D8-9912-D1306315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0E5CC-A164-4E64-8603-34455940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EBBAC-DBD5-4E4E-BCEE-DE71414C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95" y="2591346"/>
            <a:ext cx="3936225" cy="2868550"/>
          </a:xfrm>
          <a:custGeom xmlns:a="http://schemas.openxmlformats.org/drawingml/2006/main">
            <a:pathLst>
              <a:path w="3936225" h="2868550">
                <a:moveTo>
                  <a:pt x="880649" y="2868550"/>
                </a:moveTo>
                <a:lnTo>
                  <a:pt x="2552730" y="2868550"/>
                </a:lnTo>
                <a:lnTo>
                  <a:pt x="3932845" y="2235986"/>
                </a:lnTo>
                <a:lnTo>
                  <a:pt x="3936225" y="2225591"/>
                </a:lnTo>
                <a:lnTo>
                  <a:pt x="3349931" y="955267"/>
                </a:lnTo>
                <a:lnTo>
                  <a:pt x="2076243" y="0"/>
                </a:lnTo>
                <a:lnTo>
                  <a:pt x="3967" y="949792"/>
                </a:lnTo>
                <a:lnTo>
                  <a:pt x="1687" y="955267"/>
                </a:lnTo>
                <a:lnTo>
                  <a:pt x="0" y="960468"/>
                </a:lnTo>
                <a:close/>
              </a:path>
            </a:pathLst>
          </a:custGeom>
          <a:solidFill xmlns:a="http://schemas.openxmlformats.org/drawingml/2006/main">
            <a:srgbClr val="A87819">
              <a:alpha val="10000"/>
            </a:srgbClr>
          </a:solidFill>
          <a:ln xmlns:a="http://schemas.openxmlformats.org/drawingml/2006/main" w="12383">
            <a:solidFill>
              <a:srgbClr val="A878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825AC-80C7-40E2-A981-8391510C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15" y="3505178"/>
            <a:ext cx="1446410" cy="1104369"/>
          </a:xfrm>
          <a:custGeom xmlns:a="http://schemas.openxmlformats.org/drawingml/2006/main">
            <a:pathLst>
              <a:path w="1446410" h="1104369">
                <a:moveTo>
                  <a:pt x="1446410" y="1104369"/>
                </a:moveTo>
                <a:lnTo>
                  <a:pt x="1446410" y="559616"/>
                </a:lnTo>
                <a:lnTo>
                  <a:pt x="103330" y="0"/>
                </a:lnTo>
                <a:lnTo>
                  <a:pt x="0" y="501701"/>
                </a:lnTo>
                <a:close/>
              </a:path>
            </a:pathLst>
          </a:custGeom>
          <a:solidFill xmlns:a="http://schemas.openxmlformats.org/drawingml/2006/main">
            <a:srgbClr val="158368">
              <a:alpha val="35000"/>
            </a:srgbClr>
          </a:solidFill>
          <a:ln xmlns:a="http://schemas.openxmlformats.org/drawingml/2006/main" w="28575">
            <a:solidFill>
              <a:srgbClr val="1583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DAB53-926D-49FB-AC47-59BC670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B57CE-A649-4313-B8F9-F0DE9D6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D26A8-CE72-4828-A018-6524F95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26858-8DDC-4B3C-BA74-279DDE55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C4A00-A10D-4BA0-9008-64D7650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6A2A7-0AF7-4002-8EF3-422E271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E0306-4B9D-437E-8466-F0770CF4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E5948-AB3A-4675-A031-1BD21FBD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099F0-A96C-4D64-8137-30BDC191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6B5617-9FAD-40F8-A4F6-BF48B6B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4AAAB-026D-4300-900D-5AE51F82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Y(P) = X₄(P, G₃(P))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E0D07D-849F-4FC0-A143-D4B046D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33337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Move one triangle vertex by h.</a:t>
            </a:r>
          </a:p>
          <a:p xmlns:a="http://schemas.openxmlformats.org/drawingml/2006/main">
            <a:pPr algn="l">
              <a:defRPr sz="15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Its centroid moves by h/3.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Restore these two inputs one at a time. Their parallel responses add to a nonnegative h-projection.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4BACA0-0D3D-4176-90C3-77B73056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Therefore Y is attractive.</a:t>
            </a:r>
          </a:p>
          <a:p xmlns:a="http://schemas.openxmlformats.org/drawingml/2006/main">
            <a:pPr algn="l">
              <a:defRPr sz="165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At D = G₃(P), X₄(P,D) lies in the standard triangle chest.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EB3F9-EB41-42C3-B346-A9F927DF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7587540"/>
      </p:ext>
    </p:extLst>
  </p:cSld>
  <p:transition spd="slow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44B16C-85C0-4E7C-85BD-05257C5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What the successive certificates achieve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A184B-237D-4132-BA62-4A3312AD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All retained percentages use the same hull area: 126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281C2-B804-4D41-98AB-9B2534B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042F2-EA40-4B62-A064-CF8EC373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Convex hull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7A24B-75FB-4C7D-B91B-E71C7A00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144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74544-BDFF-4D61-8EA8-E9123F57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144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9B6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BCC69-FF72-4F66-B884-F98EBEF6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144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100.0000%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5747A-60D6-4BA4-A191-C589A8DB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Midpoint strips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29AA2-D588-4A9C-9717-84411623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621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FE435-B12E-4C99-8359-391F865F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62175"/>
            <a:ext cx="378324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819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35C03-81CC-4F16-9FFC-05E36180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62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A8781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87819"/>
                </a:solidFill>
                <a:latin typeface="Arial"/>
                <a:ea typeface="Arial"/>
                <a:cs typeface="Arial"/>
              </a:rPr>
              <a:t>58.4105%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BB8B5-0B5C-4AB6-94B2-CEF7E00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Reference network alone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90510-DDAC-448A-8C14-25C0E58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7E152-F80F-45FE-804F-DEF870D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199496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AD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F17E2-7C79-4692-936D-09BEE594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9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30.8008%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869C2-4483-4C5B-A4A3-309423BE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Strips + useful bisectors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3DEB8-46C1-4D6F-BDA0-11C3C61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0DF8E-28D7-443B-9967-8773E816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137569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69C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AC79E-B2F4-4802-BE28-2AA4E9D7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575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21.2397%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B82FB-B2A0-4389-A584-027698C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338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Previous combined chest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6B395-0086-43F4-934B-38660BE8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052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1314D-83AF-4DE9-A83C-D1DFD036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05275"/>
            <a:ext cx="868741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82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C711F-2CE0-4EBC-8E8E-C4E09AA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05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87B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B82"/>
                </a:solidFill>
                <a:latin typeface="Arial"/>
                <a:ea typeface="Arial"/>
                <a:cs typeface="Arial"/>
              </a:rPr>
              <a:t>13.4127%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9D02B-5D87-45E7-AA36-76A05CE9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Full edge slabs + strips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B5660-14BD-445F-A0B2-115AC9F9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0B59A-A898-4B58-BAA1-C6F4A8DF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48299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AD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68BAA-F24E-400B-9C72-275E5D3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7.4570%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E7AEA-EA3D-438F-963B-145A3612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292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Centroid transfer / new combo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2B70E-5C80-4019-9486-509259B6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00675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60BD43-AF14-4ACE-913E-1DBC9A1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00675"/>
            <a:ext cx="384099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68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9F52B-8022-4BB0-8C6C-B4A60D5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00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5.9302%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BB2BF7-C62B-45D3-99AF-A27FAC89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579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Unconditional geometric bounds. These results do not prove a smallest possible chest.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D27CB2-BC5F-4C5D-A262-F97037D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9927795"/>
      </p:ext>
    </p:extLst>
  </p:cSld>
  <p:transition spd="slow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B0D686-61C1-4605-9440-E7C7A50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 four-vertex chest replaces the old five-vertex chest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20D1D-5756-4CD5-98D9-0891CBC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Two routes agree: edge slabs + reference network, or centroid insertion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FB20B-1DEF-45C0-A777-1B89BBF5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984B0-AF1E-45E4-AEDC-586EEF3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334250" cy="44643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984AB-2EA2-465E-923F-35E1E3F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EEEF8-4A46-4AE0-AAFD-2367959A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683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31ACC-C371-4246-895E-71C3FDCD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085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74C2E-E441-4542-9BAA-8F19CC1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487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690A4-6054-4305-B391-4217D38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889" y="1314450"/>
            <a:ext cx="9525" cy="4464326"/>
          </a:xfrm>
          <a:custGeom xmlns:a="http://schemas.openxmlformats.org/drawingml/2006/main">
            <a:pathLst>
              <a:path w="9525" h="4464326">
                <a:moveTo>
                  <a:pt x="0" y="44643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2D939-1EEA-446D-9F56-F365A9E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896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514C5-6231-4059-8BBC-BF854F5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4374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E7A29-A601-4001-979E-38D04782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8852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033CF-6805-4244-8113-DC884265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3330"/>
            <a:ext cx="7334250" cy="9525"/>
          </a:xfrm>
          <a:custGeom xmlns:a="http://schemas.openxmlformats.org/drawingml/2006/main">
            <a:pathLst>
              <a:path w="7334250" h="9525">
                <a:moveTo>
                  <a:pt x="0" y="0"/>
                </a:moveTo>
                <a:lnTo>
                  <a:pt x="7334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9AA9B6">
                <a:alpha val="2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B00F9-01BA-42A0-B171-EB5A5D02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15" y="2765455"/>
            <a:ext cx="1446410" cy="1844092"/>
          </a:xfrm>
          <a:custGeom xmlns:a="http://schemas.openxmlformats.org/drawingml/2006/main">
            <a:pathLst>
              <a:path w="1446410" h="1844092">
                <a:moveTo>
                  <a:pt x="0" y="1241424"/>
                </a:moveTo>
                <a:lnTo>
                  <a:pt x="1446410" y="1844092"/>
                </a:lnTo>
                <a:lnTo>
                  <a:pt x="1446410" y="761330"/>
                </a:lnTo>
                <a:lnTo>
                  <a:pt x="590047" y="0"/>
                </a:lnTo>
                <a:lnTo>
                  <a:pt x="220831" y="169223"/>
                </a:lnTo>
                <a:close/>
              </a:path>
            </a:pathLst>
          </a:custGeom>
          <a:solidFill xmlns:a="http://schemas.openxmlformats.org/drawingml/2006/main">
            <a:srgbClr val="3979AD">
              <a:alpha val="13000"/>
            </a:srgbClr>
          </a:solidFill>
          <a:ln xmlns:a="http://schemas.openxmlformats.org/drawingml/2006/main" w="19050">
            <a:solidFill>
              <a:srgbClr val="397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11571-D261-43C6-AF47-096462E5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115" y="3505178"/>
            <a:ext cx="1446410" cy="1104369"/>
          </a:xfrm>
          <a:custGeom xmlns:a="http://schemas.openxmlformats.org/drawingml/2006/main">
            <a:pathLst>
              <a:path w="1446410" h="1104369">
                <a:moveTo>
                  <a:pt x="1446410" y="1104369"/>
                </a:moveTo>
                <a:lnTo>
                  <a:pt x="1446410" y="559616"/>
                </a:lnTo>
                <a:lnTo>
                  <a:pt x="103330" y="0"/>
                </a:lnTo>
                <a:lnTo>
                  <a:pt x="0" y="501701"/>
                </a:lnTo>
                <a:close/>
              </a:path>
            </a:pathLst>
          </a:custGeom>
          <a:solidFill xmlns:a="http://schemas.openxmlformats.org/drawingml/2006/main">
            <a:srgbClr val="158368">
              <a:alpha val="40000"/>
            </a:srgbClr>
          </a:solidFill>
          <a:ln xmlns:a="http://schemas.openxmlformats.org/drawingml/2006/main" w="28575">
            <a:solidFill>
              <a:srgbClr val="1583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C1078-016C-48C8-9593-257F6AF8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0" y="1633330"/>
            <a:ext cx="6696489" cy="3826565"/>
          </a:xfrm>
          <a:custGeom xmlns:a="http://schemas.openxmlformats.org/drawingml/2006/main">
            <a:pathLst>
              <a:path w="6696489" h="3826565">
                <a:moveTo>
                  <a:pt x="0" y="3826565"/>
                </a:moveTo>
                <a:lnTo>
                  <a:pt x="6696489" y="3826565"/>
                </a:lnTo>
                <a:lnTo>
                  <a:pt x="159440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4384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12945-2557-470F-AE16-20689B2A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3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F37EE-E716-4BA8-A008-62C85F38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25CDD-5281-47A5-849A-D7AB1302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20" y="54027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6A02C-00EB-466C-A44F-097219F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970" y="5555146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5A75D-3EC0-42D5-BB2C-2E34CE3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533" y="157618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849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0FD7A-9AF3-4DB2-8C33-CF136B5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83" y="136663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7C59C-06E6-4598-A7FC-5B462A7C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761" y="41272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569C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D4C2A-1FD1-4AAA-9A82-C8330F80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11" y="405102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C9F69-ED19-43EB-80D9-90A36B08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2076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equal x and y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DB251-F2E2-41C6-8E3A-A588C32C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5.9302%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7B5CA5-D95D-4487-8660-E1E53B5A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of the hull remains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67D88-4F00-482F-8B1C-1E50D59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3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59B0C4-9A92-4C78-AAE7-A7E3CEBC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Area 7.4720401592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B2B4A-AE1B-4486-BFE5-DF0D7A8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432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Four vertices; 94.0698% of the hull is excluded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E2778-AEAE-409E-9A3B-F9E0FA6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9A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A071A2-7238-4DD4-BCD3-867401FB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38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55.7868% smaller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727EF-F4A7-4847-B80A-431534B3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Relative to the old area 16.9000125109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5667F6-64C6-40F3-8E29-0DF3A8E8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95900"/>
            <a:ext cx="3286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The triangle chest is now a proved four-input chest here — not merely a comparison overlay.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B0C03-956B-411B-B0F9-D1F3ABE2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48257105"/>
      </p:ext>
    </p:extLst>
  </p:cSld>
  <p:transition spd="slow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1E57C-1349-49E4-AC2D-DF97E01D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Three insertion statements must not be confused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0A970-6EB4-4EAE-A42D-FC7A98A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Only the first applies to every attractive map in the broad finite-response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AF556-C188-4E5C-A668-69AAA8E4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6DA73-BF5C-41FE-923B-93AF18F8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109061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58368">
                <a:alpha val="50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B2C8F-6F7C-433C-8921-127A947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Centroid transfer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AA137-F033-43CB-8CDF-BE691856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24025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Insert G(P). The induced map is attractive; every broad chest transfers.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A37FA-D49F-41A4-AEEC-450DB5CD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Unconditional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1F665-1788-4A1A-ACCC-5036B9DB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8475"/>
            <a:ext cx="109061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8E569C">
                <a:alpha val="5000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7D0DE-EE5C-43E0-AC38-EEB824D5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Absorption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02D2E-674E-429F-90F6-5762F8E6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040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X(P,X(P)) = X(P). This compares a coherent family across arities.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549A1-CF8D-49A2-9697-F6453B59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338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E569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E569C"/>
                </a:solidFill>
                <a:latin typeface="Arial"/>
                <a:ea typeface="Arial"/>
                <a:cs typeface="Arial"/>
              </a:rPr>
              <a:t>Extra hypothesis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A2B50-6D41-49C4-84F7-C6AFCC6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109061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3979AD">
                <a:alpha val="50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C11DD-F329-4ED1-989F-3890EF1A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Diameter-ball insertion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E82F1-8F38-4CA4-B98E-481BB90F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For convex power means: (y−x)·(y−z) ≤ 0. The new mean y lies in the ball with diameter [x,z].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EE8D1-F108-466E-B4FC-38F7F3E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102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Proved for the power family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F9534-00B7-4ABC-BB5D-C759709F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5180234"/>
      </p:ext>
    </p:extLst>
  </p:cSld>
  <p:transition spd="slow" advClick="1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C69BA-8D9B-46F7-807D-03EFE151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In space: valid bounds, but no face-pyramid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CB8A0-F261-427D-905D-1D91AB66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 concrete attractive M₄ center disproves the tempting face-cone insertion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DB1E2-FDF7-4873-82BF-0647F1E1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9CFFA-AD0F-4D89-A5B1-154002DA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38300"/>
            <a:ext cx="4857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 = (1,0,0)</a:t>
            </a:r>
          </a:p>
          <a:p xmlns:a="http://schemas.openxmlformats.org/drawingml/2006/main">
            <a:pPr algn="l">
              <a:defRPr sz="202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B = (−1/2, √3/2, 0)</a:t>
            </a:r>
          </a:p>
          <a:p xmlns:a="http://schemas.openxmlformats.org/drawingml/2006/main">
            <a:pPr algn="l">
              <a:defRPr sz="202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 = (−1/2, −√3/2, 0)</a:t>
            </a:r>
          </a:p>
          <a:p xmlns:a="http://schemas.openxmlformats.org/drawingml/2006/main">
            <a:pPr algn="l">
              <a:defRPr sz="202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D = (1,0,1)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BB703-0B2E-441E-B77E-E9871C5C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24275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ABC is equilateral; its chest is O.</a:t>
            </a:r>
          </a:p>
          <a:p xmlns:a="http://schemas.openxmlformats.org/drawingml/2006/main">
            <a:pPr algn="l">
              <a:defRPr sz="1725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The proposed pyramid collapses to [O,D].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7C534-2B7B-477F-8208-8EB66E62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D527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D5275"/>
                </a:solidFill>
                <a:latin typeface="Arial"/>
                <a:ea typeface="Arial"/>
                <a:cs typeface="Arial"/>
              </a:rPr>
              <a:t>M₄ ≈ (0.16338338, 0, 0.27153976)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A11C5-3F8C-4CBA-99A9-CF82E43E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5000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It is not on [O,D], where x = z.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Distance to that line: 0.0764781.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C7DE3-A559-446D-97E2-2DB64EFA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4905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Use midpoint slabs, edge slabs, involution orbit bounds, and face-centroid transfer. Diameter balls remain a conditional power-family option.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61AFD-F4E2-4671-BC8C-E6132BDC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26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A full continuous / recursive spatial network remains research work, not an implemented completeness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0406E-91BC-4625-A0C9-26D34B20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6346728"/>
      </p:ext>
    </p:extLst>
  </p:cSld>
  <p:transition spd="slow" advClick="1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D97F0-7401-4535-9AC5-61E8A36B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 stronger research platform — not the final chest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431B7-7769-4874-AE23-CC738316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4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36475"/>
                </a:solidFill>
                <a:latin typeface="Arial"/>
                <a:ea typeface="Arial"/>
                <a:cs typeface="Arial"/>
              </a:rPr>
              <a:t>Local revision: the website and repository are intentionally unchanged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E1671-4AAE-46B3-8A84-FDC1F2A8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52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AA9B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3C9CD-7047-4D0F-AB0E-B51789D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5836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58368"/>
                </a:solidFill>
                <a:latin typeface="Arial"/>
                <a:ea typeface="Arial"/>
                <a:cs typeface="Arial"/>
              </a:rPr>
              <a:t>Implemented in the light explorer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4E8A6-760F-449D-BD32-DDD6212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43150"/>
            <a:ext cx="50006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Edge slabs in the plane and space</a:t>
            </a:r>
          </a:p>
          <a:p xmlns:a="http://schemas.openxmlformats.org/drawingml/2006/main">
            <a:pPr algn="l">
              <a:defRPr sz="18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Discrete involution orbit bounds</a:t>
            </a:r>
          </a:p>
          <a:p xmlns:a="http://schemas.openxmlformats.org/drawingml/2006/main">
            <a:pPr algn="l">
              <a:defRPr sz="18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Centroid / face-centroid transfer</a:t>
            </a:r>
          </a:p>
          <a:p xmlns:a="http://schemas.openxmlformats.org/drawingml/2006/main">
            <a:pPr algn="l">
              <a:defRPr sz="18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Optional diameter-ball envelopes</a:t>
            </a:r>
          </a:p>
          <a:p xmlns:a="http://schemas.openxmlformats.org/drawingml/2006/main">
            <a:pPr algn="l">
              <a:defRPr sz="1875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Visible retained-area / volume percentages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F0D87-D34E-4250-B2D4-70622971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979A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979AD"/>
                </a:solidFill>
                <a:latin typeface="Arial"/>
                <a:ea typeface="Arial"/>
                <a:cs typeface="Arial"/>
              </a:rPr>
              <a:t>What the new bundle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82E77-C6DE-4C13-8CC2-20F228E9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Exact planar examples and benchmark integration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Continuous first-level membership certificates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Recursive LP bounds for the encoded problem</a:t>
            </a:r>
          </a:p>
          <a:p xmlns:a="http://schemas.openxmlformats.org/drawingml/2006/main">
            <a:pPr algn="l">
              <a:defRPr sz="1800" b="0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A corrected distinction between insertion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07B92-6939-4194-B9E5-9B9F967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4384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43849"/>
                </a:solidFill>
                <a:latin typeface="Arial"/>
                <a:ea typeface="Arial"/>
                <a:cs typeface="Arial"/>
              </a:rPr>
              <a:t>Still open: completeness of the inequality families, the smallest four-point chest, and the maximal analytic triangle Heart.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627E5-6259-4F1B-8640-037941A2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AA9B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AA9B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96990691"/>
      </p:ext>
    </p:extLst>
  </p:cSld>
  <p:transition spd="slow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2026-09-11T13:45:57.1910000Z</dcterms:created>
  <dcterms:modified xsi:type="dcterms:W3CDTF">2026-09-11T13:45:57.1910000Z</dcterms:modified>
</coreProperties>
</file>