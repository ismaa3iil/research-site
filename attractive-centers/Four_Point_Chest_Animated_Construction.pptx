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d206d0464e4a94" /><Relationship Type="http://schemas.openxmlformats.org/officeDocument/2006/relationships/extended-properties" Target="/docProps/app.xml" Id="Rdbc864ca8dd642fc" /><Relationship Type="http://schemas.openxmlformats.org/officeDocument/2006/relationships/officeDocument" Target="/ppt/presentation.xml" Id="Rab26140b33c3450b" /></Relationships>
</file>

<file path=ppt/presentation.xml><?xml version="1.0" encoding="utf-8"?>
<p:presentation xmlns:p="http://schemas.openxmlformats.org/presentationml/2006/main">
  <p:sldMasterIdLst>
    <p:sldMasterId xmlns:r="http://schemas.openxmlformats.org/officeDocument/2006/relationships" id="2147483648" r:id="R2011d75bc6724b85"/>
  </p:sldMasterIdLst>
  <p:notesMasterIdLst>
    <p:notesMasterId xmlns:r="http://schemas.openxmlformats.org/officeDocument/2006/relationships" r:id="R19828ac60a264113"/>
  </p:notesMasterIdLst>
  <p:sldIdLst>
    <p:sldId xmlns:r="http://schemas.openxmlformats.org/officeDocument/2006/relationships" id="256" r:id="Rbc122b7461bc416a"/>
    <p:sldId xmlns:r="http://schemas.openxmlformats.org/officeDocument/2006/relationships" id="257" r:id="R599492a149314c56"/>
    <p:sldId xmlns:r="http://schemas.openxmlformats.org/officeDocument/2006/relationships" id="258" r:id="Rc4059a2637784a19"/>
    <p:sldId xmlns:r="http://schemas.openxmlformats.org/officeDocument/2006/relationships" id="259" r:id="Rd5250d4817564f98"/>
    <p:sldId xmlns:r="http://schemas.openxmlformats.org/officeDocument/2006/relationships" id="260" r:id="R416c96ed02e4466f"/>
    <p:sldId xmlns:r="http://schemas.openxmlformats.org/officeDocument/2006/relationships" id="261" r:id="R424e482b79db41e2"/>
    <p:sldId xmlns:r="http://schemas.openxmlformats.org/officeDocument/2006/relationships" id="262" r:id="Rea2aaa5057434477"/>
    <p:sldId xmlns:r="http://schemas.openxmlformats.org/officeDocument/2006/relationships" id="263" r:id="R73e2231dbba64149"/>
    <p:sldId xmlns:r="http://schemas.openxmlformats.org/officeDocument/2006/relationships" id="264" r:id="Raa8d930f72fd4c2c"/>
    <p:sldId xmlns:r="http://schemas.openxmlformats.org/officeDocument/2006/relationships" id="265" r:id="R07c8e0334f74498e"/>
    <p:sldId xmlns:r="http://schemas.openxmlformats.org/officeDocument/2006/relationships" id="266" r:id="R522610fc1b8f45d8"/>
    <p:sldId xmlns:r="http://schemas.openxmlformats.org/officeDocument/2006/relationships" id="267" r:id="R06aa040c64bc4979"/>
    <p:sldId xmlns:r="http://schemas.openxmlformats.org/officeDocument/2006/relationships" id="268" r:id="R336e187213d2486d"/>
    <p:sldId xmlns:r="http://schemas.openxmlformats.org/officeDocument/2006/relationships" id="269" r:id="R3a1e5d331033423c"/>
    <p:sldId xmlns:r="http://schemas.openxmlformats.org/officeDocument/2006/relationships" id="270" r:id="Rde0795f3a0e84045"/>
    <p:sldId xmlns:r="http://schemas.openxmlformats.org/officeDocument/2006/relationships" id="271" r:id="Rdbab629bc6ed4b18"/>
    <p:sldId xmlns:r="http://schemas.openxmlformats.org/officeDocument/2006/relationships" id="272" r:id="R42981ae638e14a2a"/>
    <p:sldId xmlns:r="http://schemas.openxmlformats.org/officeDocument/2006/relationships" id="273" r:id="R9f0223e298824485"/>
    <p:sldId xmlns:r="http://schemas.openxmlformats.org/officeDocument/2006/relationships" id="274" r:id="R99a98cb52cb148ac"/>
    <p:sldId xmlns:r="http://schemas.openxmlformats.org/officeDocument/2006/relationships" id="275" r:id="Rb5b32d7233474899"/>
    <p:sldId xmlns:r="http://schemas.openxmlformats.org/officeDocument/2006/relationships" id="276" r:id="R19cfe8f587d447a1"/>
    <p:sldId xmlns:r="http://schemas.openxmlformats.org/officeDocument/2006/relationships" id="277" r:id="R3f1f0db3169d48c6"/>
    <p:sldId xmlns:r="http://schemas.openxmlformats.org/officeDocument/2006/relationships" id="278" r:id="R58a34180c5c04023"/>
    <p:sldId xmlns:r="http://schemas.openxmlformats.org/officeDocument/2006/relationships" id="279" r:id="R575bb17257574a9f"/>
    <p:sldId xmlns:r="http://schemas.openxmlformats.org/officeDocument/2006/relationships" id="280" r:id="Rd582c0fc62fe4b8e"/>
    <p:sldId xmlns:r="http://schemas.openxmlformats.org/officeDocument/2006/relationships" id="281" r:id="R5c5e8ead6a784839"/>
    <p:sldId xmlns:r="http://schemas.openxmlformats.org/officeDocument/2006/relationships" id="282" r:id="R447713eeb82f427e"/>
    <p:sldId xmlns:r="http://schemas.openxmlformats.org/officeDocument/2006/relationships" id="283" r:id="R98de9d4438124416"/>
    <p:sldId xmlns:r="http://schemas.openxmlformats.org/officeDocument/2006/relationships" id="284" r:id="R80ff75cb323441a5"/>
    <p:sldId xmlns:r="http://schemas.openxmlformats.org/officeDocument/2006/relationships" id="285" r:id="R201499e1793d4ae6"/>
    <p:sldId xmlns:r="http://schemas.openxmlformats.org/officeDocument/2006/relationships" id="286" r:id="R130dec0fa9f84289"/>
    <p:sldId xmlns:r="http://schemas.openxmlformats.org/officeDocument/2006/relationships" id="287" r:id="R05065e59ec594f54"/>
    <p:sldId xmlns:r="http://schemas.openxmlformats.org/officeDocument/2006/relationships" id="288" r:id="R482877e2db7a4be6"/>
    <p:sldId xmlns:r="http://schemas.openxmlformats.org/officeDocument/2006/relationships" id="289" r:id="R5fa2d9f9f5db4908"/>
    <p:sldId xmlns:r="http://schemas.openxmlformats.org/officeDocument/2006/relationships" id="290" r:id="Ra5a6773e29314a1c"/>
    <p:sldId xmlns:r="http://schemas.openxmlformats.org/officeDocument/2006/relationships" id="291" r:id="R31af96a5871e4e67"/>
    <p:sldId xmlns:r="http://schemas.openxmlformats.org/officeDocument/2006/relationships" id="292" r:id="Rcc26148cd55e4f53"/>
    <p:sldId xmlns:r="http://schemas.openxmlformats.org/officeDocument/2006/relationships" id="293" r:id="R933691e107c24905"/>
    <p:sldId xmlns:r="http://schemas.openxmlformats.org/officeDocument/2006/relationships" id="294" r:id="R9a5ba81a05334b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720f26cf274f54" /><Relationship Type="http://schemas.openxmlformats.org/officeDocument/2006/relationships/slideMaster" Target="/ppt/slideMasters/slideMaster1.xml" Id="R2011d75bc6724b85" /><Relationship Type="http://schemas.openxmlformats.org/officeDocument/2006/relationships/notesMaster" Target="/ppt/notesMasters/notesMaster1.xml" Id="R19828ac60a264113" /><Relationship Type="http://schemas.openxmlformats.org/officeDocument/2006/relationships/presProps" Target="/ppt/presProps.xml" Id="Re22ec5f1a1564ac1" /><Relationship Type="http://schemas.openxmlformats.org/officeDocument/2006/relationships/tableStyles" Target="/ppt/tableStyles.xml" Id="Rf8545a2cd2fd43e4" /><Relationship Type="http://schemas.openxmlformats.org/officeDocument/2006/relationships/slide" Target="/ppt/slides/slide1.xml" Id="Rbc122b7461bc416a" /><Relationship Type="http://schemas.openxmlformats.org/officeDocument/2006/relationships/slide" Target="/ppt/slides/slide2.xml" Id="R599492a149314c56" /><Relationship Type="http://schemas.openxmlformats.org/officeDocument/2006/relationships/slide" Target="/ppt/slides/slide3.xml" Id="Rc4059a2637784a19" /><Relationship Type="http://schemas.openxmlformats.org/officeDocument/2006/relationships/slide" Target="/ppt/slides/slide4.xml" Id="Rd5250d4817564f98" /><Relationship Type="http://schemas.openxmlformats.org/officeDocument/2006/relationships/slide" Target="/ppt/slides/slide5.xml" Id="R416c96ed02e4466f" /><Relationship Type="http://schemas.openxmlformats.org/officeDocument/2006/relationships/slide" Target="/ppt/slides/slide6.xml" Id="R424e482b79db41e2" /><Relationship Type="http://schemas.openxmlformats.org/officeDocument/2006/relationships/slide" Target="/ppt/slides/slide7.xml" Id="Rea2aaa5057434477" /><Relationship Type="http://schemas.openxmlformats.org/officeDocument/2006/relationships/slide" Target="/ppt/slides/slide8.xml" Id="R73e2231dbba64149" /><Relationship Type="http://schemas.openxmlformats.org/officeDocument/2006/relationships/slide" Target="/ppt/slides/slide9.xml" Id="Raa8d930f72fd4c2c" /><Relationship Type="http://schemas.openxmlformats.org/officeDocument/2006/relationships/slide" Target="/ppt/slides/slide10.xml" Id="R07c8e0334f74498e" /><Relationship Type="http://schemas.openxmlformats.org/officeDocument/2006/relationships/slide" Target="/ppt/slides/slide11.xml" Id="R522610fc1b8f45d8" /><Relationship Type="http://schemas.openxmlformats.org/officeDocument/2006/relationships/slide" Target="/ppt/slides/slide12.xml" Id="R06aa040c64bc4979" /><Relationship Type="http://schemas.openxmlformats.org/officeDocument/2006/relationships/slide" Target="/ppt/slides/slide13.xml" Id="R336e187213d2486d" /><Relationship Type="http://schemas.openxmlformats.org/officeDocument/2006/relationships/slide" Target="/ppt/slides/slide14.xml" Id="R3a1e5d331033423c" /><Relationship Type="http://schemas.openxmlformats.org/officeDocument/2006/relationships/slide" Target="/ppt/slides/slide15.xml" Id="Rde0795f3a0e84045" /><Relationship Type="http://schemas.openxmlformats.org/officeDocument/2006/relationships/slide" Target="/ppt/slides/slide16.xml" Id="Rdbab629bc6ed4b18" /><Relationship Type="http://schemas.openxmlformats.org/officeDocument/2006/relationships/slide" Target="/ppt/slides/slide17.xml" Id="R42981ae638e14a2a" /><Relationship Type="http://schemas.openxmlformats.org/officeDocument/2006/relationships/slide" Target="/ppt/slides/slide18.xml" Id="R9f0223e298824485" /><Relationship Type="http://schemas.openxmlformats.org/officeDocument/2006/relationships/slide" Target="/ppt/slides/slide19.xml" Id="R99a98cb52cb148ac" /><Relationship Type="http://schemas.openxmlformats.org/officeDocument/2006/relationships/slide" Target="/ppt/slides/slide20.xml" Id="Rb5b32d7233474899" /><Relationship Type="http://schemas.openxmlformats.org/officeDocument/2006/relationships/slide" Target="/ppt/slides/slide21.xml" Id="R19cfe8f587d447a1" /><Relationship Type="http://schemas.openxmlformats.org/officeDocument/2006/relationships/slide" Target="/ppt/slides/slide22.xml" Id="R3f1f0db3169d48c6" /><Relationship Type="http://schemas.openxmlformats.org/officeDocument/2006/relationships/slide" Target="/ppt/slides/slide23.xml" Id="R58a34180c5c04023" /><Relationship Type="http://schemas.openxmlformats.org/officeDocument/2006/relationships/slide" Target="/ppt/slides/slide24.xml" Id="R575bb17257574a9f" /><Relationship Type="http://schemas.openxmlformats.org/officeDocument/2006/relationships/slide" Target="/ppt/slides/slide25.xml" Id="Rd582c0fc62fe4b8e" /><Relationship Type="http://schemas.openxmlformats.org/officeDocument/2006/relationships/slide" Target="/ppt/slides/slide26.xml" Id="R5c5e8ead6a784839" /><Relationship Type="http://schemas.openxmlformats.org/officeDocument/2006/relationships/slide" Target="/ppt/slides/slide27.xml" Id="R447713eeb82f427e" /><Relationship Type="http://schemas.openxmlformats.org/officeDocument/2006/relationships/slide" Target="/ppt/slides/slide28.xml" Id="R98de9d4438124416" /><Relationship Type="http://schemas.openxmlformats.org/officeDocument/2006/relationships/slide" Target="/ppt/slides/slide29.xml" Id="R80ff75cb323441a5" /><Relationship Type="http://schemas.openxmlformats.org/officeDocument/2006/relationships/slide" Target="/ppt/slides/slide30.xml" Id="R201499e1793d4ae6" /><Relationship Type="http://schemas.openxmlformats.org/officeDocument/2006/relationships/slide" Target="/ppt/slides/slide31.xml" Id="R130dec0fa9f84289" /><Relationship Type="http://schemas.openxmlformats.org/officeDocument/2006/relationships/slide" Target="/ppt/slides/slide32.xml" Id="R05065e59ec594f54" /><Relationship Type="http://schemas.openxmlformats.org/officeDocument/2006/relationships/slide" Target="/ppt/slides/slide33.xml" Id="R482877e2db7a4be6" /><Relationship Type="http://schemas.openxmlformats.org/officeDocument/2006/relationships/slide" Target="/ppt/slides/slide34.xml" Id="R5fa2d9f9f5db4908" /><Relationship Type="http://schemas.openxmlformats.org/officeDocument/2006/relationships/slide" Target="/ppt/slides/slide35.xml" Id="Ra5a6773e29314a1c" /><Relationship Type="http://schemas.openxmlformats.org/officeDocument/2006/relationships/slide" Target="/ppt/slides/slide36.xml" Id="R31af96a5871e4e67" /><Relationship Type="http://schemas.openxmlformats.org/officeDocument/2006/relationships/slide" Target="/ppt/slides/slide37.xml" Id="Rcc26148cd55e4f53" /><Relationship Type="http://schemas.openxmlformats.org/officeDocument/2006/relationships/slide" Target="/ppt/slides/slide38.xml" Id="R933691e107c24905" /><Relationship Type="http://schemas.openxmlformats.org/officeDocument/2006/relationships/slide" Target="/ppt/slides/slide39.xml" Id="R9a5ba81a05334b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d60995a54048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1b9a2f25d64771" /><Relationship Type="http://schemas.openxmlformats.org/officeDocument/2006/relationships/notesMaster" Target="/ppt/notesMasters/notesMaster1.xml" Id="Re86109353e734a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10587b71ff4974" /><Relationship Type="http://schemas.openxmlformats.org/officeDocument/2006/relationships/notesMaster" Target="/ppt/notesMasters/notesMaster1.xml" Id="R6f57e88e541849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b5f293c3f54e1e" /><Relationship Type="http://schemas.openxmlformats.org/officeDocument/2006/relationships/notesMaster" Target="/ppt/notesMasters/notesMaster1.xml" Id="Rff951240def549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cf4f32f58641fa" /><Relationship Type="http://schemas.openxmlformats.org/officeDocument/2006/relationships/notesMaster" Target="/ppt/notesMasters/notesMaster1.xml" Id="Rafae93cd00534b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d0188a1bdd498a" /><Relationship Type="http://schemas.openxmlformats.org/officeDocument/2006/relationships/notesMaster" Target="/ppt/notesMasters/notesMaster1.xml" Id="R03e4d31185484f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e156120ad5427a" /><Relationship Type="http://schemas.openxmlformats.org/officeDocument/2006/relationships/notesMaster" Target="/ppt/notesMasters/notesMaster1.xml" Id="R9080edc0271e46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d89961b54a4720" /><Relationship Type="http://schemas.openxmlformats.org/officeDocument/2006/relationships/notesMaster" Target="/ppt/notesMasters/notesMaster1.xml" Id="R92ca2202bf0340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d76b6c89954163" /><Relationship Type="http://schemas.openxmlformats.org/officeDocument/2006/relationships/notesMaster" Target="/ppt/notesMasters/notesMaster1.xml" Id="Rabb85c16febd4b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26770045734dad" /><Relationship Type="http://schemas.openxmlformats.org/officeDocument/2006/relationships/notesMaster" Target="/ppt/notesMasters/notesMaster1.xml" Id="Ree93729dfdb0468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1df736f051405e" /><Relationship Type="http://schemas.openxmlformats.org/officeDocument/2006/relationships/notesMaster" Target="/ppt/notesMasters/notesMaster1.xml" Id="R401af0a66b1e4e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e427b3980d497c" /><Relationship Type="http://schemas.openxmlformats.org/officeDocument/2006/relationships/notesMaster" Target="/ppt/notesMasters/notesMaster1.xml" Id="Ref6d7894a23b4e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cc8f22b6304614" /><Relationship Type="http://schemas.openxmlformats.org/officeDocument/2006/relationships/notesMaster" Target="/ppt/notesMasters/notesMaster1.xml" Id="Rc535af6d72aa46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a588f85ceb4003" /><Relationship Type="http://schemas.openxmlformats.org/officeDocument/2006/relationships/notesMaster" Target="/ppt/notesMasters/notesMaster1.xml" Id="Re3f493c8a6bf43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af7f78e9d846d4" /><Relationship Type="http://schemas.openxmlformats.org/officeDocument/2006/relationships/notesMaster" Target="/ppt/notesMasters/notesMaster1.xml" Id="R8804eb6d1df74e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be0fd7f18940c5" /><Relationship Type="http://schemas.openxmlformats.org/officeDocument/2006/relationships/notesMaster" Target="/ppt/notesMasters/notesMaster1.xml" Id="Ra6e57df3abbc41e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285f2887a45446e" /><Relationship Type="http://schemas.openxmlformats.org/officeDocument/2006/relationships/notesMaster" Target="/ppt/notesMasters/notesMaster1.xml" Id="R58cbd575c96d4b1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c8f443197f4e13" /><Relationship Type="http://schemas.openxmlformats.org/officeDocument/2006/relationships/notesMaster" Target="/ppt/notesMasters/notesMaster1.xml" Id="R2f993aaa43ec41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d139745b984f89" /><Relationship Type="http://schemas.openxmlformats.org/officeDocument/2006/relationships/notesMaster" Target="/ppt/notesMasters/notesMaster1.xml" Id="Re9bd773f1d054e8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3ec4e2a4b048fb" /><Relationship Type="http://schemas.openxmlformats.org/officeDocument/2006/relationships/notesMaster" Target="/ppt/notesMasters/notesMaster1.xml" Id="R907d1efad8904f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9be65e4fff49da" /><Relationship Type="http://schemas.openxmlformats.org/officeDocument/2006/relationships/notesMaster" Target="/ppt/notesMasters/notesMaster1.xml" Id="R594074ccea99418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f77be19749a4d88" /><Relationship Type="http://schemas.openxmlformats.org/officeDocument/2006/relationships/notesMaster" Target="/ppt/notesMasters/notesMaster1.xml" Id="R80bad99015ce467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13fb2a95eb74e4a" /><Relationship Type="http://schemas.openxmlformats.org/officeDocument/2006/relationships/notesMaster" Target="/ppt/notesMasters/notesMaster1.xml" Id="R7a2a228174604d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5a2f2b85ab142a9" /><Relationship Type="http://schemas.openxmlformats.org/officeDocument/2006/relationships/notesMaster" Target="/ppt/notesMasters/notesMaster1.xml" Id="Rfe1897eea4d840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4804da4d7ae40d0" /><Relationship Type="http://schemas.openxmlformats.org/officeDocument/2006/relationships/notesMaster" Target="/ppt/notesMasters/notesMaster1.xml" Id="Rafef075c38f2435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a575958a6c44bef" /><Relationship Type="http://schemas.openxmlformats.org/officeDocument/2006/relationships/notesMaster" Target="/ppt/notesMasters/notesMaster1.xml" Id="R5172c099aa73478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2e4eabf96d8404a" /><Relationship Type="http://schemas.openxmlformats.org/officeDocument/2006/relationships/notesMaster" Target="/ppt/notesMasters/notesMaster1.xml" Id="R35f1570e512f4fc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ba86d43ff2e4091" /><Relationship Type="http://schemas.openxmlformats.org/officeDocument/2006/relationships/notesMaster" Target="/ppt/notesMasters/notesMaster1.xml" Id="R69fca38c58ec44d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cd76aa985a4459f" /><Relationship Type="http://schemas.openxmlformats.org/officeDocument/2006/relationships/notesMaster" Target="/ppt/notesMasters/notesMaster1.xml" Id="Rc9a9ce1188354e7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828f4f30c6948c1" /><Relationship Type="http://schemas.openxmlformats.org/officeDocument/2006/relationships/notesMaster" Target="/ppt/notesMasters/notesMaster1.xml" Id="R3ecac68695be4a4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26f21792b654a33" /><Relationship Type="http://schemas.openxmlformats.org/officeDocument/2006/relationships/notesMaster" Target="/ppt/notesMasters/notesMaster1.xml" Id="Ra4b680d0c592474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e1310ae13664f44" /><Relationship Type="http://schemas.openxmlformats.org/officeDocument/2006/relationships/notesMaster" Target="/ppt/notesMasters/notesMaster1.xml" Id="R6f6dc42176a54b2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a6b9d4b09004e80" /><Relationship Type="http://schemas.openxmlformats.org/officeDocument/2006/relationships/notesMaster" Target="/ppt/notesMasters/notesMaster1.xml" Id="R6b801f4bc13a4f2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d01046df0a149bf" /><Relationship Type="http://schemas.openxmlformats.org/officeDocument/2006/relationships/notesMaster" Target="/ppt/notesMasters/notesMaster1.xml" Id="R6713c85c63884a4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4d8938fa451496e" /><Relationship Type="http://schemas.openxmlformats.org/officeDocument/2006/relationships/notesMaster" Target="/ppt/notesMasters/notesMaster1.xml" Id="R50387b755bcb4f7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2fd974924614fed" /><Relationship Type="http://schemas.openxmlformats.org/officeDocument/2006/relationships/notesMaster" Target="/ppt/notesMasters/notesMaster1.xml" Id="R6b6105d0ec7b467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64dec4f2fcc4679" /><Relationship Type="http://schemas.openxmlformats.org/officeDocument/2006/relationships/notesMaster" Target="/ppt/notesMasters/notesMaster1.xml" Id="Rccd50f8f47154ee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4f4c53e16694698" /><Relationship Type="http://schemas.openxmlformats.org/officeDocument/2006/relationships/notesMaster" Target="/ppt/notesMasters/notesMaster1.xml" Id="Rcb607f90831f400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9cbf6e2ef434d6a" /><Relationship Type="http://schemas.openxmlformats.org/officeDocument/2006/relationships/notesMaster" Target="/ppt/notesMasters/notesMaster1.xml" Id="R9a69c0b1953b4f8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cd21ff3c2b14daa" /><Relationship Type="http://schemas.openxmlformats.org/officeDocument/2006/relationships/notesMaster" Target="/ppt/notesMasters/notesMaster1.xml" Id="Rcb215bebaeea4a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Integrated attractivity is the common proof primitive. This slide begins the click-through construction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boundary of the AB strip: the perpendicular bisector follows from isosceles symmetry and a parallel restoration.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 cyclically for BC and CA. The intersection of three side-normal strips is the characteristic parallelogram before the hull is imposed.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orange polygon visualizes the side-normal strip intersection in the fixed 13–20–21 triangle.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internal, rather than external, Napoleon construction is used. Its characteristic triangle degenerates to the centroid for an equilateral triangle.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standard chest is an unconditional outer chest for three points. It is conjecturally close to the optimal simple chest, but no completeness theorem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retained-area figures in the construction stages use the hull area 126 of this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2+2 partition, parallel restoration yields a slab between two planes perpendicular to the line of pair midpoints.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classical four-point parallelogram chest. It is unconditional.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same-sided pairs yield this elementary half-space. The full edge-slab construction later retains more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benchmark has six useful pairs. This result is unconditional but is not automatically nested with the network chest.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labeling and both internal/external equilateral predecessors, the implementation retains an intermediate chest and eliminates it through linear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network has a convention-dependent standalone area. The presentation reports it separately from the browser’s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browser’s independently documented network convention gives 31.3696% alone. Do not conflate the two standalone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finite first-level orbit certificates. They do not represent a continuous orbit hull or a classification of all symmetry predecessors.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standalone percentage is asserted here because it depends on the finite chosen orbit list. The explorer reports the numerical intersection for the current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parallel restoration prove min(n·m,n·p_k,n·p_l) ≤ n·X ≤ max(n·m,n·p_k,n·p_l).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benchmark area for this layer is 451/48. It remains an outer chest, not an OSC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Centroid insertion differs from absorption. It is a direct construction of a new attractive map, not an assumption about a preassigned three-point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D=G(ABC), the four-point value lies in the full standard chest of ABC. This is the special benchmark equality, not a general statement about a free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handoff fixes the former display specialization that incorrectly left a full triangle chest visible while D moved away from the centroid.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Absorption is not a consequence of attractivity. The resulting region is labelled conditional in the explorer and should never be merged silently into the unconditional chest.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summary ensures that the deck does not overstate any construction as the smallest four-point chest.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Updated from Attractive_Centers_Goal1_Bundle (1).zip. Light, editable scientific diagrams; click-advanced fade transitions provide progressive builds. All areas have denominator 126.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Integrated attractivity: for a straight displacement p_i(t)=p_i(0)+td, integrate d·dX/dt≥0. If symmetry forces X(0)=q, then d·(X(1)−q)≥0.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triangle area is 21×12/2=126. D=(A+B+C)/3 is inside ABC, so the four-point convex hull has the same 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any 2+2 partition, translate one pair until the four points form a parallelogram. Central symmetry fixes the center at the diagonal midpoint. Restoring the pair by parallel motions gives the two strip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explicit strip inequalities are equations (4.1)–(4.3) in the source paper. Their intersection with the hull is a nine-vertex polygon of area 73.59722, or 58.4105% of 126.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rule: for u=p_j−p_i and m=(p_i+p_j)/2, if all other points lie on one side of the perpendicular bisector u·(z−m)=0, projection and parallel restoration prove σu·(X−m)≥0.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pairs are useful in this example. A linear redundancy test shows that three cut the parallelogram chest. The resulting five-vertex polygon has area 26.76208, or 21.2397% of the hull.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Q0 uses an equilateral triangle on AB and places D0 at its center, so symmetry forces X(Q0)=D0. The network retains one center variable at each intermediate configuration. Every edge carries one genuine attractivity inequality. Linear programming eliminates intermediate variables without a Boolean shortcut.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two-order network chest occupies 30.8008% of the hull. It is not nested with the bisector chest. Their intersection can therefore be substantially smaller than either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parallel restoration prove min(n·midpoint,n·others) ≤ n·X ≤ max(...). Apply all six pairs and the hull, with midpoint slabs. Exact benchmark area 451/48, ratio 451/6048.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broad finite-response, similarity- and permutation-equivariant class, h·ΔY is the sum of two nonnegative terms. The second follows by multiplying the h/3 inequality by 3. If analytic definitions exclude some inserted configurations, continuous extension is needed. This does NOT assume Y equals any preassigned X₃.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benchmark values reproduced in bundle paper1_integration.py. Browser network alone is 31.3696% because its intermediate-node convention differs. Both reach 5.9302% once the new constraints are included. Area retained is not area removed.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area = 71649181/5386656 − (1510727/448888)√3. Equality in this benchmark does not establish optimality for arbitrary four-point configurations.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Diameter-ball proof: old objective gradient vanishes at x and is monotone, so (y−x)·∇F(y)≥0. The new equilibrium has ∇F(y)=−α(y−z), α&gt;0. If x ranges over a polytope C, use the convex hull of balls [v,z] for vertices v of C. The browser uses sampled support directions, so its polytope encloses the curved construction.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exclusion: for q=(t,0,t), the cubic power-4 gradient satisfies Fx−Fz=3t; at t=0 its z-component is −2. Thus no equilibrium lies on the proposed segment. Bundle stability/power4_counterexample.py also certifies a numerical enclosure. M₄ is attractive by the dimension-independent theorem.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Goal 1 revision 2 bundle, README, PAPERS_I_IV_RECONCILIATION.md, paper1_integration.py and stability certificates. The 46-normal scope is restricted, not universal completeness. Browser does not implement the full recursive LP / continuous 3D family. Independent Goal 2 validation continues; candidate boundary centers must not be represented as proved attractive.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0f39dd154d47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71e448937b44d8" /><Relationship Type="http://schemas.openxmlformats.org/officeDocument/2006/relationships/slideLayout" Target="/ppt/slideLayouts/slideLayout1.xml" Id="Re938a9973ee741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38a9973ee741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8d6ea1e98a4f39" /><Relationship Type="http://schemas.openxmlformats.org/officeDocument/2006/relationships/notesSlide" Target="/ppt/notesSlides/notesSlide1.xml" Id="R4de9477a29e143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d64ffa7e39462e" /><Relationship Type="http://schemas.openxmlformats.org/officeDocument/2006/relationships/notesSlide" Target="/ppt/notesSlides/notesSlide2.xml" Id="Rd20a064caa8b46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9db13e212a4634" /><Relationship Type="http://schemas.openxmlformats.org/officeDocument/2006/relationships/notesSlide" Target="/ppt/notesSlides/notesSlide3.xml" Id="R68f7263f8d0548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6577ce114b4837" /><Relationship Type="http://schemas.openxmlformats.org/officeDocument/2006/relationships/notesSlide" Target="/ppt/notesSlides/notesSlide4.xml" Id="Rbe8327c9a1574b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e4d28228ac7466f" /><Relationship Type="http://schemas.openxmlformats.org/officeDocument/2006/relationships/notesSlide" Target="/ppt/notesSlides/notesSlide5.xml" Id="Rae52bf20a83647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a5dcb6d9f34873" /><Relationship Type="http://schemas.openxmlformats.org/officeDocument/2006/relationships/notesSlide" Target="/ppt/notesSlides/notesSlide6.xml" Id="R88ce0311e4ce42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d6167ab8264b01" /><Relationship Type="http://schemas.openxmlformats.org/officeDocument/2006/relationships/notesSlide" Target="/ppt/notesSlides/notesSlide7.xml" Id="R9f0c76373a9e40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589febf32348db" /><Relationship Type="http://schemas.openxmlformats.org/officeDocument/2006/relationships/notesSlide" Target="/ppt/notesSlides/notesSlide8.xml" Id="R9c744c4bc0fd49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096bb09fa684625" /><Relationship Type="http://schemas.openxmlformats.org/officeDocument/2006/relationships/notesSlide" Target="/ppt/notesSlides/notesSlide9.xml" Id="R14dcdc590e474c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9dbf1d73af84bd2" /><Relationship Type="http://schemas.openxmlformats.org/officeDocument/2006/relationships/notesSlide" Target="/ppt/notesSlides/notesSlide10.xml" Id="R1e0b06a6ac634f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5a6e493f2a5453f" /><Relationship Type="http://schemas.openxmlformats.org/officeDocument/2006/relationships/notesSlide" Target="/ppt/notesSlides/notesSlide11.xml" Id="Rffd2297e34974c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a114eaa48474beb" /><Relationship Type="http://schemas.openxmlformats.org/officeDocument/2006/relationships/notesSlide" Target="/ppt/notesSlides/notesSlide12.xml" Id="R953efe253ba84cc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41d17aa4de54552" /><Relationship Type="http://schemas.openxmlformats.org/officeDocument/2006/relationships/notesSlide" Target="/ppt/notesSlides/notesSlide13.xml" Id="R2339e42d8e1b41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071993deb246ae" /><Relationship Type="http://schemas.openxmlformats.org/officeDocument/2006/relationships/notesSlide" Target="/ppt/notesSlides/notesSlide14.xml" Id="R02d55ae8cf4744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6864a0ae6644a71" /><Relationship Type="http://schemas.openxmlformats.org/officeDocument/2006/relationships/notesSlide" Target="/ppt/notesSlides/notesSlide15.xml" Id="R3aeb211a257e42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a4a3eb6501f4726" /><Relationship Type="http://schemas.openxmlformats.org/officeDocument/2006/relationships/notesSlide" Target="/ppt/notesSlides/notesSlide16.xml" Id="R577d085838dd4e6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c93ad9d04094b7a" /><Relationship Type="http://schemas.openxmlformats.org/officeDocument/2006/relationships/notesSlide" Target="/ppt/notesSlides/notesSlide17.xml" Id="R4ded2793739c45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20a1dbf6a6549df" /><Relationship Type="http://schemas.openxmlformats.org/officeDocument/2006/relationships/notesSlide" Target="/ppt/notesSlides/notesSlide18.xml" Id="Re599614e8172458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545ce3639794925" /><Relationship Type="http://schemas.openxmlformats.org/officeDocument/2006/relationships/notesSlide" Target="/ppt/notesSlides/notesSlide19.xml" Id="Re87613b83a844e7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34eaba852df4987" /><Relationship Type="http://schemas.openxmlformats.org/officeDocument/2006/relationships/notesSlide" Target="/ppt/notesSlides/notesSlide20.xml" Id="Rba4947e30234464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0481863f7a342a4" /><Relationship Type="http://schemas.openxmlformats.org/officeDocument/2006/relationships/notesSlide" Target="/ppt/notesSlides/notesSlide21.xml" Id="R774cdce00798425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d563e07b4324b80" /><Relationship Type="http://schemas.openxmlformats.org/officeDocument/2006/relationships/notesSlide" Target="/ppt/notesSlides/notesSlide22.xml" Id="R0eb2534f41944f0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4a50901b7f9473e" /><Relationship Type="http://schemas.openxmlformats.org/officeDocument/2006/relationships/notesSlide" Target="/ppt/notesSlides/notesSlide23.xml" Id="Rf8f411bf6b3940a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241eefe02cd4270" /><Relationship Type="http://schemas.openxmlformats.org/officeDocument/2006/relationships/notesSlide" Target="/ppt/notesSlides/notesSlide24.xml" Id="Rfaacd2d2ba6547c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de38b67a8b54a59" /><Relationship Type="http://schemas.openxmlformats.org/officeDocument/2006/relationships/notesSlide" Target="/ppt/notesSlides/notesSlide25.xml" Id="R614cbca10dc9448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fd8661feaa84243" /><Relationship Type="http://schemas.openxmlformats.org/officeDocument/2006/relationships/notesSlide" Target="/ppt/notesSlides/notesSlide26.xml" Id="Rbb0598210c7d486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a2c01771c514745" /><Relationship Type="http://schemas.openxmlformats.org/officeDocument/2006/relationships/notesSlide" Target="/ppt/notesSlides/notesSlide27.xml" Id="Ra1bc255943ac46b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a96b37871f6497c" /><Relationship Type="http://schemas.openxmlformats.org/officeDocument/2006/relationships/notesSlide" Target="/ppt/notesSlides/notesSlide28.xml" Id="Rc9d997ef607c4c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d57bf9dd63b47c1" /><Relationship Type="http://schemas.openxmlformats.org/officeDocument/2006/relationships/notesSlide" Target="/ppt/notesSlides/notesSlide29.xml" Id="R773ac7de44bc40c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cfa7c58b6dd4b3b" /><Relationship Type="http://schemas.openxmlformats.org/officeDocument/2006/relationships/notesSlide" Target="/ppt/notesSlides/notesSlide30.xml" Id="Rea907eee3c90443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742b77c54d646f0" /><Relationship Type="http://schemas.openxmlformats.org/officeDocument/2006/relationships/notesSlide" Target="/ppt/notesSlides/notesSlide31.xml" Id="Rf37c9ab207474ad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d96faa4fce74f15" /><Relationship Type="http://schemas.openxmlformats.org/officeDocument/2006/relationships/notesSlide" Target="/ppt/notesSlides/notesSlide32.xml" Id="R8e6f80dd66fd40a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72da0b0d9224aaa" /><Relationship Type="http://schemas.openxmlformats.org/officeDocument/2006/relationships/notesSlide" Target="/ppt/notesSlides/notesSlide33.xml" Id="R44c1f09a90cf443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a96d7c4dd2245b1" /><Relationship Type="http://schemas.openxmlformats.org/officeDocument/2006/relationships/notesSlide" Target="/ppt/notesSlides/notesSlide34.xml" Id="R6a652baf91a248b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5b136df6ee34ad5" /><Relationship Type="http://schemas.openxmlformats.org/officeDocument/2006/relationships/notesSlide" Target="/ppt/notesSlides/notesSlide35.xml" Id="Rce01edbe43d6475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7c9ba1a956949d9" /><Relationship Type="http://schemas.openxmlformats.org/officeDocument/2006/relationships/notesSlide" Target="/ppt/notesSlides/notesSlide36.xml" Id="R6125b19ae660406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d3fcc5bb25c4a3a" /><Relationship Type="http://schemas.openxmlformats.org/officeDocument/2006/relationships/notesSlide" Target="/ppt/notesSlides/notesSlide37.xml" Id="R172309802eee408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81e6da6d61148fd" /><Relationship Type="http://schemas.openxmlformats.org/officeDocument/2006/relationships/notesSlide" Target="/ppt/notesSlides/notesSlide38.xml" Id="Rb1e077b56edf417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92bfe79030d4af0" /><Relationship Type="http://schemas.openxmlformats.org/officeDocument/2006/relationships/notesSlide" Target="/ppt/notesSlides/notesSlide39.xml" Id="Ra0b6d22c462f435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45C0B52-25A1-4135-9F72-A981B3132899}"/>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Attractivity and a supporting half-plane</a:t>
            </a:r>
          </a:p>
        </p:txBody>
      </p:sp>
      <p:sp>
        <p:nvSpPr>
          <p:cNvPr id="2" name="">
            <a:extLst xmlns:a="http://schemas.openxmlformats.org/drawingml/2006/main">
              <a:ext uri="{FF2B5EF4-FFF2-40B4-BE49-F238E27FC236}">
                <a16:creationId xmlns:a16="http://schemas.microsoft.com/office/drawing/2014/main" id="{66E0BD02-AF32-4A51-AAE1-006DA330024A}"/>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 one-vertex displacement d constrains the center response</a:t>
            </a:r>
          </a:p>
        </p:txBody>
      </p:sp>
      <p:sp>
        <p:nvSpPr>
          <p:cNvPr id="3" name="">
            <a:extLst xmlns:a="http://schemas.openxmlformats.org/drawingml/2006/main">
              <a:ext uri="{FF2B5EF4-FFF2-40B4-BE49-F238E27FC236}">
                <a16:creationId xmlns:a16="http://schemas.microsoft.com/office/drawing/2014/main" id="{54E2B3C2-E681-4DF9-BCCF-FF2B080867B3}"/>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F77EF707-1858-4909-A017-73CEC9F8BE5E}"/>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1FE28EAD-7E21-4A9E-88D6-EC6C6784D0CA}"/>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B3D11B1D-5167-4752-94C7-1640FAE83219}"/>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57967530-7EB5-4626-85D8-19F602F9236C}"/>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A8B03878-FAEC-4EDA-8365-12BAD0AD54FD}"/>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91E0D2B1-B950-49AE-88F6-EE360F087333}"/>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C45E8D3D-E5BC-4B0F-861E-4E92F2629A9C}"/>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97CBF04B-008F-4748-B90D-57B6DF997A18}"/>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968C9C93-EB66-4457-A843-E03BC6538848}"/>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0D2123A8-74D8-423B-B294-36D305CDE595}"/>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F5E3C8D9-278D-436E-AF67-1A0AD9A02651}"/>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solidFill xmlns:a="http://schemas.openxmlformats.org/drawingml/2006/main">
            <a:srgbClr val="A87819">
              <a:alpha val="10000"/>
            </a:srgbClr>
          </a:solidFill>
          <a:ln xmlns:a="http://schemas.openxmlformats.org/drawingml/2006/main" w="23813">
            <a:solidFill>
              <a:srgbClr val="A87819"/>
            </a:solidFill>
            <a:prstDash val="solid"/>
          </a:ln>
        </p:spPr>
      </p:sp>
      <p:sp>
        <p:nvSpPr>
          <p:cNvPr id="15" name="">
            <a:extLst xmlns:a="http://schemas.openxmlformats.org/drawingml/2006/main">
              <a:ext uri="{FF2B5EF4-FFF2-40B4-BE49-F238E27FC236}">
                <a16:creationId xmlns:a16="http://schemas.microsoft.com/office/drawing/2014/main" id="{349CA8D9-8EF9-4474-A7C4-A57C537817A6}"/>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F7B6D53B-712F-4F87-ABB2-47EAA2FBA38A}"/>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C0D8DDDF-1848-40A3-9687-EB4A8A376B1D}"/>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7772F33F-73EA-47F6-A009-373C8A4670E6}"/>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41CEE202-D101-46F6-B238-F6317EABACEE}"/>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6A5CCDDE-8265-40FA-AE34-CD0DDE7358A1}"/>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D90B9D9D-1810-47DA-A0BA-F4103C91FD25}"/>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7C7E8015-BE87-4C7A-9C79-A80E35833FD5}"/>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6DF6C85E-EEDF-4D96-ACDF-D1B708CEC2A8}"/>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6C60728B-F03A-420F-966B-98E2D90CF94C}"/>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10DA422E-2817-4A46-A971-29A569053D7D}"/>
              </a:ext>
            </a:extLst>
          </p:cNvPr>
          <p:cNvSpPr>
            <a:spLocks xmlns:a="http://schemas.openxmlformats.org/drawingml/2006/main" noGrp="1"/>
          </p:cNvSpPr>
          <p:nvPr/>
        </p:nvSpPr>
        <p:spPr>
          <a:xfrm xmlns:a="http://schemas.openxmlformats.org/drawingml/2006/main">
            <a:off x="2446683" y="1633330"/>
            <a:ext cx="2869924" cy="9525"/>
          </a:xfrm>
          <a:custGeom xmlns:a="http://schemas.openxmlformats.org/drawingml/2006/main">
            <a:pathLst>
              <a:path w="2869924" h="9525">
                <a:moveTo>
                  <a:pt x="0" y="0"/>
                </a:moveTo>
                <a:lnTo>
                  <a:pt x="2869924" y="0"/>
                </a:lnTo>
              </a:path>
            </a:pathLst>
          </a:custGeom>
          <a:noFill xmlns:a="http://schemas.openxmlformats.org/drawingml/2006/main"/>
          <a:ln xmlns:a="http://schemas.openxmlformats.org/drawingml/2006/main" w="28575">
            <a:solidFill>
              <a:srgbClr val="BD5275"/>
            </a:solidFill>
            <a:prstDash val="solid"/>
          </a:ln>
        </p:spPr>
      </p:sp>
      <p:sp>
        <p:nvSpPr>
          <p:cNvPr id="26" name="">
            <a:extLst xmlns:a="http://schemas.openxmlformats.org/drawingml/2006/main">
              <a:ext uri="{FF2B5EF4-FFF2-40B4-BE49-F238E27FC236}">
                <a16:creationId xmlns:a16="http://schemas.microsoft.com/office/drawing/2014/main" id="{AE278AF1-75B1-40E8-8363-71F553A66713}"/>
              </a:ext>
            </a:extLst>
          </p:cNvPr>
          <p:cNvSpPr>
            <a:spLocks xmlns:a="http://schemas.openxmlformats.org/drawingml/2006/main" noGrp="1"/>
          </p:cNvSpPr>
          <p:nvPr/>
        </p:nvSpPr>
        <p:spPr>
          <a:xfrm xmlns:a="http://schemas.openxmlformats.org/drawingml/2006/main">
            <a:off x="4678846" y="1564171"/>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BD5275"/>
                </a:solidFill>
                <a:latin typeface="Arial"/>
                <a:ea typeface="Arial"/>
                <a:cs typeface="Arial"/>
              </a:defRPr>
            </a:pPr>
            <a:r>
              <a:rPr sz="1425" b="1" i="0">
                <a:solidFill>
                  <a:srgbClr val="BD5275"/>
                </a:solidFill>
                <a:latin typeface="Arial"/>
                <a:ea typeface="Arial"/>
                <a:cs typeface="Arial"/>
              </a:rPr>
              <a:t>d</a:t>
            </a:r>
          </a:p>
        </p:txBody>
      </p:sp>
      <p:sp>
        <p:nvSpPr>
          <p:cNvPr id="27" name="">
            <a:extLst xmlns:a="http://schemas.openxmlformats.org/drawingml/2006/main">
              <a:ext uri="{FF2B5EF4-FFF2-40B4-BE49-F238E27FC236}">
                <a16:creationId xmlns:a16="http://schemas.microsoft.com/office/drawing/2014/main" id="{4A1A6B6F-DE1B-48ED-9830-8FF9050D5C1F}"/>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BD5275"/>
                </a:solidFill>
                <a:latin typeface="Arial"/>
                <a:ea typeface="Arial"/>
                <a:cs typeface="Arial"/>
              </a:defRPr>
            </a:pPr>
            <a:r>
              <a:rPr sz="2025" b="1" i="0">
                <a:solidFill>
                  <a:srgbClr val="BD5275"/>
                </a:solidFill>
                <a:latin typeface="Arial"/>
                <a:ea typeface="Arial"/>
                <a:cs typeface="Arial"/>
              </a:rPr>
              <a:t>Integrated attractivity</a:t>
            </a:r>
          </a:p>
        </p:txBody>
      </p:sp>
      <p:sp>
        <p:nvSpPr>
          <p:cNvPr id="28" name="">
            <a:extLst xmlns:a="http://schemas.openxmlformats.org/drawingml/2006/main">
              <a:ext uri="{FF2B5EF4-FFF2-40B4-BE49-F238E27FC236}">
                <a16:creationId xmlns:a16="http://schemas.microsoft.com/office/drawing/2014/main" id="{3F192603-76C5-4D2F-B4A4-CE789513DD0A}"/>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Move one input by d. The center cannot acquire a negative projection along d. A symmetric predecessor therefore supplies a supporting half-plane at the target.</a:t>
            </a:r>
          </a:p>
        </p:txBody>
      </p:sp>
      <p:sp>
        <p:nvSpPr>
          <p:cNvPr id="29" name="">
            <a:extLst xmlns:a="http://schemas.openxmlformats.org/drawingml/2006/main">
              <a:ext uri="{FF2B5EF4-FFF2-40B4-BE49-F238E27FC236}">
                <a16:creationId xmlns:a16="http://schemas.microsoft.com/office/drawing/2014/main" id="{F0D380D3-0BDF-432F-9C58-8F29E47CFE44}"/>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01</a:t>
            </a:r>
          </a:p>
        </p:txBody>
      </p:sp>
    </p:spTree>
    <p:extLst>
      <p:ext uri="{BB962C8B-B14F-4D97-AF65-F5344CB8AC3E}">
        <p14:creationId xmlns:p14="http://schemas.microsoft.com/office/powerpoint/2010/main" val="57971733"/>
      </p:ext>
    </p:extLst>
  </p:cSld>
  <p:transition spd="slow" advClick="1">
    <p:fade/>
  </p:transition>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730B2B2-A7D0-4D50-A0CF-97BEF335905E}"/>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Triangle predecessor: an isosceles configuration</a:t>
            </a:r>
          </a:p>
        </p:txBody>
      </p:sp>
      <p:sp>
        <p:nvSpPr>
          <p:cNvPr id="2" name="">
            <a:extLst xmlns:a="http://schemas.openxmlformats.org/drawingml/2006/main">
              <a:ext uri="{FF2B5EF4-FFF2-40B4-BE49-F238E27FC236}">
                <a16:creationId xmlns:a16="http://schemas.microsoft.com/office/drawing/2014/main" id="{0D4A409F-911D-4740-AE4D-6B6CE81020AD}"/>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Project C to the perpendicular bisector of AB</a:t>
            </a:r>
          </a:p>
        </p:txBody>
      </p:sp>
      <p:sp>
        <p:nvSpPr>
          <p:cNvPr id="3" name="">
            <a:extLst xmlns:a="http://schemas.openxmlformats.org/drawingml/2006/main">
              <a:ext uri="{FF2B5EF4-FFF2-40B4-BE49-F238E27FC236}">
                <a16:creationId xmlns:a16="http://schemas.microsoft.com/office/drawing/2014/main" id="{C0C90E7B-6250-4BEA-9324-B13F1D40AB43}"/>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8555DD9C-E6AA-4BC3-A930-9950FD261656}"/>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D00914A7-12B9-4B4E-9631-34D53D4FC4A8}"/>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A21BF90A-7A79-477D-B816-3D1372B44A69}"/>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B1963F46-202B-4FB4-B4C9-A4C1B02EB783}"/>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5609B4DC-D872-470A-B358-DDADABA62F9A}"/>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985C9F93-52CB-4535-835A-96895CBFC0B0}"/>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1C96C9F6-C0AC-4615-A83D-1F7F0FCF0D58}"/>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DF6D2E84-D5CA-4DD5-86EB-2A9D0F1BF425}"/>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3D9A2C58-74D6-4E1D-9B72-A4EF70A426A4}"/>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E351CB35-22ED-42DF-852D-4BFBC3CCE3C2}"/>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439B5C69-8B42-4FE8-861B-4F5227F93CE1}"/>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5" name="">
            <a:extLst xmlns:a="http://schemas.openxmlformats.org/drawingml/2006/main">
              <a:ext uri="{FF2B5EF4-FFF2-40B4-BE49-F238E27FC236}">
                <a16:creationId xmlns:a16="http://schemas.microsoft.com/office/drawing/2014/main" id="{B3A542A2-FB9D-4927-B0C9-3B6D4B9EBFDF}"/>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6" name="">
            <a:extLst xmlns:a="http://schemas.openxmlformats.org/drawingml/2006/main">
              <a:ext uri="{FF2B5EF4-FFF2-40B4-BE49-F238E27FC236}">
                <a16:creationId xmlns:a16="http://schemas.microsoft.com/office/drawing/2014/main" id="{AB861579-C6AA-46FD-BD37-2A0FC75F4E0A}"/>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7" name="">
            <a:extLst xmlns:a="http://schemas.openxmlformats.org/drawingml/2006/main">
              <a:ext uri="{FF2B5EF4-FFF2-40B4-BE49-F238E27FC236}">
                <a16:creationId xmlns:a16="http://schemas.microsoft.com/office/drawing/2014/main" id="{5EEABF91-2AF7-45C6-BBC5-4077A5B6EFFC}"/>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7BB11ECD-EA82-4F6F-8662-9C85C01538EA}"/>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19" name="">
            <a:extLst xmlns:a="http://schemas.openxmlformats.org/drawingml/2006/main">
              <a:ext uri="{FF2B5EF4-FFF2-40B4-BE49-F238E27FC236}">
                <a16:creationId xmlns:a16="http://schemas.microsoft.com/office/drawing/2014/main" id="{A445A3A8-7A56-4BC8-A50B-F367750E22D0}"/>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1A388F00-22BD-4589-9FAF-825F7123BBC0}"/>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1" name="">
            <a:extLst xmlns:a="http://schemas.openxmlformats.org/drawingml/2006/main">
              <a:ext uri="{FF2B5EF4-FFF2-40B4-BE49-F238E27FC236}">
                <a16:creationId xmlns:a16="http://schemas.microsoft.com/office/drawing/2014/main" id="{0ACE663B-82D6-4CF8-AB67-41A4A21E6A1B}"/>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05407D53-3303-4363-AE41-530A36F4C559}"/>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12BC0443-2762-4D79-ABC7-985C70BEE961}"/>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4" name="">
            <a:extLst xmlns:a="http://schemas.openxmlformats.org/drawingml/2006/main">
              <a:ext uri="{FF2B5EF4-FFF2-40B4-BE49-F238E27FC236}">
                <a16:creationId xmlns:a16="http://schemas.microsoft.com/office/drawing/2014/main" id="{A7600013-2B96-4EE7-8FC2-D4354CF329AE}"/>
              </a:ext>
            </a:extLst>
          </p:cNvPr>
          <p:cNvSpPr>
            <a:spLocks xmlns:a="http://schemas.openxmlformats.org/drawingml/2006/main" noGrp="1"/>
          </p:cNvSpPr>
          <p:nvPr/>
        </p:nvSpPr>
        <p:spPr>
          <a:xfrm xmlns:a="http://schemas.openxmlformats.org/drawingml/2006/main">
            <a:off x="4200525" y="1633330"/>
            <a:ext cx="9525" cy="3826565"/>
          </a:xfrm>
          <a:custGeom xmlns:a="http://schemas.openxmlformats.org/drawingml/2006/main">
            <a:pathLst>
              <a:path w="9525" h="3826565">
                <a:moveTo>
                  <a:pt x="0" y="3826565"/>
                </a:moveTo>
                <a:lnTo>
                  <a:pt x="0" y="0"/>
                </a:lnTo>
              </a:path>
            </a:pathLst>
          </a:custGeom>
          <a:noFill xmlns:a="http://schemas.openxmlformats.org/drawingml/2006/main"/>
          <a:ln xmlns:a="http://schemas.openxmlformats.org/drawingml/2006/main" w="23813">
            <a:solidFill>
              <a:srgbClr val="8E569C"/>
            </a:solidFill>
            <a:prstDash val="dash"/>
          </a:ln>
        </p:spPr>
      </p:sp>
      <p:sp>
        <p:nvSpPr>
          <p:cNvPr id="25" name="">
            <a:extLst xmlns:a="http://schemas.openxmlformats.org/drawingml/2006/main">
              <a:ext uri="{FF2B5EF4-FFF2-40B4-BE49-F238E27FC236}">
                <a16:creationId xmlns:a16="http://schemas.microsoft.com/office/drawing/2014/main" id="{3D9FEC77-F76E-4B29-A689-1CF50775EF34}"/>
              </a:ext>
            </a:extLst>
          </p:cNvPr>
          <p:cNvSpPr>
            <a:spLocks xmlns:a="http://schemas.openxmlformats.org/drawingml/2006/main" noGrp="1"/>
          </p:cNvSpPr>
          <p:nvPr/>
        </p:nvSpPr>
        <p:spPr>
          <a:xfrm xmlns:a="http://schemas.openxmlformats.org/drawingml/2006/main">
            <a:off x="2446683" y="1633330"/>
            <a:ext cx="1753842" cy="9525"/>
          </a:xfrm>
          <a:custGeom xmlns:a="http://schemas.openxmlformats.org/drawingml/2006/main">
            <a:pathLst>
              <a:path w="1753842" h="9525">
                <a:moveTo>
                  <a:pt x="0" y="0"/>
                </a:moveTo>
                <a:lnTo>
                  <a:pt x="1753842" y="0"/>
                </a:lnTo>
              </a:path>
            </a:pathLst>
          </a:custGeom>
          <a:noFill xmlns:a="http://schemas.openxmlformats.org/drawingml/2006/main"/>
          <a:ln xmlns:a="http://schemas.openxmlformats.org/drawingml/2006/main" w="26670">
            <a:solidFill>
              <a:srgbClr val="BD5275"/>
            </a:solidFill>
            <a:prstDash val="dash"/>
          </a:ln>
        </p:spPr>
      </p:sp>
      <p:sp>
        <p:nvSpPr>
          <p:cNvPr id="26" name="">
            <a:extLst xmlns:a="http://schemas.openxmlformats.org/drawingml/2006/main">
              <a:ext uri="{FF2B5EF4-FFF2-40B4-BE49-F238E27FC236}">
                <a16:creationId xmlns:a16="http://schemas.microsoft.com/office/drawing/2014/main" id="{66048255-7D2F-4B9D-8E64-986C253BD981}"/>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8E569C"/>
                </a:solidFill>
                <a:latin typeface="Arial"/>
                <a:ea typeface="Arial"/>
                <a:cs typeface="Arial"/>
              </a:defRPr>
            </a:pPr>
            <a:r>
              <a:rPr sz="2025" b="1" i="0">
                <a:solidFill>
                  <a:srgbClr val="8E569C"/>
                </a:solidFill>
                <a:latin typeface="Arial"/>
                <a:ea typeface="Arial"/>
                <a:cs typeface="Arial"/>
              </a:rPr>
              <a:t>Reflection axis</a:t>
            </a:r>
          </a:p>
        </p:txBody>
      </p:sp>
      <p:sp>
        <p:nvSpPr>
          <p:cNvPr id="27" name="">
            <a:extLst xmlns:a="http://schemas.openxmlformats.org/drawingml/2006/main">
              <a:ext uri="{FF2B5EF4-FFF2-40B4-BE49-F238E27FC236}">
                <a16:creationId xmlns:a16="http://schemas.microsoft.com/office/drawing/2014/main" id="{3D7B2F5C-2DEA-49C0-A770-5EA0E3A41219}"/>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The projected triangle has a reflection axis through the midpoint of AB. Every attractive center lies on that axis before C is restored.</a:t>
            </a:r>
          </a:p>
        </p:txBody>
      </p:sp>
      <p:sp>
        <p:nvSpPr>
          <p:cNvPr id="28" name="">
            <a:extLst xmlns:a="http://schemas.openxmlformats.org/drawingml/2006/main">
              <a:ext uri="{FF2B5EF4-FFF2-40B4-BE49-F238E27FC236}">
                <a16:creationId xmlns:a16="http://schemas.microsoft.com/office/drawing/2014/main" id="{1CA5B6A9-A2A2-44E1-A608-170FA05E5EBD}"/>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02</a:t>
            </a:r>
          </a:p>
        </p:txBody>
      </p:sp>
    </p:spTree>
    <p:extLst>
      <p:ext uri="{BB962C8B-B14F-4D97-AF65-F5344CB8AC3E}">
        <p14:creationId xmlns:p14="http://schemas.microsoft.com/office/powerpoint/2010/main" val="1657667984"/>
      </p:ext>
    </p:extLst>
  </p:cSld>
  <p:transition spd="slow" advClick="1">
    <p:fade/>
  </p:transition>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E176545-EE21-4711-8823-BCF57D9ED61A}"/>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Triangle strip: restore the tip</a:t>
            </a:r>
          </a:p>
        </p:txBody>
      </p:sp>
      <p:sp>
        <p:nvSpPr>
          <p:cNvPr id="2" name="">
            <a:extLst xmlns:a="http://schemas.openxmlformats.org/drawingml/2006/main">
              <a:ext uri="{FF2B5EF4-FFF2-40B4-BE49-F238E27FC236}">
                <a16:creationId xmlns:a16="http://schemas.microsoft.com/office/drawing/2014/main" id="{A7DBAAEC-7924-4C43-9C54-8A038A3A2334}"/>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The displacement of C selects the side of the perpendicular bisector</a:t>
            </a:r>
          </a:p>
        </p:txBody>
      </p:sp>
      <p:sp>
        <p:nvSpPr>
          <p:cNvPr id="3" name="">
            <a:extLst xmlns:a="http://schemas.openxmlformats.org/drawingml/2006/main">
              <a:ext uri="{FF2B5EF4-FFF2-40B4-BE49-F238E27FC236}">
                <a16:creationId xmlns:a16="http://schemas.microsoft.com/office/drawing/2014/main" id="{2F093A97-1A62-447F-B2B4-4D8607579969}"/>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EFF31954-1707-410F-953F-1592BFD60D08}"/>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0D6C257C-2A08-4C17-98E3-9103249C89A1}"/>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BD3B39EC-C554-4E1A-AFAA-BBDF59170E7B}"/>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70ED9AFF-9304-497C-9C61-87A24D4AF77A}"/>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03E0D85C-67D1-46D5-AEAF-60589DF7EF43}"/>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B97EC9B3-38E0-40E8-AD17-EA787200D5B6}"/>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BD8451B2-A27B-4291-B897-D07D403A2E63}"/>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A8CC5089-44B4-43E1-A549-9838A422240F}"/>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80567745-8EE2-41A5-8826-6D347B33934F}"/>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1174B8F8-6353-4F22-843E-199D22437B3A}"/>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77264232-0CA7-4B0C-A52D-A73423E288EF}"/>
              </a:ext>
            </a:extLst>
          </p:cNvPr>
          <p:cNvSpPr>
            <a:spLocks xmlns:a="http://schemas.openxmlformats.org/drawingml/2006/main" noGrp="1"/>
          </p:cNvSpPr>
          <p:nvPr/>
        </p:nvSpPr>
        <p:spPr>
          <a:xfrm xmlns:a="http://schemas.openxmlformats.org/drawingml/2006/main">
            <a:off x="1647795" y="2591346"/>
            <a:ext cx="3936225" cy="2868550"/>
          </a:xfrm>
          <a:custGeom xmlns:a="http://schemas.openxmlformats.org/drawingml/2006/main">
            <a:pathLst>
              <a:path w="3936225" h="2868550">
                <a:moveTo>
                  <a:pt x="880649" y="2868550"/>
                </a:moveTo>
                <a:lnTo>
                  <a:pt x="2552730" y="2868550"/>
                </a:lnTo>
                <a:lnTo>
                  <a:pt x="3932845" y="2235986"/>
                </a:lnTo>
                <a:lnTo>
                  <a:pt x="3936225" y="2225591"/>
                </a:lnTo>
                <a:lnTo>
                  <a:pt x="3349931" y="955267"/>
                </a:lnTo>
                <a:lnTo>
                  <a:pt x="2076243" y="0"/>
                </a:lnTo>
                <a:lnTo>
                  <a:pt x="3967" y="949792"/>
                </a:lnTo>
                <a:lnTo>
                  <a:pt x="1687" y="955267"/>
                </a:lnTo>
                <a:lnTo>
                  <a:pt x="0" y="960468"/>
                </a:lnTo>
                <a:close/>
              </a:path>
            </a:pathLst>
          </a:custGeom>
          <a:solidFill xmlns:a="http://schemas.openxmlformats.org/drawingml/2006/main">
            <a:srgbClr val="A87819">
              <a:alpha val="12000"/>
            </a:srgbClr>
          </a:solidFill>
          <a:ln xmlns:a="http://schemas.openxmlformats.org/drawingml/2006/main" w="23813">
            <a:solidFill>
              <a:srgbClr val="A87819"/>
            </a:solidFill>
            <a:prstDash val="solid"/>
          </a:ln>
        </p:spPr>
      </p:sp>
      <p:sp>
        <p:nvSpPr>
          <p:cNvPr id="15" name="">
            <a:extLst xmlns:a="http://schemas.openxmlformats.org/drawingml/2006/main">
              <a:ext uri="{FF2B5EF4-FFF2-40B4-BE49-F238E27FC236}">
                <a16:creationId xmlns:a16="http://schemas.microsoft.com/office/drawing/2014/main" id="{14B76AEB-4F35-4633-8B17-7BABBC77EEEF}"/>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67843CED-9A5D-48A0-8631-73F77CA87F8C}"/>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3921950F-2C16-46C1-B012-2D5847D13586}"/>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86C8F544-A3C0-433D-871C-44D357EA047F}"/>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A42EBF15-1389-4E63-89C1-65E5CD141193}"/>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2BE3189D-7FD2-4922-ADB1-E97A1BF9C0C9}"/>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8AE015D5-50CE-4837-873F-A4791255918F}"/>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7ED56EFA-4150-497E-8EE8-96884D57C417}"/>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E8BDA2EC-FB90-479F-9092-B09A406A97CB}"/>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C9988656-2115-4E99-9EF5-1785D6469255}"/>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4A0FA479-129E-401B-8DFE-21D85E5C0AB9}"/>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A87819"/>
                </a:solidFill>
                <a:latin typeface="Arial"/>
                <a:ea typeface="Arial"/>
                <a:cs typeface="Arial"/>
              </a:defRPr>
            </a:pPr>
            <a:r>
              <a:rPr sz="2025" b="1" i="0">
                <a:solidFill>
                  <a:srgbClr val="A87819"/>
                </a:solidFill>
                <a:latin typeface="Arial"/>
                <a:ea typeface="Arial"/>
                <a:cs typeface="Arial"/>
              </a:rPr>
              <a:t>One side-normal strip</a:t>
            </a:r>
          </a:p>
        </p:txBody>
      </p:sp>
      <p:sp>
        <p:nvSpPr>
          <p:cNvPr id="26" name="">
            <a:extLst xmlns:a="http://schemas.openxmlformats.org/drawingml/2006/main">
              <a:ext uri="{FF2B5EF4-FFF2-40B4-BE49-F238E27FC236}">
                <a16:creationId xmlns:a16="http://schemas.microsoft.com/office/drawing/2014/main" id="{A23D621D-D1F1-41FE-9B7E-BBCBCD91E743}"/>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A second isosceles predecessor gives the parallel altitude boundary. Their intersection is the strip associated with AB.</a:t>
            </a:r>
          </a:p>
        </p:txBody>
      </p:sp>
      <p:sp>
        <p:nvSpPr>
          <p:cNvPr id="27" name="">
            <a:extLst xmlns:a="http://schemas.openxmlformats.org/drawingml/2006/main">
              <a:ext uri="{FF2B5EF4-FFF2-40B4-BE49-F238E27FC236}">
                <a16:creationId xmlns:a16="http://schemas.microsoft.com/office/drawing/2014/main" id="{87579C58-EB4F-4563-89FC-8E5BA82A2823}"/>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03</a:t>
            </a:r>
          </a:p>
        </p:txBody>
      </p:sp>
    </p:spTree>
    <p:extLst>
      <p:ext uri="{BB962C8B-B14F-4D97-AF65-F5344CB8AC3E}">
        <p14:creationId xmlns:p14="http://schemas.microsoft.com/office/powerpoint/2010/main" val="1974401831"/>
      </p:ext>
    </p:extLst>
  </p:cSld>
  <p:transition spd="slow" advClick="1">
    <p:fade/>
  </p:transition>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B794A79-E4EB-4F24-91D4-02207032DC87}"/>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Triangle characteristic parallelogram</a:t>
            </a:r>
          </a:p>
        </p:txBody>
      </p:sp>
      <p:sp>
        <p:nvSpPr>
          <p:cNvPr id="2" name="">
            <a:extLst xmlns:a="http://schemas.openxmlformats.org/drawingml/2006/main">
              <a:ext uri="{FF2B5EF4-FFF2-40B4-BE49-F238E27FC236}">
                <a16:creationId xmlns:a16="http://schemas.microsoft.com/office/drawing/2014/main" id="{DE5A637B-F29A-4B50-9D0F-0D7536A8AAB0}"/>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All three strips, clipped by ABC</a:t>
            </a:r>
          </a:p>
        </p:txBody>
      </p:sp>
      <p:sp>
        <p:nvSpPr>
          <p:cNvPr id="3" name="">
            <a:extLst xmlns:a="http://schemas.openxmlformats.org/drawingml/2006/main">
              <a:ext uri="{FF2B5EF4-FFF2-40B4-BE49-F238E27FC236}">
                <a16:creationId xmlns:a16="http://schemas.microsoft.com/office/drawing/2014/main" id="{74BA55D4-DF5B-4E43-8C19-D2C646ABD664}"/>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6FB17C64-A8F2-4D1C-8D20-5D32BFF7B41E}"/>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38C19631-95DF-4209-8176-B4C5C7986029}"/>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D62B9AED-7E6C-4023-8DC3-D18C5E763866}"/>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3B524355-BC3C-4A85-A08B-F3F67DF9BC11}"/>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F2C82772-1345-4567-B9C5-222BC71ED725}"/>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C24D3BF2-6035-485E-8BF6-6C4F7CEE27AB}"/>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52BB99C1-CC52-403D-AC12-6A27A08D6FA3}"/>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E99E58A6-CCBD-49FB-8D19-41DA5CF5017C}"/>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475A3883-C236-441B-8E7D-A66F7375C6EA}"/>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2811C2BD-221D-4C30-B968-9123DB86BA49}"/>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C3F148F1-D489-4867-9CE2-5816B1DDA190}"/>
              </a:ext>
            </a:extLst>
          </p:cNvPr>
          <p:cNvSpPr>
            <a:spLocks xmlns:a="http://schemas.openxmlformats.org/drawingml/2006/main" noGrp="1"/>
          </p:cNvSpPr>
          <p:nvPr/>
        </p:nvSpPr>
        <p:spPr>
          <a:xfrm xmlns:a="http://schemas.openxmlformats.org/drawingml/2006/main">
            <a:off x="1647795" y="2591346"/>
            <a:ext cx="3936225" cy="2868550"/>
          </a:xfrm>
          <a:custGeom xmlns:a="http://schemas.openxmlformats.org/drawingml/2006/main">
            <a:pathLst>
              <a:path w="3936225" h="2868550">
                <a:moveTo>
                  <a:pt x="880649" y="2868550"/>
                </a:moveTo>
                <a:lnTo>
                  <a:pt x="2552730" y="2868550"/>
                </a:lnTo>
                <a:lnTo>
                  <a:pt x="3932845" y="2235986"/>
                </a:lnTo>
                <a:lnTo>
                  <a:pt x="3936225" y="2225591"/>
                </a:lnTo>
                <a:lnTo>
                  <a:pt x="3349931" y="955267"/>
                </a:lnTo>
                <a:lnTo>
                  <a:pt x="2076243" y="0"/>
                </a:lnTo>
                <a:lnTo>
                  <a:pt x="3967" y="949792"/>
                </a:lnTo>
                <a:lnTo>
                  <a:pt x="1687" y="955267"/>
                </a:lnTo>
                <a:lnTo>
                  <a:pt x="0" y="960468"/>
                </a:lnTo>
                <a:close/>
              </a:path>
            </a:pathLst>
          </a:custGeom>
          <a:solidFill xmlns:a="http://schemas.openxmlformats.org/drawingml/2006/main">
            <a:srgbClr val="A87819">
              <a:alpha val="28000"/>
            </a:srgbClr>
          </a:solidFill>
          <a:ln xmlns:a="http://schemas.openxmlformats.org/drawingml/2006/main" w="28575">
            <a:solidFill>
              <a:srgbClr val="A87819"/>
            </a:solidFill>
            <a:prstDash val="solid"/>
          </a:ln>
        </p:spPr>
      </p:sp>
      <p:sp>
        <p:nvSpPr>
          <p:cNvPr id="15" name="">
            <a:extLst xmlns:a="http://schemas.openxmlformats.org/drawingml/2006/main">
              <a:ext uri="{FF2B5EF4-FFF2-40B4-BE49-F238E27FC236}">
                <a16:creationId xmlns:a16="http://schemas.microsoft.com/office/drawing/2014/main" id="{9778E41D-6EEC-4FD7-B75D-33A838E8664A}"/>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9925680B-F43B-4ED4-8777-9619F114D5ED}"/>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B74B9D05-1F25-49D2-86A5-132709BEB4C0}"/>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A141B15C-09FB-45C4-BC3B-F2FC05D32BF3}"/>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F9059186-1E3B-4DE1-8780-92583DCED269}"/>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870E3A53-F06D-4074-B08E-8AD07EDACA30}"/>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897D896C-E7FE-46C4-BF19-FC866EF9F3F1}"/>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6DC3EAD8-B6DD-4441-AD4A-4CBEFA8F5F30}"/>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3C49F269-5DA7-40DA-9F0E-8FCD460A0AB1}"/>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69FFEECA-F49D-480D-89AB-4DD2C44FAF34}"/>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DD2141B2-BE02-4401-A7E0-7992D7A304B1}"/>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A87819"/>
                </a:solidFill>
                <a:latin typeface="Arial"/>
                <a:ea typeface="Arial"/>
                <a:cs typeface="Arial"/>
              </a:defRPr>
            </a:pPr>
            <a:r>
              <a:rPr sz="2025" b="1" i="0">
                <a:solidFill>
                  <a:srgbClr val="A87819"/>
                </a:solidFill>
                <a:latin typeface="Arial"/>
                <a:ea typeface="Arial"/>
                <a:cs typeface="Arial"/>
              </a:rPr>
              <a:t>Three strip inequalities</a:t>
            </a:r>
          </a:p>
        </p:txBody>
      </p:sp>
      <p:sp>
        <p:nvSpPr>
          <p:cNvPr id="26" name="">
            <a:extLst xmlns:a="http://schemas.openxmlformats.org/drawingml/2006/main">
              <a:ext uri="{FF2B5EF4-FFF2-40B4-BE49-F238E27FC236}">
                <a16:creationId xmlns:a16="http://schemas.microsoft.com/office/drawing/2014/main" id="{EE9F185A-83F8-4C3C-A7EA-1A18ADBA485D}"/>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Each strip is derived independently from an isosceles predecessor and a parallel displacement. The construction does not use a catalogue of triangle centers.</a:t>
            </a:r>
          </a:p>
        </p:txBody>
      </p:sp>
      <p:sp>
        <p:nvSpPr>
          <p:cNvPr id="27" name="">
            <a:extLst xmlns:a="http://schemas.openxmlformats.org/drawingml/2006/main">
              <a:ext uri="{FF2B5EF4-FFF2-40B4-BE49-F238E27FC236}">
                <a16:creationId xmlns:a16="http://schemas.microsoft.com/office/drawing/2014/main" id="{3BE2AB51-9C77-4180-9C2F-366E91D1B0AF}"/>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04</a:t>
            </a:r>
          </a:p>
        </p:txBody>
      </p:sp>
    </p:spTree>
    <p:extLst>
      <p:ext uri="{BB962C8B-B14F-4D97-AF65-F5344CB8AC3E}">
        <p14:creationId xmlns:p14="http://schemas.microsoft.com/office/powerpoint/2010/main" val="1198963103"/>
      </p:ext>
    </p:extLst>
  </p:cSld>
  <p:transition spd="slow" advClick="1">
    <p:fade/>
  </p:transition>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3D1B5A4-1D5F-4350-9360-1C9439FE3D85}"/>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Internal Napoleon construction</a:t>
            </a:r>
          </a:p>
        </p:txBody>
      </p:sp>
      <p:sp>
        <p:nvSpPr>
          <p:cNvPr id="2" name="">
            <a:extLst xmlns:a="http://schemas.openxmlformats.org/drawingml/2006/main">
              <a:ext uri="{FF2B5EF4-FFF2-40B4-BE49-F238E27FC236}">
                <a16:creationId xmlns:a16="http://schemas.microsoft.com/office/drawing/2014/main" id="{387409EC-B5A7-4F9F-9D14-67F5260F34F1}"/>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An internal equilateral predecessor supplies a second family of half-planes</a:t>
            </a:r>
          </a:p>
        </p:txBody>
      </p:sp>
      <p:sp>
        <p:nvSpPr>
          <p:cNvPr id="3" name="">
            <a:extLst xmlns:a="http://schemas.openxmlformats.org/drawingml/2006/main">
              <a:ext uri="{FF2B5EF4-FFF2-40B4-BE49-F238E27FC236}">
                <a16:creationId xmlns:a16="http://schemas.microsoft.com/office/drawing/2014/main" id="{59F3616A-79AC-44E7-B997-560E908B95EE}"/>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26A2D551-FBD2-4AF4-ADA7-FEFD6E1D00A7}"/>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25E4F764-6F11-469F-BBB7-1824679ECCDB}"/>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A5AA1754-6F22-412D-A7A8-764C3D923AFC}"/>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DBFE9C85-A4E8-44F3-AF3F-A5AB2A5C053C}"/>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6F01C730-31BD-4F32-82BA-A9A515C4E001}"/>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F438CCC5-539C-438D-9A8B-00B955731C6F}"/>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DD89F7ED-2999-4D4E-9127-DCDEF0700EC0}"/>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2FBB4476-41FA-4F8B-AD2E-6C8B72C886C1}"/>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CB1BD8DA-D295-480F-888A-3F4012C7F1CD}"/>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5CF955A0-1815-443E-BE94-EF00A591FE71}"/>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D6791401-FF79-405D-AE70-0CB6F137E0DA}"/>
              </a:ext>
            </a:extLst>
          </p:cNvPr>
          <p:cNvSpPr>
            <a:spLocks xmlns:a="http://schemas.openxmlformats.org/drawingml/2006/main" noGrp="1"/>
          </p:cNvSpPr>
          <p:nvPr/>
        </p:nvSpPr>
        <p:spPr>
          <a:xfrm xmlns:a="http://schemas.openxmlformats.org/drawingml/2006/main">
            <a:off x="1647795" y="2591346"/>
            <a:ext cx="3936225" cy="2868550"/>
          </a:xfrm>
          <a:custGeom xmlns:a="http://schemas.openxmlformats.org/drawingml/2006/main">
            <a:pathLst>
              <a:path w="3936225" h="2868550">
                <a:moveTo>
                  <a:pt x="880649" y="2868550"/>
                </a:moveTo>
                <a:lnTo>
                  <a:pt x="2552730" y="2868550"/>
                </a:lnTo>
                <a:lnTo>
                  <a:pt x="3932845" y="2235986"/>
                </a:lnTo>
                <a:lnTo>
                  <a:pt x="3936225" y="2225591"/>
                </a:lnTo>
                <a:lnTo>
                  <a:pt x="3349931" y="955267"/>
                </a:lnTo>
                <a:lnTo>
                  <a:pt x="2076243" y="0"/>
                </a:lnTo>
                <a:lnTo>
                  <a:pt x="3967" y="949792"/>
                </a:lnTo>
                <a:lnTo>
                  <a:pt x="1687" y="955267"/>
                </a:lnTo>
                <a:lnTo>
                  <a:pt x="0" y="960468"/>
                </a:lnTo>
                <a:close/>
              </a:path>
            </a:pathLst>
          </a:custGeom>
          <a:solidFill xmlns:a="http://schemas.openxmlformats.org/drawingml/2006/main">
            <a:srgbClr val="A87819">
              <a:alpha val="10000"/>
            </a:srgbClr>
          </a:solidFill>
          <a:ln xmlns:a="http://schemas.openxmlformats.org/drawingml/2006/main" w="17145">
            <a:solidFill>
              <a:srgbClr val="A87819"/>
            </a:solidFill>
            <a:prstDash val="solid"/>
          </a:ln>
        </p:spPr>
      </p:sp>
      <p:sp>
        <p:nvSpPr>
          <p:cNvPr id="15" name="">
            <a:extLst xmlns:a="http://schemas.openxmlformats.org/drawingml/2006/main">
              <a:ext uri="{FF2B5EF4-FFF2-40B4-BE49-F238E27FC236}">
                <a16:creationId xmlns:a16="http://schemas.microsoft.com/office/drawing/2014/main" id="{DBC9BE8A-2D74-497C-982F-2710F12F2852}"/>
              </a:ext>
            </a:extLst>
          </p:cNvPr>
          <p:cNvSpPr>
            <a:spLocks xmlns:a="http://schemas.openxmlformats.org/drawingml/2006/main" noGrp="1"/>
          </p:cNvSpPr>
          <p:nvPr/>
        </p:nvSpPr>
        <p:spPr>
          <a:xfrm xmlns:a="http://schemas.openxmlformats.org/drawingml/2006/main">
            <a:off x="2754115" y="3505178"/>
            <a:ext cx="1446410" cy="1104369"/>
          </a:xfrm>
          <a:custGeom xmlns:a="http://schemas.openxmlformats.org/drawingml/2006/main">
            <a:pathLst>
              <a:path w="1446410" h="1104369">
                <a:moveTo>
                  <a:pt x="1446410" y="1104369"/>
                </a:moveTo>
                <a:lnTo>
                  <a:pt x="1446410" y="559616"/>
                </a:lnTo>
                <a:lnTo>
                  <a:pt x="103330" y="0"/>
                </a:lnTo>
                <a:lnTo>
                  <a:pt x="0" y="501701"/>
                </a:lnTo>
                <a:close/>
              </a:path>
            </a:pathLst>
          </a:custGeom>
          <a:solidFill xmlns:a="http://schemas.openxmlformats.org/drawingml/2006/main">
            <a:srgbClr val="8E569C">
              <a:alpha val="20000"/>
            </a:srgbClr>
          </a:solidFill>
          <a:ln xmlns:a="http://schemas.openxmlformats.org/drawingml/2006/main" w="28575">
            <a:solidFill>
              <a:srgbClr val="8E569C"/>
            </a:solidFill>
            <a:prstDash val="solid"/>
          </a:ln>
        </p:spPr>
      </p:sp>
      <p:sp>
        <p:nvSpPr>
          <p:cNvPr id="16" name="">
            <a:extLst xmlns:a="http://schemas.openxmlformats.org/drawingml/2006/main">
              <a:ext uri="{FF2B5EF4-FFF2-40B4-BE49-F238E27FC236}">
                <a16:creationId xmlns:a16="http://schemas.microsoft.com/office/drawing/2014/main" id="{BC5678B3-8786-419C-8B18-294888170FA1}"/>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7" name="">
            <a:extLst xmlns:a="http://schemas.openxmlformats.org/drawingml/2006/main">
              <a:ext uri="{FF2B5EF4-FFF2-40B4-BE49-F238E27FC236}">
                <a16:creationId xmlns:a16="http://schemas.microsoft.com/office/drawing/2014/main" id="{0092703B-16B7-4ACA-918C-018EAA68DADF}"/>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8078FDCD-44B5-463A-9B58-73ADF6B5A1B1}"/>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9" name="">
            <a:extLst xmlns:a="http://schemas.openxmlformats.org/drawingml/2006/main">
              <a:ext uri="{FF2B5EF4-FFF2-40B4-BE49-F238E27FC236}">
                <a16:creationId xmlns:a16="http://schemas.microsoft.com/office/drawing/2014/main" id="{57E5F734-0AD4-46A9-89E6-4E170951C1F8}"/>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CD3050EA-14E1-447D-96FF-AE62BEE73AD7}"/>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1" name="">
            <a:extLst xmlns:a="http://schemas.openxmlformats.org/drawingml/2006/main">
              <a:ext uri="{FF2B5EF4-FFF2-40B4-BE49-F238E27FC236}">
                <a16:creationId xmlns:a16="http://schemas.microsoft.com/office/drawing/2014/main" id="{27B7CEEF-021E-42D5-8A05-C0609B344A61}"/>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AD173EFB-DCFE-401A-ADE6-6E206D6CAB6F}"/>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3" name="">
            <a:extLst xmlns:a="http://schemas.openxmlformats.org/drawingml/2006/main">
              <a:ext uri="{FF2B5EF4-FFF2-40B4-BE49-F238E27FC236}">
                <a16:creationId xmlns:a16="http://schemas.microsoft.com/office/drawing/2014/main" id="{1D354531-B6E0-4087-8A1B-8E8646DEE40E}"/>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4" name="">
            <a:extLst xmlns:a="http://schemas.openxmlformats.org/drawingml/2006/main">
              <a:ext uri="{FF2B5EF4-FFF2-40B4-BE49-F238E27FC236}">
                <a16:creationId xmlns:a16="http://schemas.microsoft.com/office/drawing/2014/main" id="{06A5BE2C-E427-4303-B79C-4206BF066FC0}"/>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5" name="">
            <a:extLst xmlns:a="http://schemas.openxmlformats.org/drawingml/2006/main">
              <a:ext uri="{FF2B5EF4-FFF2-40B4-BE49-F238E27FC236}">
                <a16:creationId xmlns:a16="http://schemas.microsoft.com/office/drawing/2014/main" id="{94D093C3-3D2A-4230-8BC4-93D9533C9A6A}"/>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6" name="">
            <a:extLst xmlns:a="http://schemas.openxmlformats.org/drawingml/2006/main">
              <a:ext uri="{FF2B5EF4-FFF2-40B4-BE49-F238E27FC236}">
                <a16:creationId xmlns:a16="http://schemas.microsoft.com/office/drawing/2014/main" id="{0308B934-7F2E-4534-B8A3-A756A248401A}"/>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8E569C"/>
                </a:solidFill>
                <a:latin typeface="Arial"/>
                <a:ea typeface="Arial"/>
                <a:cs typeface="Arial"/>
              </a:defRPr>
            </a:pPr>
            <a:r>
              <a:rPr sz="2025" b="1" i="0">
                <a:solidFill>
                  <a:srgbClr val="8E569C"/>
                </a:solidFill>
                <a:latin typeface="Arial"/>
                <a:ea typeface="Arial"/>
                <a:cs typeface="Arial"/>
              </a:rPr>
              <a:t>Equilateral symmetry</a:t>
            </a:r>
          </a:p>
        </p:txBody>
      </p:sp>
      <p:sp>
        <p:nvSpPr>
          <p:cNvPr id="27" name="">
            <a:extLst xmlns:a="http://schemas.openxmlformats.org/drawingml/2006/main">
              <a:ext uri="{FF2B5EF4-FFF2-40B4-BE49-F238E27FC236}">
                <a16:creationId xmlns:a16="http://schemas.microsoft.com/office/drawing/2014/main" id="{66A9562F-D197-47DB-970F-0A94739F184B}"/>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Build the equilateral apex on the same side of a side as the third vertex. Move that apex to the third vertex. The equilateral centroid supplies the initial forced center.</a:t>
            </a:r>
          </a:p>
        </p:txBody>
      </p:sp>
      <p:sp>
        <p:nvSpPr>
          <p:cNvPr id="28" name="">
            <a:extLst xmlns:a="http://schemas.openxmlformats.org/drawingml/2006/main">
              <a:ext uri="{FF2B5EF4-FFF2-40B4-BE49-F238E27FC236}">
                <a16:creationId xmlns:a16="http://schemas.microsoft.com/office/drawing/2014/main" id="{126A7B15-CD81-4A94-AF7A-640220555F1D}"/>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05</a:t>
            </a:r>
          </a:p>
        </p:txBody>
      </p:sp>
    </p:spTree>
    <p:extLst>
      <p:ext uri="{BB962C8B-B14F-4D97-AF65-F5344CB8AC3E}">
        <p14:creationId xmlns:p14="http://schemas.microsoft.com/office/powerpoint/2010/main" val="38168417"/>
      </p:ext>
    </p:extLst>
  </p:cSld>
  <p:transition spd="slow" advClick="1">
    <p:fade/>
  </p:transition>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2E14BD3-F07E-48B6-8540-448565654DC9}"/>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The standard triangle chest</a:t>
            </a:r>
          </a:p>
        </p:txBody>
      </p:sp>
      <p:sp>
        <p:nvSpPr>
          <p:cNvPr id="2" name="">
            <a:extLst xmlns:a="http://schemas.openxmlformats.org/drawingml/2006/main">
              <a:ext uri="{FF2B5EF4-FFF2-40B4-BE49-F238E27FC236}">
                <a16:creationId xmlns:a16="http://schemas.microsoft.com/office/drawing/2014/main" id="{1D7E8C08-6AAA-44FB-A0B4-9956BFDD7B4E}"/>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Hull ∩ characteristic parallelogram ∩ internal Napoleon triangle</a:t>
            </a:r>
          </a:p>
        </p:txBody>
      </p:sp>
      <p:sp>
        <p:nvSpPr>
          <p:cNvPr id="3" name="">
            <a:extLst xmlns:a="http://schemas.openxmlformats.org/drawingml/2006/main">
              <a:ext uri="{FF2B5EF4-FFF2-40B4-BE49-F238E27FC236}">
                <a16:creationId xmlns:a16="http://schemas.microsoft.com/office/drawing/2014/main" id="{7AF97C20-92BB-415E-9542-56249749F5D1}"/>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102F5D6A-E35C-4236-ABC6-4883532B4C45}"/>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5E0A0E0D-835C-448A-87AD-0897DBF761DF}"/>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086A4B76-0A40-46E1-8A45-6B932C2D63F0}"/>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03FD1CF2-6B30-4E8C-AA04-3F6260487FDB}"/>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67F548BB-E4A3-487F-A982-1C885FB53B36}"/>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5D871289-4E48-40C6-8EDC-09CB8454A4CF}"/>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3EA5B5C9-5E76-471A-9B47-04C5BD751059}"/>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34BBA41D-C19E-421D-B333-BCF7C9BAB83C}"/>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4647F3C9-7470-41CE-A7A2-461881C7FD91}"/>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660D1574-28EE-4BB3-B288-508750D41EDA}"/>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B6599610-E78E-4EA8-B9AC-224FB08B9865}"/>
              </a:ext>
            </a:extLst>
          </p:cNvPr>
          <p:cNvSpPr>
            <a:spLocks xmlns:a="http://schemas.openxmlformats.org/drawingml/2006/main" noGrp="1"/>
          </p:cNvSpPr>
          <p:nvPr/>
        </p:nvSpPr>
        <p:spPr>
          <a:xfrm xmlns:a="http://schemas.openxmlformats.org/drawingml/2006/main">
            <a:off x="2754115" y="3505178"/>
            <a:ext cx="1446410" cy="1104369"/>
          </a:xfrm>
          <a:custGeom xmlns:a="http://schemas.openxmlformats.org/drawingml/2006/main">
            <a:pathLst>
              <a:path w="1446410" h="1104369">
                <a:moveTo>
                  <a:pt x="1446410" y="1104369"/>
                </a:moveTo>
                <a:lnTo>
                  <a:pt x="1446410" y="559616"/>
                </a:lnTo>
                <a:lnTo>
                  <a:pt x="103330" y="0"/>
                </a:lnTo>
                <a:lnTo>
                  <a:pt x="0" y="501701"/>
                </a:lnTo>
                <a:close/>
              </a:path>
            </a:pathLst>
          </a:custGeom>
          <a:solidFill xmlns:a="http://schemas.openxmlformats.org/drawingml/2006/main">
            <a:srgbClr val="158368">
              <a:alpha val="36000"/>
            </a:srgbClr>
          </a:solidFill>
          <a:ln xmlns:a="http://schemas.openxmlformats.org/drawingml/2006/main" w="28575">
            <a:solidFill>
              <a:srgbClr val="158368"/>
            </a:solidFill>
            <a:prstDash val="solid"/>
          </a:ln>
        </p:spPr>
      </p:sp>
      <p:sp>
        <p:nvSpPr>
          <p:cNvPr id="15" name="">
            <a:extLst xmlns:a="http://schemas.openxmlformats.org/drawingml/2006/main">
              <a:ext uri="{FF2B5EF4-FFF2-40B4-BE49-F238E27FC236}">
                <a16:creationId xmlns:a16="http://schemas.microsoft.com/office/drawing/2014/main" id="{2A3200B7-3A27-4521-B0CA-BCA4ACD8D3F0}"/>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63DD0F83-A03F-4781-A223-DA18EB45B5D9}"/>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9BA9D4CD-0E88-4F5A-ABE5-907D38FE9579}"/>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3D776408-3DEA-40C3-BE98-FA81D9816938}"/>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4594DB41-FEAF-4228-84B0-7050BB170F11}"/>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28E9AB8A-E622-4E9A-AD3A-0157413CBD2B}"/>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6172D315-106F-4881-987F-64CF8FA89512}"/>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62F00C2F-BA8D-432A-9E40-48CF896D918B}"/>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32055867-039E-4ED0-91AC-FF720445CF8B}"/>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8108DC6B-218F-4A42-9F89-4A83A3A53E62}"/>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706443C8-7EEE-4A4F-8174-B9CA525554AA}"/>
              </a:ext>
            </a:extLst>
          </p:cNvPr>
          <p:cNvSpPr>
            <a:spLocks xmlns:a="http://schemas.openxmlformats.org/drawingml/2006/main" noGrp="1"/>
          </p:cNvSpPr>
          <p:nvPr/>
        </p:nvSpPr>
        <p:spPr>
          <a:xfrm xmlns:a="http://schemas.openxmlformats.org/drawingml/2006/main">
            <a:off x="8382000" y="161925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158368"/>
                </a:solidFill>
                <a:latin typeface="Arial"/>
                <a:ea typeface="Arial"/>
                <a:cs typeface="Arial"/>
              </a:defRPr>
            </a:pPr>
            <a:r>
              <a:rPr sz="4050" b="1" i="0">
                <a:solidFill>
                  <a:srgbClr val="158368"/>
                </a:solidFill>
                <a:latin typeface="Arial"/>
                <a:ea typeface="Arial"/>
                <a:cs typeface="Arial"/>
              </a:rPr>
              <a:t>5.9302%</a:t>
            </a:r>
          </a:p>
        </p:txBody>
      </p:sp>
      <p:sp>
        <p:nvSpPr>
          <p:cNvPr id="26" name="">
            <a:extLst xmlns:a="http://schemas.openxmlformats.org/drawingml/2006/main">
              <a:ext uri="{FF2B5EF4-FFF2-40B4-BE49-F238E27FC236}">
                <a16:creationId xmlns:a16="http://schemas.microsoft.com/office/drawing/2014/main" id="{072CB273-96CC-48A5-88E5-BF679FF177A4}"/>
              </a:ext>
            </a:extLst>
          </p:cNvPr>
          <p:cNvSpPr>
            <a:spLocks xmlns:a="http://schemas.openxmlformats.org/drawingml/2006/main" noGrp="1"/>
          </p:cNvSpPr>
          <p:nvPr/>
        </p:nvSpPr>
        <p:spPr>
          <a:xfrm xmlns:a="http://schemas.openxmlformats.org/drawingml/2006/main">
            <a:off x="8572500" y="228600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of this reference triangle</a:t>
            </a:r>
          </a:p>
        </p:txBody>
      </p:sp>
      <p:sp>
        <p:nvSpPr>
          <p:cNvPr id="27" name="">
            <a:extLst xmlns:a="http://schemas.openxmlformats.org/drawingml/2006/main">
              <a:ext uri="{FF2B5EF4-FFF2-40B4-BE49-F238E27FC236}">
                <a16:creationId xmlns:a16="http://schemas.microsoft.com/office/drawing/2014/main" id="{8BF6C873-F12B-4A11-8FD8-6B16FEF7180E}"/>
              </a:ext>
            </a:extLst>
          </p:cNvPr>
          <p:cNvSpPr>
            <a:spLocks xmlns:a="http://schemas.openxmlformats.org/drawingml/2006/main" noGrp="1"/>
          </p:cNvSpPr>
          <p:nvPr/>
        </p:nvSpPr>
        <p:spPr>
          <a:xfrm xmlns:a="http://schemas.openxmlformats.org/drawingml/2006/main">
            <a:off x="8191500" y="366712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i="0">
                <a:solidFill>
                  <a:srgbClr val="536475"/>
                </a:solidFill>
                <a:latin typeface="Arial"/>
                <a:ea typeface="Arial"/>
                <a:cs typeface="Arial"/>
              </a:defRPr>
            </a:pPr>
            <a:r>
              <a:rPr sz="1650" b="0" i="0">
                <a:solidFill>
                  <a:srgbClr val="536475"/>
                </a:solidFill>
                <a:latin typeface="Arial"/>
                <a:ea typeface="Arial"/>
                <a:cs typeface="Arial"/>
              </a:rPr>
              <a:t>This is the standard chest used below as a source chest for transfer constructions.</a:t>
            </a:r>
          </a:p>
        </p:txBody>
      </p:sp>
      <p:sp>
        <p:nvSpPr>
          <p:cNvPr id="28" name="">
            <a:extLst xmlns:a="http://schemas.openxmlformats.org/drawingml/2006/main">
              <a:ext uri="{FF2B5EF4-FFF2-40B4-BE49-F238E27FC236}">
                <a16:creationId xmlns:a16="http://schemas.microsoft.com/office/drawing/2014/main" id="{CAA06F50-1470-46CE-B78A-72DD1FDC7EEC}"/>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06</a:t>
            </a:r>
          </a:p>
        </p:txBody>
      </p:sp>
    </p:spTree>
    <p:extLst>
      <p:ext uri="{BB962C8B-B14F-4D97-AF65-F5344CB8AC3E}">
        <p14:creationId xmlns:p14="http://schemas.microsoft.com/office/powerpoint/2010/main" val="812528362"/>
      </p:ext>
    </p:extLst>
  </p:cSld>
  <p:transition spd="slow" advClick="1">
    <p:fade/>
  </p:transition>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80E9EB7-99E7-4DD0-BF91-FD4C1CF08919}"/>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Four points: the reference configuration</a:t>
            </a:r>
          </a:p>
        </p:txBody>
      </p:sp>
      <p:sp>
        <p:nvSpPr>
          <p:cNvPr id="2" name="">
            <a:extLst xmlns:a="http://schemas.openxmlformats.org/drawingml/2006/main">
              <a:ext uri="{FF2B5EF4-FFF2-40B4-BE49-F238E27FC236}">
                <a16:creationId xmlns:a16="http://schemas.microsoft.com/office/drawing/2014/main" id="{CC2CFB2A-312C-46A3-94BB-A5A7FF249F44}"/>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A=(0,0), B=(21,0), C=(5,12), D=G(ABC)</a:t>
            </a:r>
          </a:p>
        </p:txBody>
      </p:sp>
      <p:sp>
        <p:nvSpPr>
          <p:cNvPr id="3" name="">
            <a:extLst xmlns:a="http://schemas.openxmlformats.org/drawingml/2006/main">
              <a:ext uri="{FF2B5EF4-FFF2-40B4-BE49-F238E27FC236}">
                <a16:creationId xmlns:a16="http://schemas.microsoft.com/office/drawing/2014/main" id="{5BCFB0CB-8C40-4D64-BB87-BC25AF527D7E}"/>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A4F1ED7D-2560-499B-9E52-0AABB9AEDE53}"/>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F3F6F214-4A7C-441E-80AD-F58F373FBAC0}"/>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BDDFE68D-ABAB-44C5-AEF7-1EC727198E5C}"/>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7348BC59-55F0-4D65-9B74-58DD6C496DDD}"/>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C5ECA6C7-2979-46A0-BAA2-C0A30C4D61A3}"/>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E65F5CCF-41C5-4B9B-ACE4-375AA924214F}"/>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B3B14AC0-B996-443D-9A8D-B5AD3BBE9702}"/>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8F88FA00-45F0-4DDD-9DC2-2735B7CD2B7C}"/>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E97A68F9-B3C2-428A-AD94-BF8498E7827F}"/>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FE01554C-E9A8-4B69-B411-7F214850AB7D}"/>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19D775FD-9939-4658-A6A3-EE17014E3053}"/>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5" name="">
            <a:extLst xmlns:a="http://schemas.openxmlformats.org/drawingml/2006/main">
              <a:ext uri="{FF2B5EF4-FFF2-40B4-BE49-F238E27FC236}">
                <a16:creationId xmlns:a16="http://schemas.microsoft.com/office/drawing/2014/main" id="{A5E5C136-564D-4879-AA9D-0405B2C89108}"/>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6" name="">
            <a:extLst xmlns:a="http://schemas.openxmlformats.org/drawingml/2006/main">
              <a:ext uri="{FF2B5EF4-FFF2-40B4-BE49-F238E27FC236}">
                <a16:creationId xmlns:a16="http://schemas.microsoft.com/office/drawing/2014/main" id="{0A9654E4-A86A-4539-93B8-D04C97765DB7}"/>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7" name="">
            <a:extLst xmlns:a="http://schemas.openxmlformats.org/drawingml/2006/main">
              <a:ext uri="{FF2B5EF4-FFF2-40B4-BE49-F238E27FC236}">
                <a16:creationId xmlns:a16="http://schemas.microsoft.com/office/drawing/2014/main" id="{0349DAB5-8E67-4C75-8C6E-5B4D8975991B}"/>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CEA0EE52-72AF-438B-87A1-150346B304D1}"/>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19" name="">
            <a:extLst xmlns:a="http://schemas.openxmlformats.org/drawingml/2006/main">
              <a:ext uri="{FF2B5EF4-FFF2-40B4-BE49-F238E27FC236}">
                <a16:creationId xmlns:a16="http://schemas.microsoft.com/office/drawing/2014/main" id="{76D1B032-0731-45C1-AE2F-371F75B0CB5B}"/>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EF21C2CC-6FEC-4008-80E8-DD5F24180F24}"/>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1" name="">
            <a:extLst xmlns:a="http://schemas.openxmlformats.org/drawingml/2006/main">
              <a:ext uri="{FF2B5EF4-FFF2-40B4-BE49-F238E27FC236}">
                <a16:creationId xmlns:a16="http://schemas.microsoft.com/office/drawing/2014/main" id="{D6BF7399-D5F0-48D0-8EF1-B9B3D2F5B492}"/>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FFB97198-0C76-4E05-BF12-BA9BFDF0D3ED}"/>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11F52B4B-ECF1-403B-88AB-62908E70AABD}"/>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4" name="">
            <a:extLst xmlns:a="http://schemas.openxmlformats.org/drawingml/2006/main">
              <a:ext uri="{FF2B5EF4-FFF2-40B4-BE49-F238E27FC236}">
                <a16:creationId xmlns:a16="http://schemas.microsoft.com/office/drawing/2014/main" id="{3D85533F-BB0C-4B74-9F22-E02C195B3021}"/>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3979AD"/>
                </a:solidFill>
                <a:latin typeface="Arial"/>
                <a:ea typeface="Arial"/>
                <a:cs typeface="Arial"/>
              </a:defRPr>
            </a:pPr>
            <a:r>
              <a:rPr sz="2025" b="1" i="0">
                <a:solidFill>
                  <a:srgbClr val="3979AD"/>
                </a:solidFill>
                <a:latin typeface="Arial"/>
                <a:ea typeface="Arial"/>
                <a:cs typeface="Arial"/>
              </a:rPr>
              <a:t>Seven construction layers</a:t>
            </a:r>
          </a:p>
        </p:txBody>
      </p:sp>
      <p:sp>
        <p:nvSpPr>
          <p:cNvPr id="25" name="">
            <a:extLst xmlns:a="http://schemas.openxmlformats.org/drawingml/2006/main">
              <a:ext uri="{FF2B5EF4-FFF2-40B4-BE49-F238E27FC236}">
                <a16:creationId xmlns:a16="http://schemas.microsoft.com/office/drawing/2014/main" id="{C37E903D-5FD6-4480-A13F-655A2B766A20}"/>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Midpoint slabs, useful bisectors, two-order networks, discrete involutions, edge slabs, centroid transfer, and conditional absorption each add valid constraints with a stated scope.</a:t>
            </a:r>
          </a:p>
        </p:txBody>
      </p:sp>
      <p:sp>
        <p:nvSpPr>
          <p:cNvPr id="26" name="">
            <a:extLst xmlns:a="http://schemas.openxmlformats.org/drawingml/2006/main">
              <a:ext uri="{FF2B5EF4-FFF2-40B4-BE49-F238E27FC236}">
                <a16:creationId xmlns:a16="http://schemas.microsoft.com/office/drawing/2014/main" id="{02A2F302-C403-4948-AEB0-1D2B3C216279}"/>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07</a:t>
            </a:r>
          </a:p>
        </p:txBody>
      </p:sp>
    </p:spTree>
    <p:extLst>
      <p:ext uri="{BB962C8B-B14F-4D97-AF65-F5344CB8AC3E}">
        <p14:creationId xmlns:p14="http://schemas.microsoft.com/office/powerpoint/2010/main" val="823974918"/>
      </p:ext>
    </p:extLst>
  </p:cSld>
  <p:transition spd="slow" advClick="1">
    <p:fade/>
  </p:transition>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3EC7CA9-936C-4FC5-89B8-C28546135120}"/>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1. Midpoint predecessor</a:t>
            </a:r>
          </a:p>
        </p:txBody>
      </p:sp>
      <p:sp>
        <p:nvSpPr>
          <p:cNvPr id="2" name="">
            <a:extLst xmlns:a="http://schemas.openxmlformats.org/drawingml/2006/main">
              <a:ext uri="{FF2B5EF4-FFF2-40B4-BE49-F238E27FC236}">
                <a16:creationId xmlns:a16="http://schemas.microsoft.com/office/drawing/2014/main" id="{762B1C37-5083-459E-8952-2EB5FEB4480E}"/>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Choose a 2+2 partition and align its two pair midpoints</a:t>
            </a:r>
          </a:p>
        </p:txBody>
      </p:sp>
      <p:sp>
        <p:nvSpPr>
          <p:cNvPr id="3" name="">
            <a:extLst xmlns:a="http://schemas.openxmlformats.org/drawingml/2006/main">
              <a:ext uri="{FF2B5EF4-FFF2-40B4-BE49-F238E27FC236}">
                <a16:creationId xmlns:a16="http://schemas.microsoft.com/office/drawing/2014/main" id="{29E43106-F0B5-4C38-AE03-8A05C03F6E09}"/>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D412CF43-D7E2-4C9B-80F6-306D8042A344}"/>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B67BD4F4-37F7-4104-AC60-5FF722537C18}"/>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2F5AB3FF-F9A7-4D72-A058-B04DE451652B}"/>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DA577019-01D3-4279-BC20-C91CE5D395AB}"/>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7D1A938D-5E51-462D-B6C9-49BCFE994DCF}"/>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549A05A7-2CF4-448C-980D-5BEE5A70DF40}"/>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05B072B2-B902-41CD-B31F-F5E2E98E485A}"/>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0B504584-0F81-404F-B160-7E729EBA403A}"/>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19F77B53-9607-49FD-8DD8-069118B59937}"/>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A0A870DE-29B9-4CA7-A978-CC73CC2A1067}"/>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9446A1CF-951E-4A51-8FB7-A775479609FD}"/>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5" name="">
            <a:extLst xmlns:a="http://schemas.openxmlformats.org/drawingml/2006/main">
              <a:ext uri="{FF2B5EF4-FFF2-40B4-BE49-F238E27FC236}">
                <a16:creationId xmlns:a16="http://schemas.microsoft.com/office/drawing/2014/main" id="{5AEDAC02-826F-43ED-B2B1-AF9452F617A6}"/>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6" name="">
            <a:extLst xmlns:a="http://schemas.openxmlformats.org/drawingml/2006/main">
              <a:ext uri="{FF2B5EF4-FFF2-40B4-BE49-F238E27FC236}">
                <a16:creationId xmlns:a16="http://schemas.microsoft.com/office/drawing/2014/main" id="{C62E305D-0C11-4731-A24E-CCD117D0140A}"/>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7" name="">
            <a:extLst xmlns:a="http://schemas.openxmlformats.org/drawingml/2006/main">
              <a:ext uri="{FF2B5EF4-FFF2-40B4-BE49-F238E27FC236}">
                <a16:creationId xmlns:a16="http://schemas.microsoft.com/office/drawing/2014/main" id="{D8B97FA4-4945-4A0C-95FA-0A5EE7503A62}"/>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10A5E84D-4A5C-4E77-B3FB-EE080057BE16}"/>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19" name="">
            <a:extLst xmlns:a="http://schemas.openxmlformats.org/drawingml/2006/main">
              <a:ext uri="{FF2B5EF4-FFF2-40B4-BE49-F238E27FC236}">
                <a16:creationId xmlns:a16="http://schemas.microsoft.com/office/drawing/2014/main" id="{D97E255F-8971-40CB-AC68-FBA141262C2C}"/>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3CE92D03-8321-400A-92DE-18F6C3D403AD}"/>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1" name="">
            <a:extLst xmlns:a="http://schemas.openxmlformats.org/drawingml/2006/main">
              <a:ext uri="{FF2B5EF4-FFF2-40B4-BE49-F238E27FC236}">
                <a16:creationId xmlns:a16="http://schemas.microsoft.com/office/drawing/2014/main" id="{9156162B-81D3-4611-B71F-E70696E28E19}"/>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B6521339-A5CE-42A2-BE2E-8A1D9F14E0CF}"/>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130C6F7B-5A60-4B2E-BC8B-BA3361035AEE}"/>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4" name="">
            <a:extLst xmlns:a="http://schemas.openxmlformats.org/drawingml/2006/main">
              <a:ext uri="{FF2B5EF4-FFF2-40B4-BE49-F238E27FC236}">
                <a16:creationId xmlns:a16="http://schemas.microsoft.com/office/drawing/2014/main" id="{00049731-6A07-4130-99FB-3D237CBD40E4}"/>
              </a:ext>
            </a:extLst>
          </p:cNvPr>
          <p:cNvSpPr>
            <a:spLocks xmlns:a="http://schemas.openxmlformats.org/drawingml/2006/main" noGrp="1"/>
          </p:cNvSpPr>
          <p:nvPr/>
        </p:nvSpPr>
        <p:spPr>
          <a:xfrm xmlns:a="http://schemas.openxmlformats.org/drawingml/2006/main">
            <a:off x="420052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23813">
            <a:solidFill>
              <a:srgbClr val="A87819"/>
            </a:solidFill>
            <a:prstDash val="dash"/>
          </a:ln>
        </p:spPr>
      </p:sp>
      <p:sp>
        <p:nvSpPr>
          <p:cNvPr id="25" name="">
            <a:extLst xmlns:a="http://schemas.openxmlformats.org/drawingml/2006/main">
              <a:ext uri="{FF2B5EF4-FFF2-40B4-BE49-F238E27FC236}">
                <a16:creationId xmlns:a16="http://schemas.microsoft.com/office/drawing/2014/main" id="{D67FBB5F-D766-4071-BB7D-2F2B984D960F}"/>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A87819"/>
                </a:solidFill>
                <a:latin typeface="Arial"/>
                <a:ea typeface="Arial"/>
                <a:cs typeface="Arial"/>
              </a:defRPr>
            </a:pPr>
            <a:r>
              <a:rPr sz="2025" b="1" i="0">
                <a:solidFill>
                  <a:srgbClr val="A87819"/>
                </a:solidFill>
                <a:latin typeface="Arial"/>
                <a:ea typeface="Arial"/>
                <a:cs typeface="Arial"/>
              </a:rPr>
              <a:t>Central symmetry</a:t>
            </a:r>
          </a:p>
        </p:txBody>
      </p:sp>
      <p:sp>
        <p:nvSpPr>
          <p:cNvPr id="26" name="">
            <a:extLst xmlns:a="http://schemas.openxmlformats.org/drawingml/2006/main">
              <a:ext uri="{FF2B5EF4-FFF2-40B4-BE49-F238E27FC236}">
                <a16:creationId xmlns:a16="http://schemas.microsoft.com/office/drawing/2014/main" id="{8D177052-BFC5-4F48-817F-7143B4C5C5A9}"/>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Translate one pair until the pair midpoints agree. The predecessor has a half-turn symmetry, so its center is the common midpoint.</a:t>
            </a:r>
          </a:p>
        </p:txBody>
      </p:sp>
      <p:sp>
        <p:nvSpPr>
          <p:cNvPr id="27" name="">
            <a:extLst xmlns:a="http://schemas.openxmlformats.org/drawingml/2006/main">
              <a:ext uri="{FF2B5EF4-FFF2-40B4-BE49-F238E27FC236}">
                <a16:creationId xmlns:a16="http://schemas.microsoft.com/office/drawing/2014/main" id="{C3690F62-0368-468B-9C63-1BC76AA8A5E9}"/>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A87819"/>
            </a:solidFill>
          </a:ln>
        </p:spPr>
      </p:sp>
      <p:sp>
        <p:nvSpPr>
          <p:cNvPr id="28" name="">
            <a:extLst xmlns:a="http://schemas.openxmlformats.org/drawingml/2006/main">
              <a:ext uri="{FF2B5EF4-FFF2-40B4-BE49-F238E27FC236}">
                <a16:creationId xmlns:a16="http://schemas.microsoft.com/office/drawing/2014/main" id="{9D458D5F-81A1-4545-A57F-60B728B1C95A}"/>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A87819"/>
                </a:solidFill>
                <a:latin typeface="Arial"/>
                <a:ea typeface="Arial"/>
                <a:cs typeface="Arial"/>
              </a:defRPr>
            </a:pPr>
            <a:r>
              <a:rPr sz="975" b="1" i="0">
                <a:solidFill>
                  <a:srgbClr val="A87819"/>
                </a:solidFill>
                <a:latin typeface="Arial"/>
                <a:ea typeface="Arial"/>
                <a:cs typeface="Arial"/>
              </a:rPr>
              <a:t>Valid chest layer: midpoint / parallelogram</a:t>
            </a:r>
          </a:p>
        </p:txBody>
      </p:sp>
      <p:sp>
        <p:nvSpPr>
          <p:cNvPr id="29" name="">
            <a:extLst xmlns:a="http://schemas.openxmlformats.org/drawingml/2006/main">
              <a:ext uri="{FF2B5EF4-FFF2-40B4-BE49-F238E27FC236}">
                <a16:creationId xmlns:a16="http://schemas.microsoft.com/office/drawing/2014/main" id="{2577D35C-3413-4A6B-A55D-084F34B3D471}"/>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08</a:t>
            </a:r>
          </a:p>
        </p:txBody>
      </p:sp>
    </p:spTree>
    <p:extLst>
      <p:ext uri="{BB962C8B-B14F-4D97-AF65-F5344CB8AC3E}">
        <p14:creationId xmlns:p14="http://schemas.microsoft.com/office/powerpoint/2010/main" val="1111047558"/>
      </p:ext>
    </p:extLst>
  </p:cSld>
  <p:transition spd="slow" advClick="1">
    <p:fade/>
  </p:transition>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8129FD3-554A-4517-98CE-EC38D581D06E}"/>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1. Midpoint slabs</a:t>
            </a:r>
          </a:p>
        </p:txBody>
      </p:sp>
      <p:sp>
        <p:nvSpPr>
          <p:cNvPr id="2" name="">
            <a:extLst xmlns:a="http://schemas.openxmlformats.org/drawingml/2006/main">
              <a:ext uri="{FF2B5EF4-FFF2-40B4-BE49-F238E27FC236}">
                <a16:creationId xmlns:a16="http://schemas.microsoft.com/office/drawing/2014/main" id="{24EDCCB8-68F4-43C7-80A4-747812F1EAF5}"/>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Three pair partitions intersect inside the hull</a:t>
            </a:r>
          </a:p>
        </p:txBody>
      </p:sp>
      <p:sp>
        <p:nvSpPr>
          <p:cNvPr id="3" name="">
            <a:extLst xmlns:a="http://schemas.openxmlformats.org/drawingml/2006/main">
              <a:ext uri="{FF2B5EF4-FFF2-40B4-BE49-F238E27FC236}">
                <a16:creationId xmlns:a16="http://schemas.microsoft.com/office/drawing/2014/main" id="{51F44D64-21F4-4471-8492-12090948F34F}"/>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3E899321-AF6D-45C7-9A8D-0FF4587CE864}"/>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F4FB6474-4450-485B-B58D-245F9C16AAB6}"/>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FAA49AF8-ECB8-44D1-A34A-130C67F120AB}"/>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09C1A19F-FED2-4A43-A442-AE822C45CCD9}"/>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797B4E76-2181-4146-A633-ECA565799A98}"/>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BAAD27D5-536B-4BB9-A729-C7F484E3964F}"/>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9F9A659E-7243-4891-A4DA-1C4D0F44AE68}"/>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603EEF79-3272-412E-AB4F-34A4BF2C4A3A}"/>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9DB55047-F352-4C3B-AC11-1B6510D9EC60}"/>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E25C93F6-3566-438E-A98B-5C72B6F60FC2}"/>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4F9A3C3F-9720-4AAB-99E3-F1E853005CB6}"/>
              </a:ext>
            </a:extLst>
          </p:cNvPr>
          <p:cNvSpPr>
            <a:spLocks xmlns:a="http://schemas.openxmlformats.org/drawingml/2006/main" noGrp="1"/>
          </p:cNvSpPr>
          <p:nvPr/>
        </p:nvSpPr>
        <p:spPr>
          <a:xfrm xmlns:a="http://schemas.openxmlformats.org/drawingml/2006/main">
            <a:off x="1647795" y="2591346"/>
            <a:ext cx="3936225" cy="2868550"/>
          </a:xfrm>
          <a:custGeom xmlns:a="http://schemas.openxmlformats.org/drawingml/2006/main">
            <a:pathLst>
              <a:path w="3936225" h="2868550">
                <a:moveTo>
                  <a:pt x="880649" y="2868550"/>
                </a:moveTo>
                <a:lnTo>
                  <a:pt x="2552730" y="2868550"/>
                </a:lnTo>
                <a:lnTo>
                  <a:pt x="3932845" y="2235986"/>
                </a:lnTo>
                <a:lnTo>
                  <a:pt x="3936225" y="2225591"/>
                </a:lnTo>
                <a:lnTo>
                  <a:pt x="3349931" y="955267"/>
                </a:lnTo>
                <a:lnTo>
                  <a:pt x="2076243" y="0"/>
                </a:lnTo>
                <a:lnTo>
                  <a:pt x="3967" y="949792"/>
                </a:lnTo>
                <a:lnTo>
                  <a:pt x="1687" y="955267"/>
                </a:lnTo>
                <a:lnTo>
                  <a:pt x="0" y="960468"/>
                </a:lnTo>
                <a:close/>
              </a:path>
            </a:pathLst>
          </a:custGeom>
          <a:solidFill xmlns:a="http://schemas.openxmlformats.org/drawingml/2006/main">
            <a:srgbClr val="A87819">
              <a:alpha val="28000"/>
            </a:srgbClr>
          </a:solidFill>
          <a:ln xmlns:a="http://schemas.openxmlformats.org/drawingml/2006/main" w="28575">
            <a:solidFill>
              <a:srgbClr val="A87819"/>
            </a:solidFill>
            <a:prstDash val="solid"/>
          </a:ln>
        </p:spPr>
      </p:sp>
      <p:sp>
        <p:nvSpPr>
          <p:cNvPr id="15" name="">
            <a:extLst xmlns:a="http://schemas.openxmlformats.org/drawingml/2006/main">
              <a:ext uri="{FF2B5EF4-FFF2-40B4-BE49-F238E27FC236}">
                <a16:creationId xmlns:a16="http://schemas.microsoft.com/office/drawing/2014/main" id="{56DEA802-F014-4A18-AB1E-28B84618069C}"/>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63F408C1-08AA-4447-B590-37D3BE1DE34A}"/>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C4BCCC06-7039-48DD-A870-B3432DA96275}"/>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FF9C6650-AD53-4654-B4B3-CE15D40DAF0D}"/>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060C5EC1-4B47-45CC-A647-945CA1849BFD}"/>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F510819F-D7E0-4330-8791-4728F8C6B1E2}"/>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D6CBB1FF-34F7-491F-BD9F-4B8B6CF1B4FA}"/>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71254063-DF00-42E6-8458-01EA1DE88E99}"/>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57A21E23-E0BA-4596-82DA-3F6FB9A4DB4A}"/>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A4F02B20-183D-4B7E-ABAF-5C58B599DF84}"/>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74367ADB-8BE0-44F9-9035-A097A630CE48}"/>
              </a:ext>
            </a:extLst>
          </p:cNvPr>
          <p:cNvSpPr>
            <a:spLocks xmlns:a="http://schemas.openxmlformats.org/drawingml/2006/main" noGrp="1"/>
          </p:cNvSpPr>
          <p:nvPr/>
        </p:nvSpPr>
        <p:spPr>
          <a:xfrm xmlns:a="http://schemas.openxmlformats.org/drawingml/2006/main">
            <a:off x="8382000" y="161925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A87819"/>
                </a:solidFill>
                <a:latin typeface="Arial"/>
                <a:ea typeface="Arial"/>
                <a:cs typeface="Arial"/>
              </a:defRPr>
            </a:pPr>
            <a:r>
              <a:rPr sz="4050" b="1" i="0">
                <a:solidFill>
                  <a:srgbClr val="A87819"/>
                </a:solidFill>
                <a:latin typeface="Arial"/>
                <a:ea typeface="Arial"/>
                <a:cs typeface="Arial"/>
              </a:rPr>
              <a:t>58.4105%</a:t>
            </a:r>
          </a:p>
        </p:txBody>
      </p:sp>
      <p:sp>
        <p:nvSpPr>
          <p:cNvPr id="26" name="">
            <a:extLst xmlns:a="http://schemas.openxmlformats.org/drawingml/2006/main">
              <a:ext uri="{FF2B5EF4-FFF2-40B4-BE49-F238E27FC236}">
                <a16:creationId xmlns:a16="http://schemas.microsoft.com/office/drawing/2014/main" id="{FFBD8726-7FEB-452B-9599-FAFEA5F92587}"/>
              </a:ext>
            </a:extLst>
          </p:cNvPr>
          <p:cNvSpPr>
            <a:spLocks xmlns:a="http://schemas.openxmlformats.org/drawingml/2006/main" noGrp="1"/>
          </p:cNvSpPr>
          <p:nvPr/>
        </p:nvSpPr>
        <p:spPr>
          <a:xfrm xmlns:a="http://schemas.openxmlformats.org/drawingml/2006/main">
            <a:off x="8572500" y="228600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midpoint slabs alone</a:t>
            </a:r>
          </a:p>
        </p:txBody>
      </p:sp>
      <p:sp>
        <p:nvSpPr>
          <p:cNvPr id="27" name="">
            <a:extLst xmlns:a="http://schemas.openxmlformats.org/drawingml/2006/main">
              <a:ext uri="{FF2B5EF4-FFF2-40B4-BE49-F238E27FC236}">
                <a16:creationId xmlns:a16="http://schemas.microsoft.com/office/drawing/2014/main" id="{7FFD36C8-A2CE-4278-8FB1-DBD0723CAFE9}"/>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A87819"/>
            </a:solidFill>
          </a:ln>
        </p:spPr>
      </p:sp>
      <p:sp>
        <p:nvSpPr>
          <p:cNvPr id="28" name="">
            <a:extLst xmlns:a="http://schemas.openxmlformats.org/drawingml/2006/main">
              <a:ext uri="{FF2B5EF4-FFF2-40B4-BE49-F238E27FC236}">
                <a16:creationId xmlns:a16="http://schemas.microsoft.com/office/drawing/2014/main" id="{B99E6BED-5A4F-4BD7-9733-8DF4EA0BA336}"/>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A87819"/>
                </a:solidFill>
                <a:latin typeface="Arial"/>
                <a:ea typeface="Arial"/>
                <a:cs typeface="Arial"/>
              </a:defRPr>
            </a:pPr>
            <a:r>
              <a:rPr sz="975" b="1" i="0">
                <a:solidFill>
                  <a:srgbClr val="A87819"/>
                </a:solidFill>
                <a:latin typeface="Arial"/>
                <a:ea typeface="Arial"/>
                <a:cs typeface="Arial"/>
              </a:rPr>
              <a:t>Valid chest layer: midpoint / parallelogram</a:t>
            </a:r>
          </a:p>
        </p:txBody>
      </p:sp>
      <p:sp>
        <p:nvSpPr>
          <p:cNvPr id="29" name="">
            <a:extLst xmlns:a="http://schemas.openxmlformats.org/drawingml/2006/main">
              <a:ext uri="{FF2B5EF4-FFF2-40B4-BE49-F238E27FC236}">
                <a16:creationId xmlns:a16="http://schemas.microsoft.com/office/drawing/2014/main" id="{678CFCC3-A508-4111-9D4D-59296036CA67}"/>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09</a:t>
            </a:r>
          </a:p>
        </p:txBody>
      </p:sp>
    </p:spTree>
    <p:extLst>
      <p:ext uri="{BB962C8B-B14F-4D97-AF65-F5344CB8AC3E}">
        <p14:creationId xmlns:p14="http://schemas.microsoft.com/office/powerpoint/2010/main" val="1556667487"/>
      </p:ext>
    </p:extLst>
  </p:cSld>
  <p:transition spd="slow" advClick="1">
    <p:fade/>
  </p:transition>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3F66B4B-1BDA-40D1-A7E7-BC0AF6E287A1}"/>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2. Useful bisector predecessor</a:t>
            </a:r>
          </a:p>
        </p:txBody>
      </p:sp>
      <p:sp>
        <p:nvSpPr>
          <p:cNvPr id="2" name="">
            <a:extLst xmlns:a="http://schemas.openxmlformats.org/drawingml/2006/main">
              <a:ext uri="{FF2B5EF4-FFF2-40B4-BE49-F238E27FC236}">
                <a16:creationId xmlns:a16="http://schemas.microsoft.com/office/drawing/2014/main" id="{A307913E-2021-4A2E-82AF-07AD6D359F64}"/>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 pair’s other two vertices lie on the same side of its bisector</a:t>
            </a:r>
          </a:p>
        </p:txBody>
      </p:sp>
      <p:sp>
        <p:nvSpPr>
          <p:cNvPr id="3" name="">
            <a:extLst xmlns:a="http://schemas.openxmlformats.org/drawingml/2006/main">
              <a:ext uri="{FF2B5EF4-FFF2-40B4-BE49-F238E27FC236}">
                <a16:creationId xmlns:a16="http://schemas.microsoft.com/office/drawing/2014/main" id="{0089DB4E-4A67-4DF4-AE13-2D77C7F73DB4}"/>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487F7355-9103-41B3-98BC-079FB8904633}"/>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02C7C18D-E1D6-4006-918B-071E6AA12186}"/>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7F85A83D-16E5-4EB6-A94E-C1AE16E6654A}"/>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7925F8DA-ACD0-4910-9532-BF6C69615995}"/>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CA41824A-9DCF-428D-B42E-062A009B0CB4}"/>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A8388069-E27D-4E64-8B6E-E65F52248F09}"/>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C18A73E5-EEBD-4157-B630-7BF1C03ED8CC}"/>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75608CDA-E262-41DE-A23A-C99F8649106D}"/>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EDC36146-BC9A-481F-9FC0-5C78C18D4829}"/>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7F9EFC20-FF19-4C45-B3CF-0F4F99555A1F}"/>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8F4D1575-251B-4715-9DF6-9AC93F43AF0E}"/>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5" name="">
            <a:extLst xmlns:a="http://schemas.openxmlformats.org/drawingml/2006/main">
              <a:ext uri="{FF2B5EF4-FFF2-40B4-BE49-F238E27FC236}">
                <a16:creationId xmlns:a16="http://schemas.microsoft.com/office/drawing/2014/main" id="{50B5EB28-4A52-452E-83DA-6D8062A3D37F}"/>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6" name="">
            <a:extLst xmlns:a="http://schemas.openxmlformats.org/drawingml/2006/main">
              <a:ext uri="{FF2B5EF4-FFF2-40B4-BE49-F238E27FC236}">
                <a16:creationId xmlns:a16="http://schemas.microsoft.com/office/drawing/2014/main" id="{313C6D3C-25AA-403D-B702-C9EE18D6E7D5}"/>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7" name="">
            <a:extLst xmlns:a="http://schemas.openxmlformats.org/drawingml/2006/main">
              <a:ext uri="{FF2B5EF4-FFF2-40B4-BE49-F238E27FC236}">
                <a16:creationId xmlns:a16="http://schemas.microsoft.com/office/drawing/2014/main" id="{C596AAFD-8DF1-4465-9D50-37C145F8CF1E}"/>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44DCBE30-DF99-4A36-8101-AA1660E4D76E}"/>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19" name="">
            <a:extLst xmlns:a="http://schemas.openxmlformats.org/drawingml/2006/main">
              <a:ext uri="{FF2B5EF4-FFF2-40B4-BE49-F238E27FC236}">
                <a16:creationId xmlns:a16="http://schemas.microsoft.com/office/drawing/2014/main" id="{00ABF87B-F58C-4EFB-808E-A964AA9487F8}"/>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29920497-8970-4D0D-9D3E-ADDB9DC3CD54}"/>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1" name="">
            <a:extLst xmlns:a="http://schemas.openxmlformats.org/drawingml/2006/main">
              <a:ext uri="{FF2B5EF4-FFF2-40B4-BE49-F238E27FC236}">
                <a16:creationId xmlns:a16="http://schemas.microsoft.com/office/drawing/2014/main" id="{7E6FC341-8068-402F-B045-5979E25F2B71}"/>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292A473A-2667-427E-9386-7C5813541257}"/>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6E112B47-A4C5-453C-AA06-965652763441}"/>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4" name="">
            <a:extLst xmlns:a="http://schemas.openxmlformats.org/drawingml/2006/main">
              <a:ext uri="{FF2B5EF4-FFF2-40B4-BE49-F238E27FC236}">
                <a16:creationId xmlns:a16="http://schemas.microsoft.com/office/drawing/2014/main" id="{B4701242-A513-4FB2-8A18-8FC6572A0056}"/>
              </a:ext>
            </a:extLst>
          </p:cNvPr>
          <p:cNvSpPr>
            <a:spLocks xmlns:a="http://schemas.openxmlformats.org/drawingml/2006/main" noGrp="1"/>
          </p:cNvSpPr>
          <p:nvPr/>
        </p:nvSpPr>
        <p:spPr>
          <a:xfrm xmlns:a="http://schemas.openxmlformats.org/drawingml/2006/main">
            <a:off x="2446683" y="1633330"/>
            <a:ext cx="9525" cy="3826565"/>
          </a:xfrm>
          <a:custGeom xmlns:a="http://schemas.openxmlformats.org/drawingml/2006/main">
            <a:pathLst>
              <a:path w="9525" h="3826565">
                <a:moveTo>
                  <a:pt x="0" y="0"/>
                </a:moveTo>
                <a:lnTo>
                  <a:pt x="0" y="3826565"/>
                </a:lnTo>
              </a:path>
            </a:pathLst>
          </a:custGeom>
          <a:noFill xmlns:a="http://schemas.openxmlformats.org/drawingml/2006/main"/>
          <a:ln xmlns:a="http://schemas.openxmlformats.org/drawingml/2006/main" w="25718">
            <a:solidFill>
              <a:srgbClr val="BD5275"/>
            </a:solidFill>
            <a:prstDash val="dash"/>
          </a:ln>
        </p:spPr>
      </p:sp>
      <p:sp>
        <p:nvSpPr>
          <p:cNvPr id="25" name="">
            <a:extLst xmlns:a="http://schemas.openxmlformats.org/drawingml/2006/main">
              <a:ext uri="{FF2B5EF4-FFF2-40B4-BE49-F238E27FC236}">
                <a16:creationId xmlns:a16="http://schemas.microsoft.com/office/drawing/2014/main" id="{96BB83AB-B699-40B9-A79D-22A025D0A3DA}"/>
              </a:ext>
            </a:extLst>
          </p:cNvPr>
          <p:cNvSpPr>
            <a:spLocks xmlns:a="http://schemas.openxmlformats.org/drawingml/2006/main" noGrp="1"/>
          </p:cNvSpPr>
          <p:nvPr/>
        </p:nvSpPr>
        <p:spPr>
          <a:xfrm xmlns:a="http://schemas.openxmlformats.org/drawingml/2006/main">
            <a:off x="3615911" y="4184374"/>
            <a:ext cx="9525" cy="1275522"/>
          </a:xfrm>
          <a:custGeom xmlns:a="http://schemas.openxmlformats.org/drawingml/2006/main">
            <a:pathLst>
              <a:path w="9525" h="1275522">
                <a:moveTo>
                  <a:pt x="0" y="0"/>
                </a:moveTo>
                <a:lnTo>
                  <a:pt x="0" y="1275522"/>
                </a:lnTo>
              </a:path>
            </a:pathLst>
          </a:custGeom>
          <a:noFill xmlns:a="http://schemas.openxmlformats.org/drawingml/2006/main"/>
          <a:ln xmlns:a="http://schemas.openxmlformats.org/drawingml/2006/main" w="25718">
            <a:solidFill>
              <a:srgbClr val="BD5275"/>
            </a:solidFill>
            <a:prstDash val="dash"/>
          </a:ln>
        </p:spPr>
      </p:sp>
      <p:sp>
        <p:nvSpPr>
          <p:cNvPr id="26" name="">
            <a:extLst xmlns:a="http://schemas.openxmlformats.org/drawingml/2006/main">
              <a:ext uri="{FF2B5EF4-FFF2-40B4-BE49-F238E27FC236}">
                <a16:creationId xmlns:a16="http://schemas.microsoft.com/office/drawing/2014/main" id="{829BE633-711B-422C-AFD9-B76590F6915D}"/>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8E569C"/>
                </a:solidFill>
                <a:latin typeface="Arial"/>
                <a:ea typeface="Arial"/>
                <a:cs typeface="Arial"/>
              </a:defRPr>
            </a:pPr>
            <a:r>
              <a:rPr sz="2025" b="1" i="0">
                <a:solidFill>
                  <a:srgbClr val="8E569C"/>
                </a:solidFill>
                <a:latin typeface="Arial"/>
                <a:ea typeface="Arial"/>
                <a:cs typeface="Arial"/>
              </a:rPr>
              <a:t>Same-sided restoration</a:t>
            </a:r>
          </a:p>
        </p:txBody>
      </p:sp>
      <p:sp>
        <p:nvSpPr>
          <p:cNvPr id="27" name="">
            <a:extLst xmlns:a="http://schemas.openxmlformats.org/drawingml/2006/main">
              <a:ext uri="{FF2B5EF4-FFF2-40B4-BE49-F238E27FC236}">
                <a16:creationId xmlns:a16="http://schemas.microsoft.com/office/drawing/2014/main" id="{51DA38FD-38F9-45C8-8E6E-A6E8FD20F213}"/>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Project the two remaining vertices to the perpendicular bisector, then restore them in the same normal direction. The final center lies on the corresponding side.</a:t>
            </a:r>
          </a:p>
        </p:txBody>
      </p:sp>
      <p:sp>
        <p:nvSpPr>
          <p:cNvPr id="28" name="">
            <a:extLst xmlns:a="http://schemas.openxmlformats.org/drawingml/2006/main">
              <a:ext uri="{FF2B5EF4-FFF2-40B4-BE49-F238E27FC236}">
                <a16:creationId xmlns:a16="http://schemas.microsoft.com/office/drawing/2014/main" id="{55C8D14E-4E7B-4F33-84DD-370A00695C9E}"/>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8E569C"/>
            </a:solidFill>
          </a:ln>
        </p:spPr>
      </p:sp>
      <p:sp>
        <p:nvSpPr>
          <p:cNvPr id="29" name="">
            <a:extLst xmlns:a="http://schemas.openxmlformats.org/drawingml/2006/main">
              <a:ext uri="{FF2B5EF4-FFF2-40B4-BE49-F238E27FC236}">
                <a16:creationId xmlns:a16="http://schemas.microsoft.com/office/drawing/2014/main" id="{7435A23F-E715-4CB6-87C3-745D687FA081}"/>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8E569C"/>
                </a:solidFill>
                <a:latin typeface="Arial"/>
                <a:ea typeface="Arial"/>
                <a:cs typeface="Arial"/>
              </a:defRPr>
            </a:pPr>
            <a:r>
              <a:rPr sz="975" b="1" i="0">
                <a:solidFill>
                  <a:srgbClr val="8E569C"/>
                </a:solidFill>
                <a:latin typeface="Arial"/>
                <a:ea typeface="Arial"/>
                <a:cs typeface="Arial"/>
              </a:rPr>
              <a:t>Valid chest layer: useful bisectors</a:t>
            </a:r>
          </a:p>
        </p:txBody>
      </p:sp>
      <p:sp>
        <p:nvSpPr>
          <p:cNvPr id="30" name="">
            <a:extLst xmlns:a="http://schemas.openxmlformats.org/drawingml/2006/main">
              <a:ext uri="{FF2B5EF4-FFF2-40B4-BE49-F238E27FC236}">
                <a16:creationId xmlns:a16="http://schemas.microsoft.com/office/drawing/2014/main" id="{52C64992-7AB3-4134-9AF0-4814FA78B3E4}"/>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10</a:t>
            </a:r>
          </a:p>
        </p:txBody>
      </p:sp>
    </p:spTree>
    <p:extLst>
      <p:ext uri="{BB962C8B-B14F-4D97-AF65-F5344CB8AC3E}">
        <p14:creationId xmlns:p14="http://schemas.microsoft.com/office/powerpoint/2010/main" val="273329949"/>
      </p:ext>
    </p:extLst>
  </p:cSld>
  <p:transition spd="slow" advClick="1">
    <p:fade/>
  </p:transition>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B91EB67-E6A1-4860-B77E-4EDBFFF16B95}"/>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2. Useful bisector cuts</a:t>
            </a:r>
          </a:p>
        </p:txBody>
      </p:sp>
      <p:sp>
        <p:nvSpPr>
          <p:cNvPr id="2" name="">
            <a:extLst xmlns:a="http://schemas.openxmlformats.org/drawingml/2006/main">
              <a:ext uri="{FF2B5EF4-FFF2-40B4-BE49-F238E27FC236}">
                <a16:creationId xmlns:a16="http://schemas.microsoft.com/office/drawing/2014/main" id="{3A97E784-4D59-4E9F-8369-61D011279372}"/>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Intersect every available bisector half-space with the midpoint chest</a:t>
            </a:r>
          </a:p>
        </p:txBody>
      </p:sp>
      <p:sp>
        <p:nvSpPr>
          <p:cNvPr id="3" name="">
            <a:extLst xmlns:a="http://schemas.openxmlformats.org/drawingml/2006/main">
              <a:ext uri="{FF2B5EF4-FFF2-40B4-BE49-F238E27FC236}">
                <a16:creationId xmlns:a16="http://schemas.microsoft.com/office/drawing/2014/main" id="{EF48D0C9-33D5-46DB-AF2E-AA263901AA06}"/>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81F30E09-237D-48AB-9BE4-64D216048462}"/>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9D01E521-D067-4A86-B52E-AF53811F05CF}"/>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CDFB059E-B087-4BC5-8278-41C28DAEF5FC}"/>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ACFB9C46-5C85-4C4A-B918-EFEA359373B0}"/>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4BCCB3CD-29E4-4489-B72D-118A35E502D6}"/>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F1CF0389-C79C-483C-A30F-06FA9E794DC9}"/>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E35EF502-6365-4C9B-98BD-C0D1582C2F82}"/>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7B497774-A9BF-4D12-8758-EEA90A39A700}"/>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9D755D4F-8A20-464C-BC43-CBC12C081840}"/>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CCC2BD36-BD89-4DA1-B9C2-D2CE1A517E01}"/>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EB457F3E-FE4B-44E7-973D-06FEECAE08E3}"/>
              </a:ext>
            </a:extLst>
          </p:cNvPr>
          <p:cNvSpPr>
            <a:spLocks xmlns:a="http://schemas.openxmlformats.org/drawingml/2006/main" noGrp="1"/>
          </p:cNvSpPr>
          <p:nvPr/>
        </p:nvSpPr>
        <p:spPr>
          <a:xfrm xmlns:a="http://schemas.openxmlformats.org/drawingml/2006/main">
            <a:off x="1649482" y="2591346"/>
            <a:ext cx="2551043" cy="2018201"/>
          </a:xfrm>
          <a:custGeom xmlns:a="http://schemas.openxmlformats.org/drawingml/2006/main">
            <a:pathLst>
              <a:path w="2551043" h="2018201">
                <a:moveTo>
                  <a:pt x="2280" y="949792"/>
                </a:moveTo>
                <a:lnTo>
                  <a:pt x="0" y="955267"/>
                </a:lnTo>
                <a:lnTo>
                  <a:pt x="2551043" y="2018201"/>
                </a:lnTo>
                <a:lnTo>
                  <a:pt x="2551043" y="357366"/>
                </a:lnTo>
                <a:lnTo>
                  <a:pt x="2074556" y="0"/>
                </a:lnTo>
                <a:close/>
              </a:path>
            </a:pathLst>
          </a:custGeom>
          <a:solidFill xmlns:a="http://schemas.openxmlformats.org/drawingml/2006/main">
            <a:srgbClr val="8E569C">
              <a:alpha val="32000"/>
            </a:srgbClr>
          </a:solidFill>
          <a:ln xmlns:a="http://schemas.openxmlformats.org/drawingml/2006/main" w="28575">
            <a:solidFill>
              <a:srgbClr val="8E569C"/>
            </a:solidFill>
            <a:prstDash val="solid"/>
          </a:ln>
        </p:spPr>
      </p:sp>
      <p:sp>
        <p:nvSpPr>
          <p:cNvPr id="15" name="">
            <a:extLst xmlns:a="http://schemas.openxmlformats.org/drawingml/2006/main">
              <a:ext uri="{FF2B5EF4-FFF2-40B4-BE49-F238E27FC236}">
                <a16:creationId xmlns:a16="http://schemas.microsoft.com/office/drawing/2014/main" id="{1F4C2AED-A433-4B87-876D-4D7C4A5F75FD}"/>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16A51461-75DC-48B0-A382-275E128F19EC}"/>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1AB48891-55AC-4334-84D8-975E9010C623}"/>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1AC561D7-090C-47C6-91BE-007CF9E95E7D}"/>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CAECFAC9-DFD5-4D34-9066-AE7F74398C86}"/>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A1F7DCE4-E7E8-4517-9397-D1C08587604D}"/>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69FC9254-6340-447B-A188-8822EBD1100B}"/>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72709CD0-A1FC-4CAF-95A1-608B19AA3FB2}"/>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53CC6A6D-CC69-48AD-8534-B11B9496F359}"/>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BC201D41-7D5E-4E7B-B902-0DD57390917C}"/>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CAFCB181-B361-4C08-8F05-0A189D90F0D2}"/>
              </a:ext>
            </a:extLst>
          </p:cNvPr>
          <p:cNvSpPr>
            <a:spLocks xmlns:a="http://schemas.openxmlformats.org/drawingml/2006/main" noGrp="1"/>
          </p:cNvSpPr>
          <p:nvPr/>
        </p:nvSpPr>
        <p:spPr>
          <a:xfrm xmlns:a="http://schemas.openxmlformats.org/drawingml/2006/main">
            <a:off x="8382000" y="161925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8E569C"/>
                </a:solidFill>
                <a:latin typeface="Arial"/>
                <a:ea typeface="Arial"/>
                <a:cs typeface="Arial"/>
              </a:defRPr>
            </a:pPr>
            <a:r>
              <a:rPr sz="4050" b="1" i="0">
                <a:solidFill>
                  <a:srgbClr val="8E569C"/>
                </a:solidFill>
                <a:latin typeface="Arial"/>
                <a:ea typeface="Arial"/>
                <a:cs typeface="Arial"/>
              </a:rPr>
              <a:t>21.2397%</a:t>
            </a:r>
          </a:p>
        </p:txBody>
      </p:sp>
      <p:sp>
        <p:nvSpPr>
          <p:cNvPr id="26" name="">
            <a:extLst xmlns:a="http://schemas.openxmlformats.org/drawingml/2006/main">
              <a:ext uri="{FF2B5EF4-FFF2-40B4-BE49-F238E27FC236}">
                <a16:creationId xmlns:a16="http://schemas.microsoft.com/office/drawing/2014/main" id="{637AE960-8129-4941-91DC-C3CF4E7B633D}"/>
              </a:ext>
            </a:extLst>
          </p:cNvPr>
          <p:cNvSpPr>
            <a:spLocks xmlns:a="http://schemas.openxmlformats.org/drawingml/2006/main" noGrp="1"/>
          </p:cNvSpPr>
          <p:nvPr/>
        </p:nvSpPr>
        <p:spPr>
          <a:xfrm xmlns:a="http://schemas.openxmlformats.org/drawingml/2006/main">
            <a:off x="8572500" y="228600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midpoint + useful bisectors</a:t>
            </a:r>
          </a:p>
        </p:txBody>
      </p:sp>
      <p:sp>
        <p:nvSpPr>
          <p:cNvPr id="27" name="">
            <a:extLst xmlns:a="http://schemas.openxmlformats.org/drawingml/2006/main">
              <a:ext uri="{FF2B5EF4-FFF2-40B4-BE49-F238E27FC236}">
                <a16:creationId xmlns:a16="http://schemas.microsoft.com/office/drawing/2014/main" id="{21669687-75E3-498E-9286-81EA400A9875}"/>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8E569C"/>
            </a:solidFill>
          </a:ln>
        </p:spPr>
      </p:sp>
      <p:sp>
        <p:nvSpPr>
          <p:cNvPr id="28" name="">
            <a:extLst xmlns:a="http://schemas.openxmlformats.org/drawingml/2006/main">
              <a:ext uri="{FF2B5EF4-FFF2-40B4-BE49-F238E27FC236}">
                <a16:creationId xmlns:a16="http://schemas.microsoft.com/office/drawing/2014/main" id="{008905AD-A7CD-412D-973E-44A74BA2BDBF}"/>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8E569C"/>
                </a:solidFill>
                <a:latin typeface="Arial"/>
                <a:ea typeface="Arial"/>
                <a:cs typeface="Arial"/>
              </a:defRPr>
            </a:pPr>
            <a:r>
              <a:rPr sz="975" b="1" i="0">
                <a:solidFill>
                  <a:srgbClr val="8E569C"/>
                </a:solidFill>
                <a:latin typeface="Arial"/>
                <a:ea typeface="Arial"/>
                <a:cs typeface="Arial"/>
              </a:rPr>
              <a:t>Valid chest layer: useful bisectors</a:t>
            </a:r>
          </a:p>
        </p:txBody>
      </p:sp>
      <p:sp>
        <p:nvSpPr>
          <p:cNvPr id="29" name="">
            <a:extLst xmlns:a="http://schemas.openxmlformats.org/drawingml/2006/main">
              <a:ext uri="{FF2B5EF4-FFF2-40B4-BE49-F238E27FC236}">
                <a16:creationId xmlns:a16="http://schemas.microsoft.com/office/drawing/2014/main" id="{CE8AE148-E603-48FB-AB9F-0954CB3DFF8F}"/>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11</a:t>
            </a:r>
          </a:p>
        </p:txBody>
      </p:sp>
    </p:spTree>
    <p:extLst>
      <p:ext uri="{BB962C8B-B14F-4D97-AF65-F5344CB8AC3E}">
        <p14:creationId xmlns:p14="http://schemas.microsoft.com/office/powerpoint/2010/main" val="928466167"/>
      </p:ext>
    </p:extLst>
  </p:cSld>
  <p:transition spd="slow" advClick="1">
    <p:fade/>
  </p:transition>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A70949D-0CB4-420D-8477-28D0E8BFB212}"/>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3. Two-order network: first motion</a:t>
            </a:r>
          </a:p>
        </p:txBody>
      </p:sp>
      <p:sp>
        <p:nvSpPr>
          <p:cNvPr id="2" name="">
            <a:extLst xmlns:a="http://schemas.openxmlformats.org/drawingml/2006/main">
              <a:ext uri="{FF2B5EF4-FFF2-40B4-BE49-F238E27FC236}">
                <a16:creationId xmlns:a16="http://schemas.microsoft.com/office/drawing/2014/main" id="{7B53254F-6270-4BDA-BB1B-6E2C61613C9D}"/>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Keep the unknown intermediate center as a variable</a:t>
            </a:r>
          </a:p>
        </p:txBody>
      </p:sp>
      <p:sp>
        <p:nvSpPr>
          <p:cNvPr id="3" name="">
            <a:extLst xmlns:a="http://schemas.openxmlformats.org/drawingml/2006/main">
              <a:ext uri="{FF2B5EF4-FFF2-40B4-BE49-F238E27FC236}">
                <a16:creationId xmlns:a16="http://schemas.microsoft.com/office/drawing/2014/main" id="{88288E8E-B781-4811-8DDA-468FFBB82631}"/>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3FAED927-45A6-49E8-B7E3-A09C5AF5DF60}"/>
              </a:ext>
            </a:extLst>
          </p:cNvPr>
          <p:cNvSpPr>
            <a:spLocks xmlns:a="http://schemas.openxmlformats.org/drawingml/2006/main" noGrp="1"/>
          </p:cNvSpPr>
          <p:nvPr/>
        </p:nvSpPr>
        <p:spPr>
          <a:xfrm xmlns:a="http://schemas.openxmlformats.org/drawingml/2006/main">
            <a:off x="742950" y="2286000"/>
            <a:ext cx="1428750" cy="628650"/>
          </a:xfrm>
          <a:prstGeom xmlns:a="http://schemas.openxmlformats.org/drawingml/2006/main" prst="roundRect">
            <a:avLst>
              <a:gd name="adj" fmla="val 12121"/>
            </a:avLst>
          </a:prstGeom>
          <a:solidFill xmlns:a="http://schemas.openxmlformats.org/drawingml/2006/main">
            <a:srgbClr val="F4F6F8"/>
          </a:solidFill>
          <a:ln xmlns:a="http://schemas.openxmlformats.org/drawingml/2006/main" w="19050">
            <a:solidFill>
              <a:srgbClr val="3979AD"/>
            </a:solidFill>
          </a:ln>
        </p:spPr>
      </p:sp>
      <p:sp>
        <p:nvSpPr>
          <p:cNvPr id="5" name="">
            <a:extLst xmlns:a="http://schemas.openxmlformats.org/drawingml/2006/main">
              <a:ext uri="{FF2B5EF4-FFF2-40B4-BE49-F238E27FC236}">
                <a16:creationId xmlns:a16="http://schemas.microsoft.com/office/drawing/2014/main" id="{DD6CE3ED-88A1-413D-8C9F-7AECC63C315B}"/>
              </a:ext>
            </a:extLst>
          </p:cNvPr>
          <p:cNvSpPr>
            <a:spLocks xmlns:a="http://schemas.openxmlformats.org/drawingml/2006/main" noGrp="1"/>
          </p:cNvSpPr>
          <p:nvPr/>
        </p:nvSpPr>
        <p:spPr>
          <a:xfrm xmlns:a="http://schemas.openxmlformats.org/drawingml/2006/main">
            <a:off x="838200" y="23622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3979AD"/>
                </a:solidFill>
                <a:latin typeface="Arial"/>
                <a:ea typeface="Arial"/>
                <a:cs typeface="Arial"/>
              </a:defRPr>
            </a:pPr>
            <a:r>
              <a:rPr sz="1500" b="1" i="0">
                <a:solidFill>
                  <a:srgbClr val="3979AD"/>
                </a:solidFill>
                <a:latin typeface="Arial"/>
                <a:ea typeface="Arial"/>
                <a:cs typeface="Arial"/>
              </a:rPr>
              <a:t>P₀</a:t>
            </a:r>
          </a:p>
        </p:txBody>
      </p:sp>
      <p:sp>
        <p:nvSpPr>
          <p:cNvPr id="6" name="">
            <a:extLst xmlns:a="http://schemas.openxmlformats.org/drawingml/2006/main">
              <a:ext uri="{FF2B5EF4-FFF2-40B4-BE49-F238E27FC236}">
                <a16:creationId xmlns:a16="http://schemas.microsoft.com/office/drawing/2014/main" id="{3B99157F-6DBA-4974-83A1-157AD4BEFB23}"/>
              </a:ext>
            </a:extLst>
          </p:cNvPr>
          <p:cNvSpPr>
            <a:spLocks xmlns:a="http://schemas.openxmlformats.org/drawingml/2006/main" noGrp="1"/>
          </p:cNvSpPr>
          <p:nvPr/>
        </p:nvSpPr>
        <p:spPr>
          <a:xfrm xmlns:a="http://schemas.openxmlformats.org/drawingml/2006/main">
            <a:off x="819150" y="260985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i="0">
                <a:solidFill>
                  <a:srgbClr val="536475"/>
                </a:solidFill>
                <a:latin typeface="Arial"/>
                <a:ea typeface="Arial"/>
                <a:cs typeface="Arial"/>
              </a:defRPr>
            </a:pPr>
            <a:r>
              <a:rPr sz="975" b="0" i="0">
                <a:solidFill>
                  <a:srgbClr val="536475"/>
                </a:solidFill>
                <a:latin typeface="Arial"/>
                <a:ea typeface="Arial"/>
                <a:cs typeface="Arial"/>
              </a:rPr>
              <a:t>equilateral + forced center</a:t>
            </a:r>
          </a:p>
        </p:txBody>
      </p:sp>
      <p:sp>
        <p:nvSpPr>
          <p:cNvPr id="7" name="">
            <a:extLst xmlns:a="http://schemas.openxmlformats.org/drawingml/2006/main">
              <a:ext uri="{FF2B5EF4-FFF2-40B4-BE49-F238E27FC236}">
                <a16:creationId xmlns:a16="http://schemas.microsoft.com/office/drawing/2014/main" id="{C08B4EBE-5416-486C-AE72-5FEAA92A3E43}"/>
              </a:ext>
            </a:extLst>
          </p:cNvPr>
          <p:cNvSpPr>
            <a:spLocks xmlns:a="http://schemas.openxmlformats.org/drawingml/2006/main" noGrp="1"/>
          </p:cNvSpPr>
          <p:nvPr/>
        </p:nvSpPr>
        <p:spPr>
          <a:xfrm xmlns:a="http://schemas.openxmlformats.org/drawingml/2006/main">
            <a:off x="3286125" y="2286000"/>
            <a:ext cx="1428750" cy="628650"/>
          </a:xfrm>
          <a:prstGeom xmlns:a="http://schemas.openxmlformats.org/drawingml/2006/main" prst="roundRect">
            <a:avLst>
              <a:gd name="adj" fmla="val 12121"/>
            </a:avLst>
          </a:prstGeom>
          <a:solidFill xmlns:a="http://schemas.openxmlformats.org/drawingml/2006/main">
            <a:srgbClr val="F4F6F8"/>
          </a:solidFill>
          <a:ln xmlns:a="http://schemas.openxmlformats.org/drawingml/2006/main" w="19050">
            <a:solidFill>
              <a:srgbClr val="3979AD"/>
            </a:solidFill>
          </a:ln>
        </p:spPr>
      </p:sp>
      <p:sp>
        <p:nvSpPr>
          <p:cNvPr id="8" name="">
            <a:extLst xmlns:a="http://schemas.openxmlformats.org/drawingml/2006/main">
              <a:ext uri="{FF2B5EF4-FFF2-40B4-BE49-F238E27FC236}">
                <a16:creationId xmlns:a16="http://schemas.microsoft.com/office/drawing/2014/main" id="{4A4DBBA0-A41E-4923-98FB-D96229C101CC}"/>
              </a:ext>
            </a:extLst>
          </p:cNvPr>
          <p:cNvSpPr>
            <a:spLocks xmlns:a="http://schemas.openxmlformats.org/drawingml/2006/main" noGrp="1"/>
          </p:cNvSpPr>
          <p:nvPr/>
        </p:nvSpPr>
        <p:spPr>
          <a:xfrm xmlns:a="http://schemas.openxmlformats.org/drawingml/2006/main">
            <a:off x="3381375" y="23622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3979AD"/>
                </a:solidFill>
                <a:latin typeface="Arial"/>
                <a:ea typeface="Arial"/>
                <a:cs typeface="Arial"/>
              </a:defRPr>
            </a:pPr>
            <a:r>
              <a:rPr sz="1500" b="1" i="0">
                <a:solidFill>
                  <a:srgbClr val="3979AD"/>
                </a:solidFill>
                <a:latin typeface="Arial"/>
                <a:ea typeface="Arial"/>
                <a:cs typeface="Arial"/>
              </a:rPr>
              <a:t>P₁</a:t>
            </a:r>
          </a:p>
        </p:txBody>
      </p:sp>
      <p:sp>
        <p:nvSpPr>
          <p:cNvPr id="9" name="">
            <a:extLst xmlns:a="http://schemas.openxmlformats.org/drawingml/2006/main">
              <a:ext uri="{FF2B5EF4-FFF2-40B4-BE49-F238E27FC236}">
                <a16:creationId xmlns:a16="http://schemas.microsoft.com/office/drawing/2014/main" id="{5C0F1D77-ED4F-4C1B-88D8-0AE6D8686CB1}"/>
              </a:ext>
            </a:extLst>
          </p:cNvPr>
          <p:cNvSpPr>
            <a:spLocks xmlns:a="http://schemas.openxmlformats.org/drawingml/2006/main" noGrp="1"/>
          </p:cNvSpPr>
          <p:nvPr/>
        </p:nvSpPr>
        <p:spPr>
          <a:xfrm xmlns:a="http://schemas.openxmlformats.org/drawingml/2006/main">
            <a:off x="3362325" y="260985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i="0">
                <a:solidFill>
                  <a:srgbClr val="536475"/>
                </a:solidFill>
                <a:latin typeface="Arial"/>
                <a:ea typeface="Arial"/>
                <a:cs typeface="Arial"/>
              </a:defRPr>
            </a:pPr>
            <a:r>
              <a:rPr sz="975" b="0" i="0">
                <a:solidFill>
                  <a:srgbClr val="536475"/>
                </a:solidFill>
                <a:latin typeface="Arial"/>
                <a:ea typeface="Arial"/>
                <a:cs typeface="Arial"/>
              </a:rPr>
              <a:t>move C first</a:t>
            </a:r>
          </a:p>
        </p:txBody>
      </p:sp>
      <p:sp>
        <p:nvSpPr>
          <p:cNvPr id="10" name="">
            <a:extLst xmlns:a="http://schemas.openxmlformats.org/drawingml/2006/main">
              <a:ext uri="{FF2B5EF4-FFF2-40B4-BE49-F238E27FC236}">
                <a16:creationId xmlns:a16="http://schemas.microsoft.com/office/drawing/2014/main" id="{DDBBBBC3-A3C4-4706-98FC-2833F5FFD74F}"/>
              </a:ext>
            </a:extLst>
          </p:cNvPr>
          <p:cNvSpPr>
            <a:spLocks xmlns:a="http://schemas.openxmlformats.org/drawingml/2006/main" noGrp="1"/>
          </p:cNvSpPr>
          <p:nvPr/>
        </p:nvSpPr>
        <p:spPr>
          <a:xfrm xmlns:a="http://schemas.openxmlformats.org/drawingml/2006/main">
            <a:off x="5857875" y="2286000"/>
            <a:ext cx="1428750" cy="628650"/>
          </a:xfrm>
          <a:prstGeom xmlns:a="http://schemas.openxmlformats.org/drawingml/2006/main" prst="roundRect">
            <a:avLst>
              <a:gd name="adj" fmla="val 12121"/>
            </a:avLst>
          </a:prstGeom>
          <a:solidFill xmlns:a="http://schemas.openxmlformats.org/drawingml/2006/main">
            <a:srgbClr val="F4F6F8"/>
          </a:solidFill>
          <a:ln xmlns:a="http://schemas.openxmlformats.org/drawingml/2006/main" w="19050">
            <a:solidFill>
              <a:srgbClr val="158368"/>
            </a:solidFill>
          </a:ln>
        </p:spPr>
      </p:sp>
      <p:sp>
        <p:nvSpPr>
          <p:cNvPr id="11" name="">
            <a:extLst xmlns:a="http://schemas.openxmlformats.org/drawingml/2006/main">
              <a:ext uri="{FF2B5EF4-FFF2-40B4-BE49-F238E27FC236}">
                <a16:creationId xmlns:a16="http://schemas.microsoft.com/office/drawing/2014/main" id="{6A06B8EE-99C0-4F40-80F1-D522D9BED4F9}"/>
              </a:ext>
            </a:extLst>
          </p:cNvPr>
          <p:cNvSpPr>
            <a:spLocks xmlns:a="http://schemas.openxmlformats.org/drawingml/2006/main" noGrp="1"/>
          </p:cNvSpPr>
          <p:nvPr/>
        </p:nvSpPr>
        <p:spPr>
          <a:xfrm xmlns:a="http://schemas.openxmlformats.org/drawingml/2006/main">
            <a:off x="5953125" y="23622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158368"/>
                </a:solidFill>
                <a:latin typeface="Arial"/>
                <a:ea typeface="Arial"/>
                <a:cs typeface="Arial"/>
              </a:defRPr>
            </a:pPr>
            <a:r>
              <a:rPr sz="1500" b="1" i="0">
                <a:solidFill>
                  <a:srgbClr val="158368"/>
                </a:solidFill>
                <a:latin typeface="Arial"/>
                <a:ea typeface="Arial"/>
                <a:cs typeface="Arial"/>
              </a:rPr>
              <a:t>P₂</a:t>
            </a:r>
          </a:p>
        </p:txBody>
      </p:sp>
      <p:sp>
        <p:nvSpPr>
          <p:cNvPr id="12" name="">
            <a:extLst xmlns:a="http://schemas.openxmlformats.org/drawingml/2006/main">
              <a:ext uri="{FF2B5EF4-FFF2-40B4-BE49-F238E27FC236}">
                <a16:creationId xmlns:a16="http://schemas.microsoft.com/office/drawing/2014/main" id="{B3889482-4C9D-46E7-8E24-93A6B9BE1A9F}"/>
              </a:ext>
            </a:extLst>
          </p:cNvPr>
          <p:cNvSpPr>
            <a:spLocks xmlns:a="http://schemas.openxmlformats.org/drawingml/2006/main" noGrp="1"/>
          </p:cNvSpPr>
          <p:nvPr/>
        </p:nvSpPr>
        <p:spPr>
          <a:xfrm xmlns:a="http://schemas.openxmlformats.org/drawingml/2006/main">
            <a:off x="5934075" y="260985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i="0">
                <a:solidFill>
                  <a:srgbClr val="536475"/>
                </a:solidFill>
                <a:latin typeface="Arial"/>
                <a:ea typeface="Arial"/>
                <a:cs typeface="Arial"/>
              </a:defRPr>
            </a:pPr>
            <a:r>
              <a:rPr sz="975" b="0" i="0">
                <a:solidFill>
                  <a:srgbClr val="536475"/>
                </a:solidFill>
                <a:latin typeface="Arial"/>
                <a:ea typeface="Arial"/>
                <a:cs typeface="Arial"/>
              </a:rPr>
              <a:t>move D second</a:t>
            </a:r>
          </a:p>
        </p:txBody>
      </p:sp>
      <p:sp>
        <p:nvSpPr>
          <p:cNvPr id="13" name="">
            <a:extLst xmlns:a="http://schemas.openxmlformats.org/drawingml/2006/main">
              <a:ext uri="{FF2B5EF4-FFF2-40B4-BE49-F238E27FC236}">
                <a16:creationId xmlns:a16="http://schemas.microsoft.com/office/drawing/2014/main" id="{D975979A-8563-445C-AD13-B13C0E55C384}"/>
              </a:ext>
            </a:extLst>
          </p:cNvPr>
          <p:cNvSpPr>
            <a:spLocks xmlns:a="http://schemas.openxmlformats.org/drawingml/2006/main" noGrp="1"/>
          </p:cNvSpPr>
          <p:nvPr/>
        </p:nvSpPr>
        <p:spPr>
          <a:xfrm xmlns:a="http://schemas.openxmlformats.org/drawingml/2006/main">
            <a:off x="2171700" y="2600325"/>
            <a:ext cx="1114425" cy="9525"/>
          </a:xfrm>
          <a:custGeom xmlns:a="http://schemas.openxmlformats.org/drawingml/2006/main">
            <a:pathLst>
              <a:path w="1114425" h="9525">
                <a:moveTo>
                  <a:pt x="0" y="0"/>
                </a:moveTo>
                <a:lnTo>
                  <a:pt x="1114425" y="0"/>
                </a:lnTo>
              </a:path>
            </a:pathLst>
          </a:custGeom>
          <a:noFill xmlns:a="http://schemas.openxmlformats.org/drawingml/2006/main"/>
          <a:ln xmlns:a="http://schemas.openxmlformats.org/drawingml/2006/main" w="24765">
            <a:solidFill>
              <a:srgbClr val="BD5275"/>
            </a:solidFill>
          </a:ln>
        </p:spPr>
      </p:sp>
      <p:sp>
        <p:nvSpPr>
          <p:cNvPr id="14" name="">
            <a:extLst xmlns:a="http://schemas.openxmlformats.org/drawingml/2006/main">
              <a:ext uri="{FF2B5EF4-FFF2-40B4-BE49-F238E27FC236}">
                <a16:creationId xmlns:a16="http://schemas.microsoft.com/office/drawing/2014/main" id="{BD7096B0-8AF3-4438-8CC7-AEC3F386F6C7}"/>
              </a:ext>
            </a:extLst>
          </p:cNvPr>
          <p:cNvSpPr>
            <a:spLocks xmlns:a="http://schemas.openxmlformats.org/drawingml/2006/main" noGrp="1"/>
          </p:cNvSpPr>
          <p:nvPr/>
        </p:nvSpPr>
        <p:spPr>
          <a:xfrm xmlns:a="http://schemas.openxmlformats.org/drawingml/2006/main">
            <a:off x="3174627" y="2546465"/>
            <a:ext cx="111498" cy="107719"/>
          </a:xfrm>
          <a:custGeom xmlns:a="http://schemas.openxmlformats.org/drawingml/2006/main">
            <a:pathLst>
              <a:path w="111498" h="107719">
                <a:moveTo>
                  <a:pt x="0" y="107719"/>
                </a:moveTo>
                <a:lnTo>
                  <a:pt x="111498" y="53860"/>
                </a:lnTo>
                <a:lnTo>
                  <a:pt x="0" y="0"/>
                </a:lnTo>
              </a:path>
            </a:pathLst>
          </a:custGeom>
          <a:noFill xmlns:a="http://schemas.openxmlformats.org/drawingml/2006/main"/>
          <a:ln xmlns:a="http://schemas.openxmlformats.org/drawingml/2006/main" w="24765">
            <a:solidFill>
              <a:srgbClr val="BD5275"/>
            </a:solidFill>
          </a:ln>
        </p:spPr>
      </p:sp>
      <p:sp>
        <p:nvSpPr>
          <p:cNvPr id="15" name="">
            <a:extLst xmlns:a="http://schemas.openxmlformats.org/drawingml/2006/main">
              <a:ext uri="{FF2B5EF4-FFF2-40B4-BE49-F238E27FC236}">
                <a16:creationId xmlns:a16="http://schemas.microsoft.com/office/drawing/2014/main" id="{C8B27356-9B84-4C84-815F-0BDB6AFFB821}"/>
              </a:ext>
            </a:extLst>
          </p:cNvPr>
          <p:cNvSpPr>
            <a:spLocks xmlns:a="http://schemas.openxmlformats.org/drawingml/2006/main" noGrp="1"/>
          </p:cNvSpPr>
          <p:nvPr/>
        </p:nvSpPr>
        <p:spPr>
          <a:xfrm xmlns:a="http://schemas.openxmlformats.org/drawingml/2006/main">
            <a:off x="4714875" y="2600325"/>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24765">
            <a:solidFill>
              <a:srgbClr val="BD5275"/>
            </a:solidFill>
          </a:ln>
        </p:spPr>
      </p:sp>
      <p:sp>
        <p:nvSpPr>
          <p:cNvPr id="16" name="">
            <a:extLst xmlns:a="http://schemas.openxmlformats.org/drawingml/2006/main">
              <a:ext uri="{FF2B5EF4-FFF2-40B4-BE49-F238E27FC236}">
                <a16:creationId xmlns:a16="http://schemas.microsoft.com/office/drawing/2014/main" id="{4AC4626D-F9D4-483C-96A6-7AE1BD2FBA88}"/>
              </a:ext>
            </a:extLst>
          </p:cNvPr>
          <p:cNvSpPr>
            <a:spLocks xmlns:a="http://schemas.openxmlformats.org/drawingml/2006/main" noGrp="1"/>
          </p:cNvSpPr>
          <p:nvPr/>
        </p:nvSpPr>
        <p:spPr>
          <a:xfrm xmlns:a="http://schemas.openxmlformats.org/drawingml/2006/main">
            <a:off x="5746377" y="2546465"/>
            <a:ext cx="111498" cy="107719"/>
          </a:xfrm>
          <a:custGeom xmlns:a="http://schemas.openxmlformats.org/drawingml/2006/main">
            <a:pathLst>
              <a:path w="111498" h="107719">
                <a:moveTo>
                  <a:pt x="0" y="107719"/>
                </a:moveTo>
                <a:lnTo>
                  <a:pt x="111498" y="53860"/>
                </a:lnTo>
                <a:lnTo>
                  <a:pt x="0" y="0"/>
                </a:lnTo>
              </a:path>
            </a:pathLst>
          </a:custGeom>
          <a:noFill xmlns:a="http://schemas.openxmlformats.org/drawingml/2006/main"/>
          <a:ln xmlns:a="http://schemas.openxmlformats.org/drawingml/2006/main" w="24765">
            <a:solidFill>
              <a:srgbClr val="BD5275"/>
            </a:solidFill>
          </a:ln>
        </p:spPr>
      </p:sp>
      <p:sp>
        <p:nvSpPr>
          <p:cNvPr id="17" name="">
            <a:extLst xmlns:a="http://schemas.openxmlformats.org/drawingml/2006/main">
              <a:ext uri="{FF2B5EF4-FFF2-40B4-BE49-F238E27FC236}">
                <a16:creationId xmlns:a16="http://schemas.microsoft.com/office/drawing/2014/main" id="{80D17594-325B-4AAC-A359-4497F6A9BA03}"/>
              </a:ext>
            </a:extLst>
          </p:cNvPr>
          <p:cNvSpPr>
            <a:spLocks xmlns:a="http://schemas.openxmlformats.org/drawingml/2006/main" noGrp="1"/>
          </p:cNvSpPr>
          <p:nvPr/>
        </p:nvSpPr>
        <p:spPr>
          <a:xfrm xmlns:a="http://schemas.openxmlformats.org/drawingml/2006/main">
            <a:off x="762000" y="352425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0" i="0">
                <a:solidFill>
                  <a:srgbClr val="536475"/>
                </a:solidFill>
                <a:latin typeface="Arial"/>
                <a:ea typeface="Arial"/>
                <a:cs typeface="Arial"/>
              </a:defRPr>
            </a:pPr>
            <a:r>
              <a:rPr sz="1875" b="0" i="0">
                <a:solidFill>
                  <a:srgbClr val="536475"/>
                </a:solidFill>
                <a:latin typeface="Arial"/>
                <a:ea typeface="Arial"/>
                <a:cs typeface="Arial"/>
              </a:rPr>
              <a:t>The node chest R_C bounds the intermediate center before the final displacement produces a support inequality.</a:t>
            </a:r>
          </a:p>
        </p:txBody>
      </p:sp>
      <p:sp>
        <p:nvSpPr>
          <p:cNvPr id="18" name="">
            <a:extLst xmlns:a="http://schemas.openxmlformats.org/drawingml/2006/main">
              <a:ext uri="{FF2B5EF4-FFF2-40B4-BE49-F238E27FC236}">
                <a16:creationId xmlns:a16="http://schemas.microsoft.com/office/drawing/2014/main" id="{03ACA7EF-C962-41F0-8EAA-4108A80BE54F}"/>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3979AD"/>
                </a:solidFill>
                <a:latin typeface="Arial"/>
                <a:ea typeface="Arial"/>
                <a:cs typeface="Arial"/>
              </a:defRPr>
            </a:pPr>
            <a:r>
              <a:rPr sz="2025" b="1" i="0">
                <a:solidFill>
                  <a:srgbClr val="3979AD"/>
                </a:solidFill>
                <a:latin typeface="Arial"/>
                <a:ea typeface="Arial"/>
                <a:cs typeface="Arial"/>
              </a:rPr>
              <a:t>Intermediate node</a:t>
            </a:r>
          </a:p>
        </p:txBody>
      </p:sp>
      <p:sp>
        <p:nvSpPr>
          <p:cNvPr id="19" name="">
            <a:extLst xmlns:a="http://schemas.openxmlformats.org/drawingml/2006/main">
              <a:ext uri="{FF2B5EF4-FFF2-40B4-BE49-F238E27FC236}">
                <a16:creationId xmlns:a16="http://schemas.microsoft.com/office/drawing/2014/main" id="{A39402CA-78E0-45D3-A00E-2A07505C4884}"/>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The two endpoint motions are not independent. Retaining the node chest avoids the invalid shortcut that would replace it with an OR of two endpoint half-planes.</a:t>
            </a:r>
          </a:p>
        </p:txBody>
      </p:sp>
      <p:sp>
        <p:nvSpPr>
          <p:cNvPr id="20" name="">
            <a:extLst xmlns:a="http://schemas.openxmlformats.org/drawingml/2006/main">
              <a:ext uri="{FF2B5EF4-FFF2-40B4-BE49-F238E27FC236}">
                <a16:creationId xmlns:a16="http://schemas.microsoft.com/office/drawing/2014/main" id="{F68299B9-07B9-4F2F-81D3-E6D60D20CBA0}"/>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3979AD"/>
            </a:solidFill>
          </a:ln>
        </p:spPr>
      </p:sp>
      <p:sp>
        <p:nvSpPr>
          <p:cNvPr id="21" name="">
            <a:extLst xmlns:a="http://schemas.openxmlformats.org/drawingml/2006/main">
              <a:ext uri="{FF2B5EF4-FFF2-40B4-BE49-F238E27FC236}">
                <a16:creationId xmlns:a16="http://schemas.microsoft.com/office/drawing/2014/main" id="{36A6B14F-E0AF-448D-9ACB-2DF9096DE511}"/>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3979AD"/>
                </a:solidFill>
                <a:latin typeface="Arial"/>
                <a:ea typeface="Arial"/>
                <a:cs typeface="Arial"/>
              </a:defRPr>
            </a:pPr>
            <a:r>
              <a:rPr sz="975" b="1" i="0">
                <a:solidFill>
                  <a:srgbClr val="3979AD"/>
                </a:solidFill>
                <a:latin typeface="Arial"/>
                <a:ea typeface="Arial"/>
                <a:cs typeface="Arial"/>
              </a:rPr>
              <a:t>Valid chest layer: two-order network</a:t>
            </a:r>
          </a:p>
        </p:txBody>
      </p:sp>
      <p:sp>
        <p:nvSpPr>
          <p:cNvPr id="22" name="">
            <a:extLst xmlns:a="http://schemas.openxmlformats.org/drawingml/2006/main">
              <a:ext uri="{FF2B5EF4-FFF2-40B4-BE49-F238E27FC236}">
                <a16:creationId xmlns:a16="http://schemas.microsoft.com/office/drawing/2014/main" id="{1A13B877-C3B3-4BAA-9BF7-BC8E9E62D5B9}"/>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12</a:t>
            </a:r>
          </a:p>
        </p:txBody>
      </p:sp>
    </p:spTree>
    <p:extLst>
      <p:ext uri="{BB962C8B-B14F-4D97-AF65-F5344CB8AC3E}">
        <p14:creationId xmlns:p14="http://schemas.microsoft.com/office/powerpoint/2010/main" val="1339374288"/>
      </p:ext>
    </p:extLst>
  </p:cSld>
  <p:transition spd="slow" advClick="1">
    <p:fade/>
  </p:transition>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FE665EC-1F7D-4F0B-88C6-A49895FCE3D9}"/>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3. Two-order network: reverse motion</a:t>
            </a:r>
          </a:p>
        </p:txBody>
      </p:sp>
      <p:sp>
        <p:nvSpPr>
          <p:cNvPr id="2" name="">
            <a:extLst xmlns:a="http://schemas.openxmlformats.org/drawingml/2006/main">
              <a:ext uri="{FF2B5EF4-FFF2-40B4-BE49-F238E27FC236}">
                <a16:creationId xmlns:a16="http://schemas.microsoft.com/office/drawing/2014/main" id="{11F76B6B-B54F-4093-90B5-FA65DEEC948B}"/>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Repeat with D first, then intersect both motion orders</a:t>
            </a:r>
          </a:p>
        </p:txBody>
      </p:sp>
      <p:sp>
        <p:nvSpPr>
          <p:cNvPr id="3" name="">
            <a:extLst xmlns:a="http://schemas.openxmlformats.org/drawingml/2006/main">
              <a:ext uri="{FF2B5EF4-FFF2-40B4-BE49-F238E27FC236}">
                <a16:creationId xmlns:a16="http://schemas.microsoft.com/office/drawing/2014/main" id="{F75FD00F-A335-4569-A13F-28B4B9EB3B75}"/>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F6319EE3-E2BA-4D4B-B4E3-4DE87899D9B8}"/>
              </a:ext>
            </a:extLst>
          </p:cNvPr>
          <p:cNvSpPr>
            <a:spLocks xmlns:a="http://schemas.openxmlformats.org/drawingml/2006/main" noGrp="1"/>
          </p:cNvSpPr>
          <p:nvPr/>
        </p:nvSpPr>
        <p:spPr>
          <a:xfrm xmlns:a="http://schemas.openxmlformats.org/drawingml/2006/main">
            <a:off x="742950" y="2286000"/>
            <a:ext cx="1428750" cy="628650"/>
          </a:xfrm>
          <a:prstGeom xmlns:a="http://schemas.openxmlformats.org/drawingml/2006/main" prst="roundRect">
            <a:avLst>
              <a:gd name="adj" fmla="val 12121"/>
            </a:avLst>
          </a:prstGeom>
          <a:solidFill xmlns:a="http://schemas.openxmlformats.org/drawingml/2006/main">
            <a:srgbClr val="F4F6F8"/>
          </a:solidFill>
          <a:ln xmlns:a="http://schemas.openxmlformats.org/drawingml/2006/main" w="19050">
            <a:solidFill>
              <a:srgbClr val="3979AD"/>
            </a:solidFill>
          </a:ln>
        </p:spPr>
      </p:sp>
      <p:sp>
        <p:nvSpPr>
          <p:cNvPr id="5" name="">
            <a:extLst xmlns:a="http://schemas.openxmlformats.org/drawingml/2006/main">
              <a:ext uri="{FF2B5EF4-FFF2-40B4-BE49-F238E27FC236}">
                <a16:creationId xmlns:a16="http://schemas.microsoft.com/office/drawing/2014/main" id="{3DC7D0ED-7B2A-4373-9F21-57D9F65761C9}"/>
              </a:ext>
            </a:extLst>
          </p:cNvPr>
          <p:cNvSpPr>
            <a:spLocks xmlns:a="http://schemas.openxmlformats.org/drawingml/2006/main" noGrp="1"/>
          </p:cNvSpPr>
          <p:nvPr/>
        </p:nvSpPr>
        <p:spPr>
          <a:xfrm xmlns:a="http://schemas.openxmlformats.org/drawingml/2006/main">
            <a:off x="838200" y="23622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3979AD"/>
                </a:solidFill>
                <a:latin typeface="Arial"/>
                <a:ea typeface="Arial"/>
                <a:cs typeface="Arial"/>
              </a:defRPr>
            </a:pPr>
            <a:r>
              <a:rPr sz="1500" b="1" i="0">
                <a:solidFill>
                  <a:srgbClr val="3979AD"/>
                </a:solidFill>
                <a:latin typeface="Arial"/>
                <a:ea typeface="Arial"/>
                <a:cs typeface="Arial"/>
              </a:rPr>
              <a:t>P₀</a:t>
            </a:r>
          </a:p>
        </p:txBody>
      </p:sp>
      <p:sp>
        <p:nvSpPr>
          <p:cNvPr id="6" name="">
            <a:extLst xmlns:a="http://schemas.openxmlformats.org/drawingml/2006/main">
              <a:ext uri="{FF2B5EF4-FFF2-40B4-BE49-F238E27FC236}">
                <a16:creationId xmlns:a16="http://schemas.microsoft.com/office/drawing/2014/main" id="{EB83F959-F397-4770-9B8D-E1F2F9486E83}"/>
              </a:ext>
            </a:extLst>
          </p:cNvPr>
          <p:cNvSpPr>
            <a:spLocks xmlns:a="http://schemas.openxmlformats.org/drawingml/2006/main" noGrp="1"/>
          </p:cNvSpPr>
          <p:nvPr/>
        </p:nvSpPr>
        <p:spPr>
          <a:xfrm xmlns:a="http://schemas.openxmlformats.org/drawingml/2006/main">
            <a:off x="819150" y="260985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i="0">
                <a:solidFill>
                  <a:srgbClr val="536475"/>
                </a:solidFill>
                <a:latin typeface="Arial"/>
                <a:ea typeface="Arial"/>
                <a:cs typeface="Arial"/>
              </a:defRPr>
            </a:pPr>
            <a:r>
              <a:rPr sz="975" b="0" i="0">
                <a:solidFill>
                  <a:srgbClr val="536475"/>
                </a:solidFill>
                <a:latin typeface="Arial"/>
                <a:ea typeface="Arial"/>
                <a:cs typeface="Arial"/>
              </a:rPr>
              <a:t>equilateral + forced center</a:t>
            </a:r>
          </a:p>
        </p:txBody>
      </p:sp>
      <p:sp>
        <p:nvSpPr>
          <p:cNvPr id="7" name="">
            <a:extLst xmlns:a="http://schemas.openxmlformats.org/drawingml/2006/main">
              <a:ext uri="{FF2B5EF4-FFF2-40B4-BE49-F238E27FC236}">
                <a16:creationId xmlns:a16="http://schemas.microsoft.com/office/drawing/2014/main" id="{7EAFD2F4-C47E-4BE3-B3E1-A2FC8DBA6AE9}"/>
              </a:ext>
            </a:extLst>
          </p:cNvPr>
          <p:cNvSpPr>
            <a:spLocks xmlns:a="http://schemas.openxmlformats.org/drawingml/2006/main" noGrp="1"/>
          </p:cNvSpPr>
          <p:nvPr/>
        </p:nvSpPr>
        <p:spPr>
          <a:xfrm xmlns:a="http://schemas.openxmlformats.org/drawingml/2006/main">
            <a:off x="3286125" y="2286000"/>
            <a:ext cx="1428750" cy="628650"/>
          </a:xfrm>
          <a:prstGeom xmlns:a="http://schemas.openxmlformats.org/drawingml/2006/main" prst="roundRect">
            <a:avLst>
              <a:gd name="adj" fmla="val 12121"/>
            </a:avLst>
          </a:prstGeom>
          <a:solidFill xmlns:a="http://schemas.openxmlformats.org/drawingml/2006/main">
            <a:srgbClr val="F4F6F8"/>
          </a:solidFill>
          <a:ln xmlns:a="http://schemas.openxmlformats.org/drawingml/2006/main" w="19050">
            <a:solidFill>
              <a:srgbClr val="3979AD"/>
            </a:solidFill>
          </a:ln>
        </p:spPr>
      </p:sp>
      <p:sp>
        <p:nvSpPr>
          <p:cNvPr id="8" name="">
            <a:extLst xmlns:a="http://schemas.openxmlformats.org/drawingml/2006/main">
              <a:ext uri="{FF2B5EF4-FFF2-40B4-BE49-F238E27FC236}">
                <a16:creationId xmlns:a16="http://schemas.microsoft.com/office/drawing/2014/main" id="{B1411E01-70E9-4392-964A-6D2BAAB1C152}"/>
              </a:ext>
            </a:extLst>
          </p:cNvPr>
          <p:cNvSpPr>
            <a:spLocks xmlns:a="http://schemas.openxmlformats.org/drawingml/2006/main" noGrp="1"/>
          </p:cNvSpPr>
          <p:nvPr/>
        </p:nvSpPr>
        <p:spPr>
          <a:xfrm xmlns:a="http://schemas.openxmlformats.org/drawingml/2006/main">
            <a:off x="3381375" y="23622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3979AD"/>
                </a:solidFill>
                <a:latin typeface="Arial"/>
                <a:ea typeface="Arial"/>
                <a:cs typeface="Arial"/>
              </a:defRPr>
            </a:pPr>
            <a:r>
              <a:rPr sz="1500" b="1" i="0">
                <a:solidFill>
                  <a:srgbClr val="3979AD"/>
                </a:solidFill>
                <a:latin typeface="Arial"/>
                <a:ea typeface="Arial"/>
                <a:cs typeface="Arial"/>
              </a:rPr>
              <a:t>P₁′</a:t>
            </a:r>
          </a:p>
        </p:txBody>
      </p:sp>
      <p:sp>
        <p:nvSpPr>
          <p:cNvPr id="9" name="">
            <a:extLst xmlns:a="http://schemas.openxmlformats.org/drawingml/2006/main">
              <a:ext uri="{FF2B5EF4-FFF2-40B4-BE49-F238E27FC236}">
                <a16:creationId xmlns:a16="http://schemas.microsoft.com/office/drawing/2014/main" id="{65CE89CE-EAD4-4969-A069-F4DC7BC81153}"/>
              </a:ext>
            </a:extLst>
          </p:cNvPr>
          <p:cNvSpPr>
            <a:spLocks xmlns:a="http://schemas.openxmlformats.org/drawingml/2006/main" noGrp="1"/>
          </p:cNvSpPr>
          <p:nvPr/>
        </p:nvSpPr>
        <p:spPr>
          <a:xfrm xmlns:a="http://schemas.openxmlformats.org/drawingml/2006/main">
            <a:off x="3362325" y="260985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i="0">
                <a:solidFill>
                  <a:srgbClr val="536475"/>
                </a:solidFill>
                <a:latin typeface="Arial"/>
                <a:ea typeface="Arial"/>
                <a:cs typeface="Arial"/>
              </a:defRPr>
            </a:pPr>
            <a:r>
              <a:rPr sz="975" b="0" i="0">
                <a:solidFill>
                  <a:srgbClr val="536475"/>
                </a:solidFill>
                <a:latin typeface="Arial"/>
                <a:ea typeface="Arial"/>
                <a:cs typeface="Arial"/>
              </a:rPr>
              <a:t>move D first</a:t>
            </a:r>
          </a:p>
        </p:txBody>
      </p:sp>
      <p:sp>
        <p:nvSpPr>
          <p:cNvPr id="10" name="">
            <a:extLst xmlns:a="http://schemas.openxmlformats.org/drawingml/2006/main">
              <a:ext uri="{FF2B5EF4-FFF2-40B4-BE49-F238E27FC236}">
                <a16:creationId xmlns:a16="http://schemas.microsoft.com/office/drawing/2014/main" id="{019D68E9-4707-4E5E-A89F-9D752CDC8C8C}"/>
              </a:ext>
            </a:extLst>
          </p:cNvPr>
          <p:cNvSpPr>
            <a:spLocks xmlns:a="http://schemas.openxmlformats.org/drawingml/2006/main" noGrp="1"/>
          </p:cNvSpPr>
          <p:nvPr/>
        </p:nvSpPr>
        <p:spPr>
          <a:xfrm xmlns:a="http://schemas.openxmlformats.org/drawingml/2006/main">
            <a:off x="5857875" y="2286000"/>
            <a:ext cx="1428750" cy="628650"/>
          </a:xfrm>
          <a:prstGeom xmlns:a="http://schemas.openxmlformats.org/drawingml/2006/main" prst="roundRect">
            <a:avLst>
              <a:gd name="adj" fmla="val 12121"/>
            </a:avLst>
          </a:prstGeom>
          <a:solidFill xmlns:a="http://schemas.openxmlformats.org/drawingml/2006/main">
            <a:srgbClr val="F4F6F8"/>
          </a:solidFill>
          <a:ln xmlns:a="http://schemas.openxmlformats.org/drawingml/2006/main" w="19050">
            <a:solidFill>
              <a:srgbClr val="158368"/>
            </a:solidFill>
          </a:ln>
        </p:spPr>
      </p:sp>
      <p:sp>
        <p:nvSpPr>
          <p:cNvPr id="11" name="">
            <a:extLst xmlns:a="http://schemas.openxmlformats.org/drawingml/2006/main">
              <a:ext uri="{FF2B5EF4-FFF2-40B4-BE49-F238E27FC236}">
                <a16:creationId xmlns:a16="http://schemas.microsoft.com/office/drawing/2014/main" id="{3A1714AC-D0B8-4A37-87BA-0BF56BB10760}"/>
              </a:ext>
            </a:extLst>
          </p:cNvPr>
          <p:cNvSpPr>
            <a:spLocks xmlns:a="http://schemas.openxmlformats.org/drawingml/2006/main" noGrp="1"/>
          </p:cNvSpPr>
          <p:nvPr/>
        </p:nvSpPr>
        <p:spPr>
          <a:xfrm xmlns:a="http://schemas.openxmlformats.org/drawingml/2006/main">
            <a:off x="5953125" y="23622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158368"/>
                </a:solidFill>
                <a:latin typeface="Arial"/>
                <a:ea typeface="Arial"/>
                <a:cs typeface="Arial"/>
              </a:defRPr>
            </a:pPr>
            <a:r>
              <a:rPr sz="1500" b="1" i="0">
                <a:solidFill>
                  <a:srgbClr val="158368"/>
                </a:solidFill>
                <a:latin typeface="Arial"/>
                <a:ea typeface="Arial"/>
                <a:cs typeface="Arial"/>
              </a:rPr>
              <a:t>P₂</a:t>
            </a:r>
          </a:p>
        </p:txBody>
      </p:sp>
      <p:sp>
        <p:nvSpPr>
          <p:cNvPr id="12" name="">
            <a:extLst xmlns:a="http://schemas.openxmlformats.org/drawingml/2006/main">
              <a:ext uri="{FF2B5EF4-FFF2-40B4-BE49-F238E27FC236}">
                <a16:creationId xmlns:a16="http://schemas.microsoft.com/office/drawing/2014/main" id="{42976FEF-89D7-4077-B930-835F44D89362}"/>
              </a:ext>
            </a:extLst>
          </p:cNvPr>
          <p:cNvSpPr>
            <a:spLocks xmlns:a="http://schemas.openxmlformats.org/drawingml/2006/main" noGrp="1"/>
          </p:cNvSpPr>
          <p:nvPr/>
        </p:nvSpPr>
        <p:spPr>
          <a:xfrm xmlns:a="http://schemas.openxmlformats.org/drawingml/2006/main">
            <a:off x="5934075" y="260985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i="0">
                <a:solidFill>
                  <a:srgbClr val="536475"/>
                </a:solidFill>
                <a:latin typeface="Arial"/>
                <a:ea typeface="Arial"/>
                <a:cs typeface="Arial"/>
              </a:defRPr>
            </a:pPr>
            <a:r>
              <a:rPr sz="975" b="0" i="0">
                <a:solidFill>
                  <a:srgbClr val="536475"/>
                </a:solidFill>
                <a:latin typeface="Arial"/>
                <a:ea typeface="Arial"/>
                <a:cs typeface="Arial"/>
              </a:rPr>
              <a:t>move C second</a:t>
            </a:r>
          </a:p>
        </p:txBody>
      </p:sp>
      <p:sp>
        <p:nvSpPr>
          <p:cNvPr id="13" name="">
            <a:extLst xmlns:a="http://schemas.openxmlformats.org/drawingml/2006/main">
              <a:ext uri="{FF2B5EF4-FFF2-40B4-BE49-F238E27FC236}">
                <a16:creationId xmlns:a16="http://schemas.microsoft.com/office/drawing/2014/main" id="{AF111D89-ECE8-4D8A-9D53-B96EC2B02077}"/>
              </a:ext>
            </a:extLst>
          </p:cNvPr>
          <p:cNvSpPr>
            <a:spLocks xmlns:a="http://schemas.openxmlformats.org/drawingml/2006/main" noGrp="1"/>
          </p:cNvSpPr>
          <p:nvPr/>
        </p:nvSpPr>
        <p:spPr>
          <a:xfrm xmlns:a="http://schemas.openxmlformats.org/drawingml/2006/main">
            <a:off x="2171700" y="2600325"/>
            <a:ext cx="1114425" cy="9525"/>
          </a:xfrm>
          <a:custGeom xmlns:a="http://schemas.openxmlformats.org/drawingml/2006/main">
            <a:pathLst>
              <a:path w="1114425" h="9525">
                <a:moveTo>
                  <a:pt x="0" y="0"/>
                </a:moveTo>
                <a:lnTo>
                  <a:pt x="1114425" y="0"/>
                </a:lnTo>
              </a:path>
            </a:pathLst>
          </a:custGeom>
          <a:noFill xmlns:a="http://schemas.openxmlformats.org/drawingml/2006/main"/>
          <a:ln xmlns:a="http://schemas.openxmlformats.org/drawingml/2006/main" w="24765">
            <a:solidFill>
              <a:srgbClr val="BD5275"/>
            </a:solidFill>
          </a:ln>
        </p:spPr>
      </p:sp>
      <p:sp>
        <p:nvSpPr>
          <p:cNvPr id="14" name="">
            <a:extLst xmlns:a="http://schemas.openxmlformats.org/drawingml/2006/main">
              <a:ext uri="{FF2B5EF4-FFF2-40B4-BE49-F238E27FC236}">
                <a16:creationId xmlns:a16="http://schemas.microsoft.com/office/drawing/2014/main" id="{FE2DE63B-7546-45CE-83C1-60CBBE9A7B90}"/>
              </a:ext>
            </a:extLst>
          </p:cNvPr>
          <p:cNvSpPr>
            <a:spLocks xmlns:a="http://schemas.openxmlformats.org/drawingml/2006/main" noGrp="1"/>
          </p:cNvSpPr>
          <p:nvPr/>
        </p:nvSpPr>
        <p:spPr>
          <a:xfrm xmlns:a="http://schemas.openxmlformats.org/drawingml/2006/main">
            <a:off x="3174627" y="2546465"/>
            <a:ext cx="111498" cy="107719"/>
          </a:xfrm>
          <a:custGeom xmlns:a="http://schemas.openxmlformats.org/drawingml/2006/main">
            <a:pathLst>
              <a:path w="111498" h="107719">
                <a:moveTo>
                  <a:pt x="0" y="107719"/>
                </a:moveTo>
                <a:lnTo>
                  <a:pt x="111498" y="53860"/>
                </a:lnTo>
                <a:lnTo>
                  <a:pt x="0" y="0"/>
                </a:lnTo>
              </a:path>
            </a:pathLst>
          </a:custGeom>
          <a:noFill xmlns:a="http://schemas.openxmlformats.org/drawingml/2006/main"/>
          <a:ln xmlns:a="http://schemas.openxmlformats.org/drawingml/2006/main" w="24765">
            <a:solidFill>
              <a:srgbClr val="BD5275"/>
            </a:solidFill>
          </a:ln>
        </p:spPr>
      </p:sp>
      <p:sp>
        <p:nvSpPr>
          <p:cNvPr id="15" name="">
            <a:extLst xmlns:a="http://schemas.openxmlformats.org/drawingml/2006/main">
              <a:ext uri="{FF2B5EF4-FFF2-40B4-BE49-F238E27FC236}">
                <a16:creationId xmlns:a16="http://schemas.microsoft.com/office/drawing/2014/main" id="{AFFC7383-828E-443E-8096-4EB908BE583F}"/>
              </a:ext>
            </a:extLst>
          </p:cNvPr>
          <p:cNvSpPr>
            <a:spLocks xmlns:a="http://schemas.openxmlformats.org/drawingml/2006/main" noGrp="1"/>
          </p:cNvSpPr>
          <p:nvPr/>
        </p:nvSpPr>
        <p:spPr>
          <a:xfrm xmlns:a="http://schemas.openxmlformats.org/drawingml/2006/main">
            <a:off x="4714875" y="2600325"/>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24765">
            <a:solidFill>
              <a:srgbClr val="BD5275"/>
            </a:solidFill>
          </a:ln>
        </p:spPr>
      </p:sp>
      <p:sp>
        <p:nvSpPr>
          <p:cNvPr id="16" name="">
            <a:extLst xmlns:a="http://schemas.openxmlformats.org/drawingml/2006/main">
              <a:ext uri="{FF2B5EF4-FFF2-40B4-BE49-F238E27FC236}">
                <a16:creationId xmlns:a16="http://schemas.microsoft.com/office/drawing/2014/main" id="{CAD22BFA-3B31-461C-ABBA-3AAF0D8481C3}"/>
              </a:ext>
            </a:extLst>
          </p:cNvPr>
          <p:cNvSpPr>
            <a:spLocks xmlns:a="http://schemas.openxmlformats.org/drawingml/2006/main" noGrp="1"/>
          </p:cNvSpPr>
          <p:nvPr/>
        </p:nvSpPr>
        <p:spPr>
          <a:xfrm xmlns:a="http://schemas.openxmlformats.org/drawingml/2006/main">
            <a:off x="5746377" y="2546465"/>
            <a:ext cx="111498" cy="107719"/>
          </a:xfrm>
          <a:custGeom xmlns:a="http://schemas.openxmlformats.org/drawingml/2006/main">
            <a:pathLst>
              <a:path w="111498" h="107719">
                <a:moveTo>
                  <a:pt x="0" y="107719"/>
                </a:moveTo>
                <a:lnTo>
                  <a:pt x="111498" y="53860"/>
                </a:lnTo>
                <a:lnTo>
                  <a:pt x="0" y="0"/>
                </a:lnTo>
              </a:path>
            </a:pathLst>
          </a:custGeom>
          <a:noFill xmlns:a="http://schemas.openxmlformats.org/drawingml/2006/main"/>
          <a:ln xmlns:a="http://schemas.openxmlformats.org/drawingml/2006/main" w="24765">
            <a:solidFill>
              <a:srgbClr val="BD5275"/>
            </a:solidFill>
          </a:ln>
        </p:spPr>
      </p:sp>
      <p:sp>
        <p:nvSpPr>
          <p:cNvPr id="17" name="">
            <a:extLst xmlns:a="http://schemas.openxmlformats.org/drawingml/2006/main">
              <a:ext uri="{FF2B5EF4-FFF2-40B4-BE49-F238E27FC236}">
                <a16:creationId xmlns:a16="http://schemas.microsoft.com/office/drawing/2014/main" id="{B942C9C2-457D-4ACB-BC85-FECE4B56CDE6}"/>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3979AD"/>
                </a:solidFill>
                <a:latin typeface="Arial"/>
                <a:ea typeface="Arial"/>
                <a:cs typeface="Arial"/>
              </a:defRPr>
            </a:pPr>
            <a:r>
              <a:rPr sz="2025" b="1" i="0">
                <a:solidFill>
                  <a:srgbClr val="3979AD"/>
                </a:solidFill>
                <a:latin typeface="Arial"/>
                <a:ea typeface="Arial"/>
                <a:cs typeface="Arial"/>
              </a:rPr>
              <a:t>Eliminate with LP</a:t>
            </a:r>
          </a:p>
        </p:txBody>
      </p:sp>
      <p:sp>
        <p:nvSpPr>
          <p:cNvPr id="18" name="">
            <a:extLst xmlns:a="http://schemas.openxmlformats.org/drawingml/2006/main">
              <a:ext uri="{FF2B5EF4-FFF2-40B4-BE49-F238E27FC236}">
                <a16:creationId xmlns:a16="http://schemas.microsoft.com/office/drawing/2014/main" id="{BD317706-21FF-419C-819C-460AFC4899B9}"/>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Each order yields a different support inequality. Both must be retained. The finite implementation is a rigorous network relaxation, not a completeness theorem.</a:t>
            </a:r>
          </a:p>
        </p:txBody>
      </p:sp>
      <p:sp>
        <p:nvSpPr>
          <p:cNvPr id="19" name="">
            <a:extLst xmlns:a="http://schemas.openxmlformats.org/drawingml/2006/main">
              <a:ext uri="{FF2B5EF4-FFF2-40B4-BE49-F238E27FC236}">
                <a16:creationId xmlns:a16="http://schemas.microsoft.com/office/drawing/2014/main" id="{C6829720-302C-47D4-8F9B-510923EF2161}"/>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3979AD"/>
            </a:solidFill>
          </a:ln>
        </p:spPr>
      </p:sp>
      <p:sp>
        <p:nvSpPr>
          <p:cNvPr id="20" name="">
            <a:extLst xmlns:a="http://schemas.openxmlformats.org/drawingml/2006/main">
              <a:ext uri="{FF2B5EF4-FFF2-40B4-BE49-F238E27FC236}">
                <a16:creationId xmlns:a16="http://schemas.microsoft.com/office/drawing/2014/main" id="{0BFC0991-5641-49C9-A519-FEBB2ED89833}"/>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3979AD"/>
                </a:solidFill>
                <a:latin typeface="Arial"/>
                <a:ea typeface="Arial"/>
                <a:cs typeface="Arial"/>
              </a:defRPr>
            </a:pPr>
            <a:r>
              <a:rPr sz="975" b="1" i="0">
                <a:solidFill>
                  <a:srgbClr val="3979AD"/>
                </a:solidFill>
                <a:latin typeface="Arial"/>
                <a:ea typeface="Arial"/>
                <a:cs typeface="Arial"/>
              </a:rPr>
              <a:t>Valid chest layer: two-order network</a:t>
            </a:r>
          </a:p>
        </p:txBody>
      </p:sp>
      <p:sp>
        <p:nvSpPr>
          <p:cNvPr id="21" name="">
            <a:extLst xmlns:a="http://schemas.openxmlformats.org/drawingml/2006/main">
              <a:ext uri="{FF2B5EF4-FFF2-40B4-BE49-F238E27FC236}">
                <a16:creationId xmlns:a16="http://schemas.microsoft.com/office/drawing/2014/main" id="{1805D78A-C545-45A9-8AAF-3D56DF9FB18F}"/>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13</a:t>
            </a:r>
          </a:p>
        </p:txBody>
      </p:sp>
    </p:spTree>
    <p:extLst>
      <p:ext uri="{BB962C8B-B14F-4D97-AF65-F5344CB8AC3E}">
        <p14:creationId xmlns:p14="http://schemas.microsoft.com/office/powerpoint/2010/main" val="1446759260"/>
      </p:ext>
    </p:extLst>
  </p:cSld>
  <p:transition spd="slow" advClick="1">
    <p:fade/>
  </p:transition>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880800D-4DDE-41EB-A9CA-68C87F506101}"/>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3. Network bounds</a:t>
            </a:r>
          </a:p>
        </p:txBody>
      </p:sp>
      <p:sp>
        <p:nvSpPr>
          <p:cNvPr id="2" name="">
            <a:extLst xmlns:a="http://schemas.openxmlformats.org/drawingml/2006/main">
              <a:ext uri="{FF2B5EF4-FFF2-40B4-BE49-F238E27FC236}">
                <a16:creationId xmlns:a16="http://schemas.microsoft.com/office/drawing/2014/main" id="{54D2341C-AD8A-4683-B59F-B6B6A465B638}"/>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Reference implementation with all vertex permutations</a:t>
            </a:r>
          </a:p>
        </p:txBody>
      </p:sp>
      <p:sp>
        <p:nvSpPr>
          <p:cNvPr id="3" name="">
            <a:extLst xmlns:a="http://schemas.openxmlformats.org/drawingml/2006/main">
              <a:ext uri="{FF2B5EF4-FFF2-40B4-BE49-F238E27FC236}">
                <a16:creationId xmlns:a16="http://schemas.microsoft.com/office/drawing/2014/main" id="{D0244C93-C74C-49C3-94D1-443D53AD53AE}"/>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066F3801-7539-41FB-A900-704A170EF498}"/>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4E617857-5B73-408B-8DC3-6EE1262647A7}"/>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39AA9B70-36B4-43BF-B408-D7BFE35B53D2}"/>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95DB3CC5-903E-4003-9373-AE851F44563E}"/>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DD04F407-6CF9-4A44-B90D-0E0166CB8AEB}"/>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6D4D5D7A-E9B1-4065-A9A0-356C40647BA7}"/>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FD4D2399-8891-41C5-9047-160F627A959B}"/>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27AABDCC-8838-4A65-BDEB-DE88C5D27F3F}"/>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BBD27D32-A01C-4633-8337-B222144FF299}"/>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11C05F95-BBBC-42CA-BB9D-E372DF912F5E}"/>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9E618E2E-6946-4838-BCCA-EC2D5CE7F477}"/>
              </a:ext>
            </a:extLst>
          </p:cNvPr>
          <p:cNvSpPr>
            <a:spLocks xmlns:a="http://schemas.openxmlformats.org/drawingml/2006/main" noGrp="1"/>
          </p:cNvSpPr>
          <p:nvPr/>
        </p:nvSpPr>
        <p:spPr>
          <a:xfrm xmlns:a="http://schemas.openxmlformats.org/drawingml/2006/main">
            <a:off x="2477560" y="2765455"/>
            <a:ext cx="2861942" cy="2694441"/>
          </a:xfrm>
          <a:custGeom xmlns:a="http://schemas.openxmlformats.org/drawingml/2006/main">
            <a:pathLst>
              <a:path w="2861942" h="2694441">
                <a:moveTo>
                  <a:pt x="0" y="2584185"/>
                </a:moveTo>
                <a:lnTo>
                  <a:pt x="50887" y="2694441"/>
                </a:lnTo>
                <a:lnTo>
                  <a:pt x="88595" y="2694441"/>
                </a:lnTo>
                <a:lnTo>
                  <a:pt x="2861942" y="1773913"/>
                </a:lnTo>
                <a:lnTo>
                  <a:pt x="866602" y="0"/>
                </a:lnTo>
                <a:lnTo>
                  <a:pt x="497387" y="169223"/>
                </a:lnTo>
                <a:close/>
              </a:path>
            </a:pathLst>
          </a:custGeom>
          <a:solidFill xmlns:a="http://schemas.openxmlformats.org/drawingml/2006/main">
            <a:srgbClr val="3979AD">
              <a:alpha val="28000"/>
            </a:srgbClr>
          </a:solidFill>
          <a:ln xmlns:a="http://schemas.openxmlformats.org/drawingml/2006/main" w="28575">
            <a:solidFill>
              <a:srgbClr val="3979AD"/>
            </a:solidFill>
            <a:prstDash val="solid"/>
          </a:ln>
        </p:spPr>
      </p:sp>
      <p:sp>
        <p:nvSpPr>
          <p:cNvPr id="15" name="">
            <a:extLst xmlns:a="http://schemas.openxmlformats.org/drawingml/2006/main">
              <a:ext uri="{FF2B5EF4-FFF2-40B4-BE49-F238E27FC236}">
                <a16:creationId xmlns:a16="http://schemas.microsoft.com/office/drawing/2014/main" id="{8DB2A677-335A-4371-B570-E7F528145971}"/>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280F73E4-0FAC-4B2C-BA11-F67D8C05E945}"/>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CC9EF709-06A5-4A5F-A479-6CC574A999C9}"/>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A9FB7203-3B28-41B4-9E97-2F8F241375DF}"/>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BE447569-939E-4601-82CF-8FADF561F0D8}"/>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8836CCE0-15F4-4DD9-B960-753517D5D0BF}"/>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0D5DBBED-5B07-4891-955A-180DF214991D}"/>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23C3430F-7548-4E0D-BA19-3FE5963EAD08}"/>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3864AF64-A1B8-457E-BFD0-514CED4DB92E}"/>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9828461F-5C71-43E5-B070-DE624DF29D4D}"/>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2F390417-31B1-4808-B0A0-7D75E5198E91}"/>
              </a:ext>
            </a:extLst>
          </p:cNvPr>
          <p:cNvSpPr>
            <a:spLocks xmlns:a="http://schemas.openxmlformats.org/drawingml/2006/main" noGrp="1"/>
          </p:cNvSpPr>
          <p:nvPr/>
        </p:nvSpPr>
        <p:spPr>
          <a:xfrm xmlns:a="http://schemas.openxmlformats.org/drawingml/2006/main">
            <a:off x="8382000" y="161925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3979AD"/>
                </a:solidFill>
                <a:latin typeface="Arial"/>
                <a:ea typeface="Arial"/>
                <a:cs typeface="Arial"/>
              </a:defRPr>
            </a:pPr>
            <a:r>
              <a:rPr sz="4050" b="1" i="0">
                <a:solidFill>
                  <a:srgbClr val="3979AD"/>
                </a:solidFill>
                <a:latin typeface="Arial"/>
                <a:ea typeface="Arial"/>
                <a:cs typeface="Arial"/>
              </a:rPr>
              <a:t>30.8008%</a:t>
            </a:r>
          </a:p>
        </p:txBody>
      </p:sp>
      <p:sp>
        <p:nvSpPr>
          <p:cNvPr id="26" name="">
            <a:extLst xmlns:a="http://schemas.openxmlformats.org/drawingml/2006/main">
              <a:ext uri="{FF2B5EF4-FFF2-40B4-BE49-F238E27FC236}">
                <a16:creationId xmlns:a16="http://schemas.microsoft.com/office/drawing/2014/main" id="{61340D92-245E-406A-98EA-5314E25AC799}"/>
              </a:ext>
            </a:extLst>
          </p:cNvPr>
          <p:cNvSpPr>
            <a:spLocks xmlns:a="http://schemas.openxmlformats.org/drawingml/2006/main" noGrp="1"/>
          </p:cNvSpPr>
          <p:nvPr/>
        </p:nvSpPr>
        <p:spPr>
          <a:xfrm xmlns:a="http://schemas.openxmlformats.org/drawingml/2006/main">
            <a:off x="8572500" y="228600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reference network alone</a:t>
            </a:r>
          </a:p>
        </p:txBody>
      </p:sp>
      <p:sp>
        <p:nvSpPr>
          <p:cNvPr id="27" name="">
            <a:extLst xmlns:a="http://schemas.openxmlformats.org/drawingml/2006/main">
              <a:ext uri="{FF2B5EF4-FFF2-40B4-BE49-F238E27FC236}">
                <a16:creationId xmlns:a16="http://schemas.microsoft.com/office/drawing/2014/main" id="{499E549C-D878-4325-A732-E6E8BB59AC96}"/>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3979AD"/>
            </a:solidFill>
          </a:ln>
        </p:spPr>
      </p:sp>
      <p:sp>
        <p:nvSpPr>
          <p:cNvPr id="28" name="">
            <a:extLst xmlns:a="http://schemas.openxmlformats.org/drawingml/2006/main">
              <a:ext uri="{FF2B5EF4-FFF2-40B4-BE49-F238E27FC236}">
                <a16:creationId xmlns:a16="http://schemas.microsoft.com/office/drawing/2014/main" id="{B98E5DAE-99C8-4F46-BD34-0D745EC5E58C}"/>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3979AD"/>
                </a:solidFill>
                <a:latin typeface="Arial"/>
                <a:ea typeface="Arial"/>
                <a:cs typeface="Arial"/>
              </a:defRPr>
            </a:pPr>
            <a:r>
              <a:rPr sz="975" b="1" i="0">
                <a:solidFill>
                  <a:srgbClr val="3979AD"/>
                </a:solidFill>
                <a:latin typeface="Arial"/>
                <a:ea typeface="Arial"/>
                <a:cs typeface="Arial"/>
              </a:rPr>
              <a:t>Valid chest layer: two-order network</a:t>
            </a:r>
          </a:p>
        </p:txBody>
      </p:sp>
      <p:sp>
        <p:nvSpPr>
          <p:cNvPr id="29" name="">
            <a:extLst xmlns:a="http://schemas.openxmlformats.org/drawingml/2006/main">
              <a:ext uri="{FF2B5EF4-FFF2-40B4-BE49-F238E27FC236}">
                <a16:creationId xmlns:a16="http://schemas.microsoft.com/office/drawing/2014/main" id="{DFA886AC-BA13-49F2-979A-B098D8F3A7A4}"/>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14</a:t>
            </a:r>
          </a:p>
        </p:txBody>
      </p:sp>
    </p:spTree>
    <p:extLst>
      <p:ext uri="{BB962C8B-B14F-4D97-AF65-F5344CB8AC3E}">
        <p14:creationId xmlns:p14="http://schemas.microsoft.com/office/powerpoint/2010/main" val="295105552"/>
      </p:ext>
    </p:extLst>
  </p:cSld>
  <p:transition spd="slow" advClick="1">
    <p:fade/>
  </p:transition>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5F37DE3-1C56-444D-A26A-3922432F3D25}"/>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4. Discrete involution predecessors</a:t>
            </a:r>
          </a:p>
        </p:txBody>
      </p:sp>
      <p:sp>
        <p:nvSpPr>
          <p:cNvPr id="2" name="">
            <a:extLst xmlns:a="http://schemas.openxmlformats.org/drawingml/2006/main">
              <a:ext uri="{FF2B5EF4-FFF2-40B4-BE49-F238E27FC236}">
                <a16:creationId xmlns:a16="http://schemas.microsoft.com/office/drawing/2014/main" id="{65FB33AD-30D2-4564-A5DD-D255DA186365}"/>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Use point inversion and perpendicular-bisector reflections</a:t>
            </a:r>
          </a:p>
        </p:txBody>
      </p:sp>
      <p:sp>
        <p:nvSpPr>
          <p:cNvPr id="3" name="">
            <a:extLst xmlns:a="http://schemas.openxmlformats.org/drawingml/2006/main">
              <a:ext uri="{FF2B5EF4-FFF2-40B4-BE49-F238E27FC236}">
                <a16:creationId xmlns:a16="http://schemas.microsoft.com/office/drawing/2014/main" id="{A90C59AD-9731-41CC-8AD0-430737737A92}"/>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C0B6A081-8F87-48EB-8645-6D5CB76B8D59}"/>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072DDB0D-45F5-434C-AFCB-E26906E4EAA3}"/>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8A15F10E-4F72-4548-AC84-96100224E318}"/>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9788944F-7BC5-4812-8B42-31BC91D2EB14}"/>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F6980EB7-2665-4230-A963-F70211D6FBC5}"/>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516D2962-54B8-4764-B6C1-E167C16BB28D}"/>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26D907C8-38A6-44AB-9C1E-A9AFCC50562D}"/>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192529AA-82DA-408B-8837-EFA68C2F950D}"/>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5E7BEE56-EEFE-4757-AEF8-FB5993201D4E}"/>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732B240F-8B19-4D6B-AC95-ED2F3FB12335}"/>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E0AF0B21-9448-4210-B8F2-5C20E66026AC}"/>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5" name="">
            <a:extLst xmlns:a="http://schemas.openxmlformats.org/drawingml/2006/main">
              <a:ext uri="{FF2B5EF4-FFF2-40B4-BE49-F238E27FC236}">
                <a16:creationId xmlns:a16="http://schemas.microsoft.com/office/drawing/2014/main" id="{98957273-1DC5-4C51-8E47-4E0364760384}"/>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6" name="">
            <a:extLst xmlns:a="http://schemas.openxmlformats.org/drawingml/2006/main">
              <a:ext uri="{FF2B5EF4-FFF2-40B4-BE49-F238E27FC236}">
                <a16:creationId xmlns:a16="http://schemas.microsoft.com/office/drawing/2014/main" id="{A03C523E-F782-45A3-BA12-FC845B1096D3}"/>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7" name="">
            <a:extLst xmlns:a="http://schemas.openxmlformats.org/drawingml/2006/main">
              <a:ext uri="{FF2B5EF4-FFF2-40B4-BE49-F238E27FC236}">
                <a16:creationId xmlns:a16="http://schemas.microsoft.com/office/drawing/2014/main" id="{59A65FA1-43E2-49A6-BA72-BCEE1895B697}"/>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E29326F5-9EB2-4143-9D27-5D707986205B}"/>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19" name="">
            <a:extLst xmlns:a="http://schemas.openxmlformats.org/drawingml/2006/main">
              <a:ext uri="{FF2B5EF4-FFF2-40B4-BE49-F238E27FC236}">
                <a16:creationId xmlns:a16="http://schemas.microsoft.com/office/drawing/2014/main" id="{EE7A9A6B-D2BE-4C67-B744-4635B69907CB}"/>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361ACFE1-4C1E-4CAA-B80E-A21089CC1CFF}"/>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1" name="">
            <a:extLst xmlns:a="http://schemas.openxmlformats.org/drawingml/2006/main">
              <a:ext uri="{FF2B5EF4-FFF2-40B4-BE49-F238E27FC236}">
                <a16:creationId xmlns:a16="http://schemas.microsoft.com/office/drawing/2014/main" id="{B06AE799-8295-46C9-96FC-A5C02050829F}"/>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E9CA051E-9C9B-4C8F-A475-0AF457A3D99B}"/>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8420202E-81D3-480A-87D4-3A16DA240666}"/>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4" name="">
            <a:extLst xmlns:a="http://schemas.openxmlformats.org/drawingml/2006/main">
              <a:ext uri="{FF2B5EF4-FFF2-40B4-BE49-F238E27FC236}">
                <a16:creationId xmlns:a16="http://schemas.microsoft.com/office/drawing/2014/main" id="{7197CEAD-2E47-452E-B436-C0A2D42090F9}"/>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0"/>
                </a:lnTo>
              </a:path>
            </a:pathLst>
          </a:custGeom>
          <a:noFill xmlns:a="http://schemas.openxmlformats.org/drawingml/2006/main"/>
          <a:ln xmlns:a="http://schemas.openxmlformats.org/drawingml/2006/main" w="20955">
            <a:solidFill>
              <a:srgbClr val="087B82"/>
            </a:solidFill>
            <a:prstDash val="dash"/>
          </a:ln>
        </p:spPr>
      </p:sp>
      <p:sp>
        <p:nvSpPr>
          <p:cNvPr id="25" name="">
            <a:extLst xmlns:a="http://schemas.openxmlformats.org/drawingml/2006/main">
              <a:ext uri="{FF2B5EF4-FFF2-40B4-BE49-F238E27FC236}">
                <a16:creationId xmlns:a16="http://schemas.microsoft.com/office/drawing/2014/main" id="{E9E6BEC1-10BE-41ED-BBFF-4C35A8D1F6C2}"/>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087B82"/>
                </a:solidFill>
                <a:latin typeface="Arial"/>
                <a:ea typeface="Arial"/>
                <a:cs typeface="Arial"/>
              </a:defRPr>
            </a:pPr>
            <a:r>
              <a:rPr sz="2025" b="1" i="0">
                <a:solidFill>
                  <a:srgbClr val="087B82"/>
                </a:solidFill>
                <a:latin typeface="Arial"/>
                <a:ea typeface="Arial"/>
                <a:cs typeface="Arial"/>
              </a:rPr>
              <a:t>Finite orbit bounds</a:t>
            </a:r>
          </a:p>
        </p:txBody>
      </p:sp>
      <p:sp>
        <p:nvSpPr>
          <p:cNvPr id="26" name="">
            <a:extLst xmlns:a="http://schemas.openxmlformats.org/drawingml/2006/main">
              <a:ext uri="{FF2B5EF4-FFF2-40B4-BE49-F238E27FC236}">
                <a16:creationId xmlns:a16="http://schemas.microsoft.com/office/drawing/2014/main" id="{8F90072F-6FD9-4BD0-91F7-C1999B0E7D3E}"/>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Apply a fixed finite list of symmetry-producing involutions, restore the moved vertices in a recorded parallel path, and intersect the resulting support inequalities.</a:t>
            </a:r>
          </a:p>
        </p:txBody>
      </p:sp>
      <p:sp>
        <p:nvSpPr>
          <p:cNvPr id="27" name="">
            <a:extLst xmlns:a="http://schemas.openxmlformats.org/drawingml/2006/main">
              <a:ext uri="{FF2B5EF4-FFF2-40B4-BE49-F238E27FC236}">
                <a16:creationId xmlns:a16="http://schemas.microsoft.com/office/drawing/2014/main" id="{A89B465A-84CB-45E0-9A6C-AEADF34AB6FB}"/>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087B82"/>
            </a:solidFill>
          </a:ln>
        </p:spPr>
      </p:sp>
      <p:sp>
        <p:nvSpPr>
          <p:cNvPr id="28" name="">
            <a:extLst xmlns:a="http://schemas.openxmlformats.org/drawingml/2006/main">
              <a:ext uri="{FF2B5EF4-FFF2-40B4-BE49-F238E27FC236}">
                <a16:creationId xmlns:a16="http://schemas.microsoft.com/office/drawing/2014/main" id="{28907C3A-C6B2-4A8F-93DC-752E4E0A0B10}"/>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087B82"/>
                </a:solidFill>
                <a:latin typeface="Arial"/>
                <a:ea typeface="Arial"/>
                <a:cs typeface="Arial"/>
              </a:defRPr>
            </a:pPr>
            <a:r>
              <a:rPr sz="975" b="1" i="0">
                <a:solidFill>
                  <a:srgbClr val="087B82"/>
                </a:solidFill>
                <a:latin typeface="Arial"/>
                <a:ea typeface="Arial"/>
                <a:cs typeface="Arial"/>
              </a:rPr>
              <a:t>Valid chest layer: discrete involution orbit</a:t>
            </a:r>
          </a:p>
        </p:txBody>
      </p:sp>
      <p:sp>
        <p:nvSpPr>
          <p:cNvPr id="29" name="">
            <a:extLst xmlns:a="http://schemas.openxmlformats.org/drawingml/2006/main">
              <a:ext uri="{FF2B5EF4-FFF2-40B4-BE49-F238E27FC236}">
                <a16:creationId xmlns:a16="http://schemas.microsoft.com/office/drawing/2014/main" id="{EADBCB5D-508D-4E5F-B3F5-E17999C30C88}"/>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15</a:t>
            </a:r>
          </a:p>
        </p:txBody>
      </p:sp>
    </p:spTree>
    <p:extLst>
      <p:ext uri="{BB962C8B-B14F-4D97-AF65-F5344CB8AC3E}">
        <p14:creationId xmlns:p14="http://schemas.microsoft.com/office/powerpoint/2010/main" val="263660944"/>
      </p:ext>
    </p:extLst>
  </p:cSld>
  <p:transition spd="slow" advClick="1">
    <p:fade/>
  </p:transition>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DF7A8E3-B81D-4964-ADC1-4EF7C4B2B8EA}"/>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4. Involution bounds in the explorer</a:t>
            </a:r>
          </a:p>
        </p:txBody>
      </p:sp>
      <p:sp>
        <p:nvSpPr>
          <p:cNvPr id="2" name="">
            <a:extLst xmlns:a="http://schemas.openxmlformats.org/drawingml/2006/main">
              <a:ext uri="{FF2B5EF4-FFF2-40B4-BE49-F238E27FC236}">
                <a16:creationId xmlns:a16="http://schemas.microsoft.com/office/drawing/2014/main" id="{E55E825C-840A-47BB-B110-871AF49CF909}"/>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An optional independent finite layer</a:t>
            </a:r>
          </a:p>
        </p:txBody>
      </p:sp>
      <p:sp>
        <p:nvSpPr>
          <p:cNvPr id="3" name="">
            <a:extLst xmlns:a="http://schemas.openxmlformats.org/drawingml/2006/main">
              <a:ext uri="{FF2B5EF4-FFF2-40B4-BE49-F238E27FC236}">
                <a16:creationId xmlns:a16="http://schemas.microsoft.com/office/drawing/2014/main" id="{589AEF1B-CD97-4DB6-ADFC-396C935F0CE3}"/>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ED989765-64B2-45BC-B94C-EBA064EE8763}"/>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5A849E7A-925D-460E-AF72-6B11935D6C17}"/>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C6272952-1217-4D1F-8840-CA1BA7A9E183}"/>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E3EB9FC8-F991-4548-A409-9F654DFE7096}"/>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E4A8E6D6-C3F0-4711-9CCC-CC8FEE886304}"/>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F978EB8C-04E7-4B37-A4CB-EE38E9F66B80}"/>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53335D25-FB56-4FC7-9FF0-E070D68211A9}"/>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D63F7233-EAB6-44AD-A8F6-A449CB34839B}"/>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5E912759-C524-4A8F-9553-FCA4896DDFE7}"/>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6A65D3BB-A266-41D9-AB65-577A70F8010B}"/>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04BC7826-DE14-4A48-9F2D-508FB769295E}"/>
              </a:ext>
            </a:extLst>
          </p:cNvPr>
          <p:cNvSpPr>
            <a:spLocks xmlns:a="http://schemas.openxmlformats.org/drawingml/2006/main" noGrp="1"/>
          </p:cNvSpPr>
          <p:nvPr/>
        </p:nvSpPr>
        <p:spPr>
          <a:xfrm xmlns:a="http://schemas.openxmlformats.org/drawingml/2006/main">
            <a:off x="2754115" y="2765455"/>
            <a:ext cx="1446410" cy="1844092"/>
          </a:xfrm>
          <a:custGeom xmlns:a="http://schemas.openxmlformats.org/drawingml/2006/main">
            <a:pathLst>
              <a:path w="1446410" h="1844092">
                <a:moveTo>
                  <a:pt x="0" y="1241424"/>
                </a:moveTo>
                <a:lnTo>
                  <a:pt x="1446410" y="1844092"/>
                </a:lnTo>
                <a:lnTo>
                  <a:pt x="1446410" y="761330"/>
                </a:lnTo>
                <a:lnTo>
                  <a:pt x="590047" y="0"/>
                </a:lnTo>
                <a:lnTo>
                  <a:pt x="220831" y="169223"/>
                </a:lnTo>
                <a:close/>
              </a:path>
            </a:pathLst>
          </a:custGeom>
          <a:solidFill xmlns:a="http://schemas.openxmlformats.org/drawingml/2006/main">
            <a:srgbClr val="087B82">
              <a:alpha val="20000"/>
            </a:srgbClr>
          </a:solidFill>
          <a:ln xmlns:a="http://schemas.openxmlformats.org/drawingml/2006/main" w="23813">
            <a:solidFill>
              <a:srgbClr val="087B82"/>
            </a:solidFill>
            <a:prstDash val="solid"/>
          </a:ln>
        </p:spPr>
      </p:sp>
      <p:sp>
        <p:nvSpPr>
          <p:cNvPr id="15" name="">
            <a:extLst xmlns:a="http://schemas.openxmlformats.org/drawingml/2006/main">
              <a:ext uri="{FF2B5EF4-FFF2-40B4-BE49-F238E27FC236}">
                <a16:creationId xmlns:a16="http://schemas.microsoft.com/office/drawing/2014/main" id="{D34D9857-9E40-4046-A632-93882706B650}"/>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2653F7FB-6F8F-411E-AB92-1029CCD54421}"/>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64FCA998-2DE7-4EF4-B737-171EC7BABAA7}"/>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0720F1A7-2DF6-4151-82B7-08ED9547A461}"/>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AB24A5AE-26E5-4A0F-8DDE-83BA9D4260C8}"/>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C836C77E-AD51-4617-8F77-DB957BCBE10D}"/>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A7743D43-03AE-4023-BB9B-9C11E6CA0055}"/>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5FC1EF1B-2582-4B19-8A9C-F336B308B7F2}"/>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29F22192-86DE-43B8-A259-20287D76CFBD}"/>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D792593A-C3CC-4B4A-B710-0928313FB00C}"/>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2756EAB2-34F4-4BB4-A8D3-6751F56169B3}"/>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087B82"/>
                </a:solidFill>
                <a:latin typeface="Arial"/>
                <a:ea typeface="Arial"/>
                <a:cs typeface="Arial"/>
              </a:defRPr>
            </a:pPr>
            <a:r>
              <a:rPr sz="2025" b="1" i="0">
                <a:solidFill>
                  <a:srgbClr val="087B82"/>
                </a:solidFill>
                <a:latin typeface="Arial"/>
                <a:ea typeface="Arial"/>
                <a:cs typeface="Arial"/>
              </a:rPr>
              <a:t>Use as a separate toggle</a:t>
            </a:r>
          </a:p>
        </p:txBody>
      </p:sp>
      <p:sp>
        <p:nvSpPr>
          <p:cNvPr id="26" name="">
            <a:extLst xmlns:a="http://schemas.openxmlformats.org/drawingml/2006/main">
              <a:ext uri="{FF2B5EF4-FFF2-40B4-BE49-F238E27FC236}">
                <a16:creationId xmlns:a16="http://schemas.microsoft.com/office/drawing/2014/main" id="{B478DDA5-61A0-4C01-B46D-BF688A88CBE9}"/>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The explorer keeps involution bounds optional, so their independence can be tested against midpoint slabs, bisectors, networks, edge slabs, and centroid transfer.</a:t>
            </a:r>
          </a:p>
        </p:txBody>
      </p:sp>
      <p:sp>
        <p:nvSpPr>
          <p:cNvPr id="27" name="">
            <a:extLst xmlns:a="http://schemas.openxmlformats.org/drawingml/2006/main">
              <a:ext uri="{FF2B5EF4-FFF2-40B4-BE49-F238E27FC236}">
                <a16:creationId xmlns:a16="http://schemas.microsoft.com/office/drawing/2014/main" id="{3CDDD20B-CD44-4055-8717-81377133650D}"/>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087B82"/>
            </a:solidFill>
          </a:ln>
        </p:spPr>
      </p:sp>
      <p:sp>
        <p:nvSpPr>
          <p:cNvPr id="28" name="">
            <a:extLst xmlns:a="http://schemas.openxmlformats.org/drawingml/2006/main">
              <a:ext uri="{FF2B5EF4-FFF2-40B4-BE49-F238E27FC236}">
                <a16:creationId xmlns:a16="http://schemas.microsoft.com/office/drawing/2014/main" id="{3FE6E329-33C9-4EED-B0C4-54206EEFA116}"/>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087B82"/>
                </a:solidFill>
                <a:latin typeface="Arial"/>
                <a:ea typeface="Arial"/>
                <a:cs typeface="Arial"/>
              </a:defRPr>
            </a:pPr>
            <a:r>
              <a:rPr sz="975" b="1" i="0">
                <a:solidFill>
                  <a:srgbClr val="087B82"/>
                </a:solidFill>
                <a:latin typeface="Arial"/>
                <a:ea typeface="Arial"/>
                <a:cs typeface="Arial"/>
              </a:rPr>
              <a:t>Valid chest layer: discrete involution orbit</a:t>
            </a:r>
          </a:p>
        </p:txBody>
      </p:sp>
      <p:sp>
        <p:nvSpPr>
          <p:cNvPr id="29" name="">
            <a:extLst xmlns:a="http://schemas.openxmlformats.org/drawingml/2006/main">
              <a:ext uri="{FF2B5EF4-FFF2-40B4-BE49-F238E27FC236}">
                <a16:creationId xmlns:a16="http://schemas.microsoft.com/office/drawing/2014/main" id="{716F54C1-1E42-4D88-A7B2-754D9E7B5CE2}"/>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16</a:t>
            </a:r>
          </a:p>
        </p:txBody>
      </p:sp>
    </p:spTree>
    <p:extLst>
      <p:ext uri="{BB962C8B-B14F-4D97-AF65-F5344CB8AC3E}">
        <p14:creationId xmlns:p14="http://schemas.microsoft.com/office/powerpoint/2010/main" val="1418613380"/>
      </p:ext>
    </p:extLst>
  </p:cSld>
  <p:transition spd="slow" advClick="1">
    <p:fade/>
  </p:transition>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30D5EB1-EDE0-4254-8CCE-48A647F35DE8}"/>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5. Edge-projection predecessor</a:t>
            </a:r>
          </a:p>
        </p:txBody>
      </p:sp>
      <p:sp>
        <p:nvSpPr>
          <p:cNvPr id="2" name="">
            <a:extLst xmlns:a="http://schemas.openxmlformats.org/drawingml/2006/main">
              <a:ext uri="{FF2B5EF4-FFF2-40B4-BE49-F238E27FC236}">
                <a16:creationId xmlns:a16="http://schemas.microsoft.com/office/drawing/2014/main" id="{8DD402F6-3FF4-475A-B926-3B0F5F4F675D}"/>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 pair direction retains three projections instead of one sign</a:t>
            </a:r>
          </a:p>
        </p:txBody>
      </p:sp>
      <p:sp>
        <p:nvSpPr>
          <p:cNvPr id="3" name="">
            <a:extLst xmlns:a="http://schemas.openxmlformats.org/drawingml/2006/main">
              <a:ext uri="{FF2B5EF4-FFF2-40B4-BE49-F238E27FC236}">
                <a16:creationId xmlns:a16="http://schemas.microsoft.com/office/drawing/2014/main" id="{EDD50680-48AD-4DE9-BA9B-A555EB93BAF2}"/>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39AF6E7A-5F5D-4C7C-A4FE-D938D7C0395E}"/>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F764A2C1-88E8-4DA0-9804-AC7548D6260E}"/>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2F0D6CE4-24CD-4CFF-BBC9-B3A13DE6D831}"/>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01B5E947-0030-45F9-9B07-84906F358A5C}"/>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BE2C09F2-103A-428E-9FFB-F7C4B4C79F55}"/>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4002FAA2-14F1-4547-8982-874FB5A7A83D}"/>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0BB5AB08-82DC-4F26-AB14-4F3B82BC5CDB}"/>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C978B583-E6FF-47D5-9F95-E4FA8F222185}"/>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1646C40B-B684-435D-A1AE-ACBCC2BACB99}"/>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A54A09BC-86EC-45C8-8AF5-9A7131948ED0}"/>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1DDC3870-7FDD-4A3B-8FF5-F15B926F4212}"/>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5" name="">
            <a:extLst xmlns:a="http://schemas.openxmlformats.org/drawingml/2006/main">
              <a:ext uri="{FF2B5EF4-FFF2-40B4-BE49-F238E27FC236}">
                <a16:creationId xmlns:a16="http://schemas.microsoft.com/office/drawing/2014/main" id="{A8B1CA3C-C3F1-47BE-AB27-36C0E390BFF0}"/>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6" name="">
            <a:extLst xmlns:a="http://schemas.openxmlformats.org/drawingml/2006/main">
              <a:ext uri="{FF2B5EF4-FFF2-40B4-BE49-F238E27FC236}">
                <a16:creationId xmlns:a16="http://schemas.microsoft.com/office/drawing/2014/main" id="{C7BF42B4-3553-4DE1-A1ED-B679E6F93124}"/>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7" name="">
            <a:extLst xmlns:a="http://schemas.openxmlformats.org/drawingml/2006/main">
              <a:ext uri="{FF2B5EF4-FFF2-40B4-BE49-F238E27FC236}">
                <a16:creationId xmlns:a16="http://schemas.microsoft.com/office/drawing/2014/main" id="{288B0A93-AEF7-423D-B415-596DD80AF545}"/>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B3E756D6-F048-4BCB-98AA-4B56DAA48E9B}"/>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19" name="">
            <a:extLst xmlns:a="http://schemas.openxmlformats.org/drawingml/2006/main">
              <a:ext uri="{FF2B5EF4-FFF2-40B4-BE49-F238E27FC236}">
                <a16:creationId xmlns:a16="http://schemas.microsoft.com/office/drawing/2014/main" id="{40873842-9D4D-4967-84FD-80C422DAE931}"/>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69AE15D3-094F-4008-ABFC-DFB4ED4A800C}"/>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1" name="">
            <a:extLst xmlns:a="http://schemas.openxmlformats.org/drawingml/2006/main">
              <a:ext uri="{FF2B5EF4-FFF2-40B4-BE49-F238E27FC236}">
                <a16:creationId xmlns:a16="http://schemas.microsoft.com/office/drawing/2014/main" id="{63E5EACD-3202-402E-8064-81B739DA672D}"/>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642BDA45-C50D-4CDE-AEF7-EF55B7E77DE1}"/>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6291A0B4-CC17-414E-8187-0422E8B8D2A3}"/>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4" name="">
            <a:extLst xmlns:a="http://schemas.openxmlformats.org/drawingml/2006/main">
              <a:ext uri="{FF2B5EF4-FFF2-40B4-BE49-F238E27FC236}">
                <a16:creationId xmlns:a16="http://schemas.microsoft.com/office/drawing/2014/main" id="{1C3A8713-E926-453F-B6F7-4519C4806193}"/>
              </a:ext>
            </a:extLst>
          </p:cNvPr>
          <p:cNvSpPr>
            <a:spLocks xmlns:a="http://schemas.openxmlformats.org/drawingml/2006/main" noGrp="1"/>
          </p:cNvSpPr>
          <p:nvPr/>
        </p:nvSpPr>
        <p:spPr>
          <a:xfrm xmlns:a="http://schemas.openxmlformats.org/drawingml/2006/main">
            <a:off x="852280" y="5459896"/>
            <a:ext cx="6696489" cy="9525"/>
          </a:xfrm>
          <a:custGeom xmlns:a="http://schemas.openxmlformats.org/drawingml/2006/main">
            <a:pathLst>
              <a:path w="6696489" h="9525">
                <a:moveTo>
                  <a:pt x="0" y="0"/>
                </a:moveTo>
                <a:lnTo>
                  <a:pt x="6696489" y="0"/>
                </a:lnTo>
              </a:path>
            </a:pathLst>
          </a:custGeom>
          <a:noFill xmlns:a="http://schemas.openxmlformats.org/drawingml/2006/main"/>
          <a:ln xmlns:a="http://schemas.openxmlformats.org/drawingml/2006/main" w="28575">
            <a:solidFill>
              <a:srgbClr val="3979AD"/>
            </a:solidFill>
            <a:prstDash val="solid"/>
          </a:ln>
        </p:spPr>
      </p:sp>
      <p:sp>
        <p:nvSpPr>
          <p:cNvPr id="25" name="">
            <a:extLst xmlns:a="http://schemas.openxmlformats.org/drawingml/2006/main">
              <a:ext uri="{FF2B5EF4-FFF2-40B4-BE49-F238E27FC236}">
                <a16:creationId xmlns:a16="http://schemas.microsoft.com/office/drawing/2014/main" id="{F9F75480-1977-4A1C-B743-F516DAB8EC8B}"/>
              </a:ext>
            </a:extLst>
          </p:cNvPr>
          <p:cNvSpPr>
            <a:spLocks xmlns:a="http://schemas.openxmlformats.org/drawingml/2006/main" noGrp="1"/>
          </p:cNvSpPr>
          <p:nvPr/>
        </p:nvSpPr>
        <p:spPr>
          <a:xfrm xmlns:a="http://schemas.openxmlformats.org/drawingml/2006/main">
            <a:off x="3714750" y="56388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3979AD"/>
                </a:solidFill>
                <a:latin typeface="Arial"/>
                <a:ea typeface="Arial"/>
                <a:cs typeface="Arial"/>
              </a:defRPr>
            </a:pPr>
            <a:r>
              <a:rPr sz="1350" b="1" i="0">
                <a:solidFill>
                  <a:srgbClr val="3979AD"/>
                </a:solidFill>
                <a:latin typeface="Arial"/>
                <a:ea typeface="Arial"/>
                <a:cs typeface="Arial"/>
              </a:rPr>
              <a:t>n = B − A</a:t>
            </a:r>
          </a:p>
        </p:txBody>
      </p:sp>
      <p:sp>
        <p:nvSpPr>
          <p:cNvPr id="26" name="">
            <a:extLst xmlns:a="http://schemas.openxmlformats.org/drawingml/2006/main">
              <a:ext uri="{FF2B5EF4-FFF2-40B4-BE49-F238E27FC236}">
                <a16:creationId xmlns:a16="http://schemas.microsoft.com/office/drawing/2014/main" id="{E6BFE7C2-0295-41BB-8C49-ECFD20E76462}"/>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3979AD"/>
                </a:solidFill>
                <a:latin typeface="Arial"/>
                <a:ea typeface="Arial"/>
                <a:cs typeface="Arial"/>
              </a:defRPr>
            </a:pPr>
            <a:r>
              <a:rPr sz="2025" b="1" i="0">
                <a:solidFill>
                  <a:srgbClr val="3979AD"/>
                </a:solidFill>
                <a:latin typeface="Arial"/>
                <a:ea typeface="Arial"/>
                <a:cs typeface="Arial"/>
              </a:rPr>
              <a:t>Projection interval</a:t>
            </a:r>
          </a:p>
        </p:txBody>
      </p:sp>
      <p:sp>
        <p:nvSpPr>
          <p:cNvPr id="27" name="">
            <a:extLst xmlns:a="http://schemas.openxmlformats.org/drawingml/2006/main">
              <a:ext uri="{FF2B5EF4-FFF2-40B4-BE49-F238E27FC236}">
                <a16:creationId xmlns:a16="http://schemas.microsoft.com/office/drawing/2014/main" id="{5F6ABDEE-2BB0-422E-A8E8-5F15C0E412E5}"/>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For pair i,j, project its midpoint and both remaining vertices onto n=p_j−p_i. The least and greatest of the three projections bound n·X.</a:t>
            </a:r>
          </a:p>
        </p:txBody>
      </p:sp>
      <p:sp>
        <p:nvSpPr>
          <p:cNvPr id="28" name="">
            <a:extLst xmlns:a="http://schemas.openxmlformats.org/drawingml/2006/main">
              <a:ext uri="{FF2B5EF4-FFF2-40B4-BE49-F238E27FC236}">
                <a16:creationId xmlns:a16="http://schemas.microsoft.com/office/drawing/2014/main" id="{82062874-E363-48AD-ADEE-F8A6177BA860}"/>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3979AD"/>
            </a:solidFill>
          </a:ln>
        </p:spPr>
      </p:sp>
      <p:sp>
        <p:nvSpPr>
          <p:cNvPr id="29" name="">
            <a:extLst xmlns:a="http://schemas.openxmlformats.org/drawingml/2006/main">
              <a:ext uri="{FF2B5EF4-FFF2-40B4-BE49-F238E27FC236}">
                <a16:creationId xmlns:a16="http://schemas.microsoft.com/office/drawing/2014/main" id="{5897C333-CBF1-4BED-A7CA-45E1BF799789}"/>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3979AD"/>
                </a:solidFill>
                <a:latin typeface="Arial"/>
                <a:ea typeface="Arial"/>
                <a:cs typeface="Arial"/>
              </a:defRPr>
            </a:pPr>
            <a:r>
              <a:rPr sz="975" b="1" i="0">
                <a:solidFill>
                  <a:srgbClr val="3979AD"/>
                </a:solidFill>
                <a:latin typeface="Arial"/>
                <a:ea typeface="Arial"/>
                <a:cs typeface="Arial"/>
              </a:rPr>
              <a:t>Valid chest layer: edge-projection slabs</a:t>
            </a:r>
          </a:p>
        </p:txBody>
      </p:sp>
      <p:sp>
        <p:nvSpPr>
          <p:cNvPr id="30" name="">
            <a:extLst xmlns:a="http://schemas.openxmlformats.org/drawingml/2006/main">
              <a:ext uri="{FF2B5EF4-FFF2-40B4-BE49-F238E27FC236}">
                <a16:creationId xmlns:a16="http://schemas.microsoft.com/office/drawing/2014/main" id="{713F3996-6DDA-494C-8925-7EA97CFD3E83}"/>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17</a:t>
            </a:r>
          </a:p>
        </p:txBody>
      </p:sp>
    </p:spTree>
    <p:extLst>
      <p:ext uri="{BB962C8B-B14F-4D97-AF65-F5344CB8AC3E}">
        <p14:creationId xmlns:p14="http://schemas.microsoft.com/office/powerpoint/2010/main" val="105458538"/>
      </p:ext>
    </p:extLst>
  </p:cSld>
  <p:transition spd="slow" advClick="1">
    <p:fade/>
  </p:transition>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1ABCFD5-F20A-4C3B-B736-A5BB57B62C10}"/>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5. Edge-projection slabs</a:t>
            </a:r>
          </a:p>
        </p:txBody>
      </p:sp>
      <p:sp>
        <p:nvSpPr>
          <p:cNvPr id="2" name="">
            <a:extLst xmlns:a="http://schemas.openxmlformats.org/drawingml/2006/main">
              <a:ext uri="{FF2B5EF4-FFF2-40B4-BE49-F238E27FC236}">
                <a16:creationId xmlns:a16="http://schemas.microsoft.com/office/drawing/2014/main" id="{2FC35410-7FE6-4C79-BD8D-84B9EF33795F}"/>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All six pairs refine the elementary four-point chest</a:t>
            </a:r>
          </a:p>
        </p:txBody>
      </p:sp>
      <p:sp>
        <p:nvSpPr>
          <p:cNvPr id="3" name="">
            <a:extLst xmlns:a="http://schemas.openxmlformats.org/drawingml/2006/main">
              <a:ext uri="{FF2B5EF4-FFF2-40B4-BE49-F238E27FC236}">
                <a16:creationId xmlns:a16="http://schemas.microsoft.com/office/drawing/2014/main" id="{6F729426-64A3-4F06-9F72-568C06F5B4AD}"/>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3CF0B7CB-E5EA-4543-8F1A-0E1F5D2B3FD0}"/>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939DBE52-DFC3-4E74-B3A0-378155E6F34C}"/>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0369683D-A369-415F-A911-D5BB576A7018}"/>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282667E7-3D7E-4442-95B0-3B7B279FD9F5}"/>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7D350B48-2297-4DD0-AFEE-626F606E3B56}"/>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7E002688-C0F3-4E01-A6AB-6AF9B15E52F2}"/>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EE0F541A-1019-4DB8-9A0F-57F00E23D570}"/>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598E4DCF-D8CB-49B8-BBC4-2EB60FB65500}"/>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812CD724-0DDC-4D59-8199-4E770DDC5E73}"/>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E9245A4D-9FE1-4A39-8411-330C933FD09C}"/>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85E7D599-BDF1-4773-9132-2A5E85039ABC}"/>
              </a:ext>
            </a:extLst>
          </p:cNvPr>
          <p:cNvSpPr>
            <a:spLocks xmlns:a="http://schemas.openxmlformats.org/drawingml/2006/main" noGrp="1"/>
          </p:cNvSpPr>
          <p:nvPr/>
        </p:nvSpPr>
        <p:spPr>
          <a:xfrm xmlns:a="http://schemas.openxmlformats.org/drawingml/2006/main">
            <a:off x="2446683" y="3334026"/>
            <a:ext cx="1753842" cy="1275522"/>
          </a:xfrm>
          <a:custGeom xmlns:a="http://schemas.openxmlformats.org/drawingml/2006/main">
            <a:pathLst>
              <a:path w="1753842" h="1275522">
                <a:moveTo>
                  <a:pt x="0" y="544754"/>
                </a:moveTo>
                <a:lnTo>
                  <a:pt x="1753842" y="1275522"/>
                </a:lnTo>
                <a:lnTo>
                  <a:pt x="1753842" y="730768"/>
                </a:lnTo>
                <a:lnTo>
                  <a:pt x="0" y="0"/>
                </a:lnTo>
                <a:close/>
              </a:path>
            </a:pathLst>
          </a:custGeom>
          <a:solidFill xmlns:a="http://schemas.openxmlformats.org/drawingml/2006/main">
            <a:srgbClr val="3979AD">
              <a:alpha val="32000"/>
            </a:srgbClr>
          </a:solidFill>
          <a:ln xmlns:a="http://schemas.openxmlformats.org/drawingml/2006/main" w="28575">
            <a:solidFill>
              <a:srgbClr val="3979AD"/>
            </a:solidFill>
            <a:prstDash val="solid"/>
          </a:ln>
        </p:spPr>
      </p:sp>
      <p:sp>
        <p:nvSpPr>
          <p:cNvPr id="15" name="">
            <a:extLst xmlns:a="http://schemas.openxmlformats.org/drawingml/2006/main">
              <a:ext uri="{FF2B5EF4-FFF2-40B4-BE49-F238E27FC236}">
                <a16:creationId xmlns:a16="http://schemas.microsoft.com/office/drawing/2014/main" id="{4B6A863C-50EB-42D8-8586-AB8565B5F929}"/>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3B57A344-CD90-4E5C-BF0A-695601F2CF9D}"/>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E58C31B9-FBDF-4392-9755-DAAC91CF3F29}"/>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D4C4CD53-94DB-49BC-BD69-F0126C9CF8D6}"/>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4E39922C-0430-4BF9-B141-23705E8A5C6E}"/>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774AE038-274D-4D50-86DB-568B029D8AD0}"/>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7988A98C-F4F2-43AB-A327-65EFECBC6F0C}"/>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F1C305E8-7032-4E29-9458-874E6BAFC746}"/>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2419A33F-B51A-420F-A38B-B6FD43BC1F6C}"/>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765E673E-933D-4C98-844E-26123483A3E0}"/>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FA97FA6E-20B3-421C-AE49-A04D121B4976}"/>
              </a:ext>
            </a:extLst>
          </p:cNvPr>
          <p:cNvSpPr>
            <a:spLocks xmlns:a="http://schemas.openxmlformats.org/drawingml/2006/main" noGrp="1"/>
          </p:cNvSpPr>
          <p:nvPr/>
        </p:nvSpPr>
        <p:spPr>
          <a:xfrm xmlns:a="http://schemas.openxmlformats.org/drawingml/2006/main">
            <a:off x="8382000" y="161925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3979AD"/>
                </a:solidFill>
                <a:latin typeface="Arial"/>
                <a:ea typeface="Arial"/>
                <a:cs typeface="Arial"/>
              </a:defRPr>
            </a:pPr>
            <a:r>
              <a:rPr sz="4050" b="1" i="0">
                <a:solidFill>
                  <a:srgbClr val="3979AD"/>
                </a:solidFill>
                <a:latin typeface="Arial"/>
                <a:ea typeface="Arial"/>
                <a:cs typeface="Arial"/>
              </a:rPr>
              <a:t>7.4570%</a:t>
            </a:r>
          </a:p>
        </p:txBody>
      </p:sp>
      <p:sp>
        <p:nvSpPr>
          <p:cNvPr id="26" name="">
            <a:extLst xmlns:a="http://schemas.openxmlformats.org/drawingml/2006/main">
              <a:ext uri="{FF2B5EF4-FFF2-40B4-BE49-F238E27FC236}">
                <a16:creationId xmlns:a16="http://schemas.microsoft.com/office/drawing/2014/main" id="{BE6D43AF-F275-4599-B235-BB3110F00FA7}"/>
              </a:ext>
            </a:extLst>
          </p:cNvPr>
          <p:cNvSpPr>
            <a:spLocks xmlns:a="http://schemas.openxmlformats.org/drawingml/2006/main" noGrp="1"/>
          </p:cNvSpPr>
          <p:nvPr/>
        </p:nvSpPr>
        <p:spPr>
          <a:xfrm xmlns:a="http://schemas.openxmlformats.org/drawingml/2006/main">
            <a:off x="8572500" y="228600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edge slabs + midpoint slabs</a:t>
            </a:r>
          </a:p>
        </p:txBody>
      </p:sp>
      <p:sp>
        <p:nvSpPr>
          <p:cNvPr id="27" name="">
            <a:extLst xmlns:a="http://schemas.openxmlformats.org/drawingml/2006/main">
              <a:ext uri="{FF2B5EF4-FFF2-40B4-BE49-F238E27FC236}">
                <a16:creationId xmlns:a16="http://schemas.microsoft.com/office/drawing/2014/main" id="{2A19714E-5EF8-44FD-80A9-905E7168DADD}"/>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3979AD"/>
            </a:solidFill>
          </a:ln>
        </p:spPr>
      </p:sp>
      <p:sp>
        <p:nvSpPr>
          <p:cNvPr id="28" name="">
            <a:extLst xmlns:a="http://schemas.openxmlformats.org/drawingml/2006/main">
              <a:ext uri="{FF2B5EF4-FFF2-40B4-BE49-F238E27FC236}">
                <a16:creationId xmlns:a16="http://schemas.microsoft.com/office/drawing/2014/main" id="{B98F943F-1BAD-4BE3-A991-F5D49605AB01}"/>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3979AD"/>
                </a:solidFill>
                <a:latin typeface="Arial"/>
                <a:ea typeface="Arial"/>
                <a:cs typeface="Arial"/>
              </a:defRPr>
            </a:pPr>
            <a:r>
              <a:rPr sz="975" b="1" i="0">
                <a:solidFill>
                  <a:srgbClr val="3979AD"/>
                </a:solidFill>
                <a:latin typeface="Arial"/>
                <a:ea typeface="Arial"/>
                <a:cs typeface="Arial"/>
              </a:rPr>
              <a:t>Valid chest layer: edge-projection slabs</a:t>
            </a:r>
          </a:p>
        </p:txBody>
      </p:sp>
      <p:sp>
        <p:nvSpPr>
          <p:cNvPr id="29" name="">
            <a:extLst xmlns:a="http://schemas.openxmlformats.org/drawingml/2006/main">
              <a:ext uri="{FF2B5EF4-FFF2-40B4-BE49-F238E27FC236}">
                <a16:creationId xmlns:a16="http://schemas.microsoft.com/office/drawing/2014/main" id="{C4814DAC-D2E1-4943-BFD4-12ECCE0205A0}"/>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18</a:t>
            </a:r>
          </a:p>
        </p:txBody>
      </p:sp>
    </p:spTree>
    <p:extLst>
      <p:ext uri="{BB962C8B-B14F-4D97-AF65-F5344CB8AC3E}">
        <p14:creationId xmlns:p14="http://schemas.microsoft.com/office/powerpoint/2010/main" val="1304874045"/>
      </p:ext>
    </p:extLst>
  </p:cSld>
  <p:transition spd="slow" advClick="1">
    <p:fade/>
  </p:transition>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FBD49E0-6D45-4B65-9E5A-F8885E9B17AD}"/>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6. Centroid insertion</a:t>
            </a:r>
          </a:p>
        </p:txBody>
      </p:sp>
      <p:sp>
        <p:nvSpPr>
          <p:cNvPr id="2" name="">
            <a:extLst xmlns:a="http://schemas.openxmlformats.org/drawingml/2006/main">
              <a:ext uri="{FF2B5EF4-FFF2-40B4-BE49-F238E27FC236}">
                <a16:creationId xmlns:a16="http://schemas.microsoft.com/office/drawing/2014/main" id="{805600F0-DF4B-4A9B-AAD9-C6B7876F5013}"/>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Insert the centroid of an omitted face into an attractive four-input map</a:t>
            </a:r>
          </a:p>
        </p:txBody>
      </p:sp>
      <p:sp>
        <p:nvSpPr>
          <p:cNvPr id="3" name="">
            <a:extLst xmlns:a="http://schemas.openxmlformats.org/drawingml/2006/main">
              <a:ext uri="{FF2B5EF4-FFF2-40B4-BE49-F238E27FC236}">
                <a16:creationId xmlns:a16="http://schemas.microsoft.com/office/drawing/2014/main" id="{DEC6E3DE-FFD4-4770-A096-42611898AC94}"/>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E7A7B785-598A-4074-B01E-014FF740DF67}"/>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449A2E2D-DF52-4DEE-9F4E-CD3472E78F53}"/>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6F0B6B55-C954-4AC0-B87F-B4658343E7F9}"/>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8978D4C9-536A-4678-AE35-6E46E9E7319A}"/>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C4A312D0-2ACE-44D0-94C2-3E73DDA5854D}"/>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A8B37795-3927-47D4-A155-CD225E6E048B}"/>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DC237EBE-258B-4248-9301-6469716B2C48}"/>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D5D14CCF-6050-4CB4-ADDA-29EF7F5C1083}"/>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A01948F3-9306-46CA-9E39-1179A2725349}"/>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8FE4819A-B4ED-4885-A454-FD8F1B1A8CDE}"/>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12D7A06C-4E53-480D-A810-3592CBC78D50}"/>
              </a:ext>
            </a:extLst>
          </p:cNvPr>
          <p:cNvSpPr>
            <a:spLocks xmlns:a="http://schemas.openxmlformats.org/drawingml/2006/main" noGrp="1"/>
          </p:cNvSpPr>
          <p:nvPr/>
        </p:nvSpPr>
        <p:spPr>
          <a:xfrm xmlns:a="http://schemas.openxmlformats.org/drawingml/2006/main">
            <a:off x="2754115" y="3505178"/>
            <a:ext cx="1446410" cy="1104369"/>
          </a:xfrm>
          <a:custGeom xmlns:a="http://schemas.openxmlformats.org/drawingml/2006/main">
            <a:pathLst>
              <a:path w="1446410" h="1104369">
                <a:moveTo>
                  <a:pt x="1446410" y="1104369"/>
                </a:moveTo>
                <a:lnTo>
                  <a:pt x="1446410" y="559616"/>
                </a:lnTo>
                <a:lnTo>
                  <a:pt x="103330" y="0"/>
                </a:lnTo>
                <a:lnTo>
                  <a:pt x="0" y="501701"/>
                </a:lnTo>
                <a:close/>
              </a:path>
            </a:pathLst>
          </a:custGeom>
          <a:solidFill xmlns:a="http://schemas.openxmlformats.org/drawingml/2006/main">
            <a:srgbClr val="158368">
              <a:alpha val="30000"/>
            </a:srgbClr>
          </a:solidFill>
          <a:ln xmlns:a="http://schemas.openxmlformats.org/drawingml/2006/main" w="28575">
            <a:solidFill>
              <a:srgbClr val="158368"/>
            </a:solidFill>
            <a:prstDash val="solid"/>
          </a:ln>
        </p:spPr>
      </p:sp>
      <p:sp>
        <p:nvSpPr>
          <p:cNvPr id="15" name="">
            <a:extLst xmlns:a="http://schemas.openxmlformats.org/drawingml/2006/main">
              <a:ext uri="{FF2B5EF4-FFF2-40B4-BE49-F238E27FC236}">
                <a16:creationId xmlns:a16="http://schemas.microsoft.com/office/drawing/2014/main" id="{FD510E39-C557-4980-B3B8-7D257277E223}"/>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761D33E3-F373-4321-9892-0443FC595829}"/>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645DA896-0083-4197-9028-5758F2D8D9CD}"/>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ED8399DC-B747-4B0B-94D3-E663DEB03081}"/>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37A4FC1D-14C4-40D9-A2D1-645FE328CF50}"/>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64B05892-1960-47AF-81CF-559A0E3FFA37}"/>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496C6E5B-DABF-4E1B-8888-77CB5007435B}"/>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0FECF753-1A5E-40A5-899D-0A30F795E200}"/>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4A3C7835-6E43-48F9-A92E-5994FC10E6EE}"/>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50724360-59AA-4388-989E-A1B5D1C49D94}"/>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437C8F40-7748-4F77-8E97-48545CF8F1E5}"/>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158368"/>
                </a:solidFill>
                <a:latin typeface="Arial"/>
                <a:ea typeface="Arial"/>
                <a:cs typeface="Arial"/>
              </a:defRPr>
            </a:pPr>
            <a:r>
              <a:rPr sz="2025" b="1" i="0">
                <a:solidFill>
                  <a:srgbClr val="158368"/>
                </a:solidFill>
                <a:latin typeface="Arial"/>
                <a:ea typeface="Arial"/>
                <a:cs typeface="Arial"/>
              </a:rPr>
              <a:t>A broad unconditional theorem</a:t>
            </a:r>
          </a:p>
        </p:txBody>
      </p:sp>
      <p:sp>
        <p:nvSpPr>
          <p:cNvPr id="26" name="">
            <a:extLst xmlns:a="http://schemas.openxmlformats.org/drawingml/2006/main">
              <a:ext uri="{FF2B5EF4-FFF2-40B4-BE49-F238E27FC236}">
                <a16:creationId xmlns:a16="http://schemas.microsoft.com/office/drawing/2014/main" id="{5366DEEC-EF12-4B76-B2EB-C4DF156C0560}"/>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Y(A,B,C)=X₄(A,B,C,G(A,B,C)) is attractive. Moving one face vertex moves G by one third of the same displacement; the two response inequalities add.</a:t>
            </a:r>
          </a:p>
        </p:txBody>
      </p:sp>
      <p:sp>
        <p:nvSpPr>
          <p:cNvPr id="27" name="">
            <a:extLst xmlns:a="http://schemas.openxmlformats.org/drawingml/2006/main">
              <a:ext uri="{FF2B5EF4-FFF2-40B4-BE49-F238E27FC236}">
                <a16:creationId xmlns:a16="http://schemas.microsoft.com/office/drawing/2014/main" id="{DFC5BFF6-4B4C-45C4-88BB-0F2A979905E0}"/>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158368"/>
            </a:solidFill>
          </a:ln>
        </p:spPr>
      </p:sp>
      <p:sp>
        <p:nvSpPr>
          <p:cNvPr id="28" name="">
            <a:extLst xmlns:a="http://schemas.openxmlformats.org/drawingml/2006/main">
              <a:ext uri="{FF2B5EF4-FFF2-40B4-BE49-F238E27FC236}">
                <a16:creationId xmlns:a16="http://schemas.microsoft.com/office/drawing/2014/main" id="{06BAC606-4043-41D2-AC4A-91B224406524}"/>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158368"/>
                </a:solidFill>
                <a:latin typeface="Arial"/>
                <a:ea typeface="Arial"/>
                <a:cs typeface="Arial"/>
              </a:defRPr>
            </a:pPr>
            <a:r>
              <a:rPr sz="975" b="1" i="0">
                <a:solidFill>
                  <a:srgbClr val="158368"/>
                </a:solidFill>
                <a:latin typeface="Arial"/>
                <a:ea typeface="Arial"/>
                <a:cs typeface="Arial"/>
              </a:rPr>
              <a:t>Valid chest layer: centroid transfer</a:t>
            </a:r>
          </a:p>
        </p:txBody>
      </p:sp>
      <p:sp>
        <p:nvSpPr>
          <p:cNvPr id="29" name="">
            <a:extLst xmlns:a="http://schemas.openxmlformats.org/drawingml/2006/main">
              <a:ext uri="{FF2B5EF4-FFF2-40B4-BE49-F238E27FC236}">
                <a16:creationId xmlns:a16="http://schemas.microsoft.com/office/drawing/2014/main" id="{CE19E039-D662-4672-8DEE-178AAA061B49}"/>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19</a:t>
            </a:r>
          </a:p>
        </p:txBody>
      </p:sp>
    </p:spTree>
    <p:extLst>
      <p:ext uri="{BB962C8B-B14F-4D97-AF65-F5344CB8AC3E}">
        <p14:creationId xmlns:p14="http://schemas.microsoft.com/office/powerpoint/2010/main" val="692896965"/>
      </p:ext>
    </p:extLst>
  </p:cSld>
  <p:transition spd="slow" advClick="1">
    <p:fade/>
  </p:transition>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55F912A-FE0C-41F8-88C7-21B9F5A23FCE}"/>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6. Transfer at D = G(ABC)</a:t>
            </a:r>
          </a:p>
        </p:txBody>
      </p:sp>
      <p:sp>
        <p:nvSpPr>
          <p:cNvPr id="2" name="">
            <a:extLst xmlns:a="http://schemas.openxmlformats.org/drawingml/2006/main">
              <a:ext uri="{FF2B5EF4-FFF2-40B4-BE49-F238E27FC236}">
                <a16:creationId xmlns:a16="http://schemas.microsoft.com/office/drawing/2014/main" id="{124388A0-2790-49BD-BEDB-48AD8ECA5121}"/>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The whole standard triangle chest transfers at exact coincidence</a:t>
            </a:r>
          </a:p>
        </p:txBody>
      </p:sp>
      <p:sp>
        <p:nvSpPr>
          <p:cNvPr id="3" name="">
            <a:extLst xmlns:a="http://schemas.openxmlformats.org/drawingml/2006/main">
              <a:ext uri="{FF2B5EF4-FFF2-40B4-BE49-F238E27FC236}">
                <a16:creationId xmlns:a16="http://schemas.microsoft.com/office/drawing/2014/main" id="{5B8BC4E7-7415-4C7A-AAF1-8A700B212690}"/>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1D632124-37D1-4626-A281-BF112C78A9A0}"/>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04F110A0-F2F1-4B77-82EA-F756BE46E8C5}"/>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DBEAD521-D42F-4B3C-A42A-4E5866C46D0B}"/>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9294BF0A-5866-4AD9-BC99-B7E88062A49A}"/>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59330C27-4BAF-451A-86C1-30E944FD774E}"/>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9BAEB192-427F-4DC8-A8BB-8289E14816E2}"/>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230551C7-E1E4-4340-A2F8-465A5979A1D7}"/>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1C1B1392-08DA-47BE-B008-6EB911BD681D}"/>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466E8C41-DF83-4D4F-8113-43055E2AA363}"/>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9F085D69-EBD2-46AE-96E7-3A658CA567AA}"/>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A7504AA6-EDB0-4B10-AFF1-487EB01097E3}"/>
              </a:ext>
            </a:extLst>
          </p:cNvPr>
          <p:cNvSpPr>
            <a:spLocks xmlns:a="http://schemas.openxmlformats.org/drawingml/2006/main" noGrp="1"/>
          </p:cNvSpPr>
          <p:nvPr/>
        </p:nvSpPr>
        <p:spPr>
          <a:xfrm xmlns:a="http://schemas.openxmlformats.org/drawingml/2006/main">
            <a:off x="2754115" y="3505178"/>
            <a:ext cx="1446410" cy="1104369"/>
          </a:xfrm>
          <a:custGeom xmlns:a="http://schemas.openxmlformats.org/drawingml/2006/main">
            <a:pathLst>
              <a:path w="1446410" h="1104369">
                <a:moveTo>
                  <a:pt x="1446410" y="1104369"/>
                </a:moveTo>
                <a:lnTo>
                  <a:pt x="1446410" y="559616"/>
                </a:lnTo>
                <a:lnTo>
                  <a:pt x="103330" y="0"/>
                </a:lnTo>
                <a:lnTo>
                  <a:pt x="0" y="501701"/>
                </a:lnTo>
                <a:close/>
              </a:path>
            </a:pathLst>
          </a:custGeom>
          <a:solidFill xmlns:a="http://schemas.openxmlformats.org/drawingml/2006/main">
            <a:srgbClr val="158368">
              <a:alpha val="38000"/>
            </a:srgbClr>
          </a:solidFill>
          <a:ln xmlns:a="http://schemas.openxmlformats.org/drawingml/2006/main" w="28575">
            <a:solidFill>
              <a:srgbClr val="158368"/>
            </a:solidFill>
            <a:prstDash val="solid"/>
          </a:ln>
        </p:spPr>
      </p:sp>
      <p:sp>
        <p:nvSpPr>
          <p:cNvPr id="15" name="">
            <a:extLst xmlns:a="http://schemas.openxmlformats.org/drawingml/2006/main">
              <a:ext uri="{FF2B5EF4-FFF2-40B4-BE49-F238E27FC236}">
                <a16:creationId xmlns:a16="http://schemas.microsoft.com/office/drawing/2014/main" id="{30883E2F-5B5B-4797-98C2-0F624696145E}"/>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DA9EF8E7-C411-451D-85EA-3390028BEB89}"/>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D87DB042-7A1F-4A60-90D5-13B53708B434}"/>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3899CB70-C605-42C5-A544-C3BF280A7284}"/>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DAF9ED37-F626-40A3-98E0-84151E0723C4}"/>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D33C5EB6-20BF-420B-B2B7-5C9DC280DA85}"/>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7D34BB8E-E7A0-45EB-8C6A-27A5808BAD86}"/>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42393560-370D-44A8-BC1A-460E312EA47D}"/>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EB843D96-D6C5-4AC6-A16C-E6C89D52E630}"/>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0060764A-299C-4CAF-8C4E-27D93372E96F}"/>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B823D759-D13A-47E0-BA51-C4C3845C7ADC}"/>
              </a:ext>
            </a:extLst>
          </p:cNvPr>
          <p:cNvSpPr>
            <a:spLocks xmlns:a="http://schemas.openxmlformats.org/drawingml/2006/main" noGrp="1"/>
          </p:cNvSpPr>
          <p:nvPr/>
        </p:nvSpPr>
        <p:spPr>
          <a:xfrm xmlns:a="http://schemas.openxmlformats.org/drawingml/2006/main">
            <a:off x="8382000" y="161925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158368"/>
                </a:solidFill>
                <a:latin typeface="Arial"/>
                <a:ea typeface="Arial"/>
                <a:cs typeface="Arial"/>
              </a:defRPr>
            </a:pPr>
            <a:r>
              <a:rPr sz="4050" b="1" i="0">
                <a:solidFill>
                  <a:srgbClr val="158368"/>
                </a:solidFill>
                <a:latin typeface="Arial"/>
                <a:ea typeface="Arial"/>
                <a:cs typeface="Arial"/>
              </a:rPr>
              <a:t>5.9302%</a:t>
            </a:r>
          </a:p>
        </p:txBody>
      </p:sp>
      <p:sp>
        <p:nvSpPr>
          <p:cNvPr id="26" name="">
            <a:extLst xmlns:a="http://schemas.openxmlformats.org/drawingml/2006/main">
              <a:ext uri="{FF2B5EF4-FFF2-40B4-BE49-F238E27FC236}">
                <a16:creationId xmlns:a16="http://schemas.microsoft.com/office/drawing/2014/main" id="{4A761B79-1266-4C78-90F3-2883ADC084A9}"/>
              </a:ext>
            </a:extLst>
          </p:cNvPr>
          <p:cNvSpPr>
            <a:spLocks xmlns:a="http://schemas.openxmlformats.org/drawingml/2006/main" noGrp="1"/>
          </p:cNvSpPr>
          <p:nvPr/>
        </p:nvSpPr>
        <p:spPr>
          <a:xfrm xmlns:a="http://schemas.openxmlformats.org/drawingml/2006/main">
            <a:off x="8572500" y="228600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centroid transfer here</a:t>
            </a:r>
          </a:p>
        </p:txBody>
      </p:sp>
      <p:sp>
        <p:nvSpPr>
          <p:cNvPr id="27" name="">
            <a:extLst xmlns:a="http://schemas.openxmlformats.org/drawingml/2006/main">
              <a:ext uri="{FF2B5EF4-FFF2-40B4-BE49-F238E27FC236}">
                <a16:creationId xmlns:a16="http://schemas.microsoft.com/office/drawing/2014/main" id="{B867A969-EB80-4EFD-8D06-38218D2AE03C}"/>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158368"/>
            </a:solidFill>
          </a:ln>
        </p:spPr>
      </p:sp>
      <p:sp>
        <p:nvSpPr>
          <p:cNvPr id="28" name="">
            <a:extLst xmlns:a="http://schemas.openxmlformats.org/drawingml/2006/main">
              <a:ext uri="{FF2B5EF4-FFF2-40B4-BE49-F238E27FC236}">
                <a16:creationId xmlns:a16="http://schemas.microsoft.com/office/drawing/2014/main" id="{4B1699B7-75BF-49B9-A0DB-A8CB4583CEA7}"/>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158368"/>
                </a:solidFill>
                <a:latin typeface="Arial"/>
                <a:ea typeface="Arial"/>
                <a:cs typeface="Arial"/>
              </a:defRPr>
            </a:pPr>
            <a:r>
              <a:rPr sz="975" b="1" i="0">
                <a:solidFill>
                  <a:srgbClr val="158368"/>
                </a:solidFill>
                <a:latin typeface="Arial"/>
                <a:ea typeface="Arial"/>
                <a:cs typeface="Arial"/>
              </a:rPr>
              <a:t>Valid chest layer: centroid transfer</a:t>
            </a:r>
          </a:p>
        </p:txBody>
      </p:sp>
      <p:sp>
        <p:nvSpPr>
          <p:cNvPr id="29" name="">
            <a:extLst xmlns:a="http://schemas.openxmlformats.org/drawingml/2006/main">
              <a:ext uri="{FF2B5EF4-FFF2-40B4-BE49-F238E27FC236}">
                <a16:creationId xmlns:a16="http://schemas.microsoft.com/office/drawing/2014/main" id="{40EBB9D6-08C1-454C-B244-71562185FEF1}"/>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20</a:t>
            </a:r>
          </a:p>
        </p:txBody>
      </p:sp>
    </p:spTree>
    <p:extLst>
      <p:ext uri="{BB962C8B-B14F-4D97-AF65-F5344CB8AC3E}">
        <p14:creationId xmlns:p14="http://schemas.microsoft.com/office/powerpoint/2010/main" val="281646568"/>
      </p:ext>
    </p:extLst>
  </p:cSld>
  <p:transition spd="slow" advClick="1">
    <p:fade/>
  </p:transition>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C0DCE71-93B4-419D-AAFB-F56EB77B0B47}"/>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6. Transfer when D is free</a:t>
            </a:r>
          </a:p>
        </p:txBody>
      </p:sp>
      <p:sp>
        <p:nvSpPr>
          <p:cNvPr id="2" name="">
            <a:extLst xmlns:a="http://schemas.openxmlformats.org/drawingml/2006/main">
              <a:ext uri="{FF2B5EF4-FFF2-40B4-BE49-F238E27FC236}">
                <a16:creationId xmlns:a16="http://schemas.microsoft.com/office/drawing/2014/main" id="{3A20108B-1F1E-4CDF-A3E3-64EC70290099}"/>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Only the directional support bound transfers away from centroid coincidence</a:t>
            </a:r>
          </a:p>
        </p:txBody>
      </p:sp>
      <p:sp>
        <p:nvSpPr>
          <p:cNvPr id="3" name="">
            <a:extLst xmlns:a="http://schemas.openxmlformats.org/drawingml/2006/main">
              <a:ext uri="{FF2B5EF4-FFF2-40B4-BE49-F238E27FC236}">
                <a16:creationId xmlns:a16="http://schemas.microsoft.com/office/drawing/2014/main" id="{29928545-4BA1-44CD-AC05-F9B2D34A21CC}"/>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E4ACA3C0-ADA9-4C0F-881D-CE62B52641B3}"/>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FBEFBFFB-924C-4341-9BE7-D1CFB7757240}"/>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ABD9C332-6A06-48F3-B741-F4D7BDABFC14}"/>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11E4C553-D321-4003-B78C-1CD8348C60F2}"/>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35E3FCE9-9ED0-45FC-9122-F3B7535021E5}"/>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80B1528B-30B9-4EF5-BD8D-535D9DBBA2E9}"/>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8A796649-0579-4AFF-A997-4391DDE09215}"/>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84667EAE-5310-4C5A-9D2E-4CF0193BD6AB}"/>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B81A9E0D-3914-428B-9F1D-F79E86C496D1}"/>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8F1DB505-F79D-4B5A-A331-D700B8475A29}"/>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A28F2BBD-9355-482A-86F7-E49419C7AE6B}"/>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5" name="">
            <a:extLst xmlns:a="http://schemas.openxmlformats.org/drawingml/2006/main">
              <a:ext uri="{FF2B5EF4-FFF2-40B4-BE49-F238E27FC236}">
                <a16:creationId xmlns:a16="http://schemas.microsoft.com/office/drawing/2014/main" id="{1215EBB5-444D-40A9-B558-9B915561047C}"/>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6" name="">
            <a:extLst xmlns:a="http://schemas.openxmlformats.org/drawingml/2006/main">
              <a:ext uri="{FF2B5EF4-FFF2-40B4-BE49-F238E27FC236}">
                <a16:creationId xmlns:a16="http://schemas.microsoft.com/office/drawing/2014/main" id="{9A010E7B-9E85-41B6-B1AF-2B8D96678FF8}"/>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7" name="">
            <a:extLst xmlns:a="http://schemas.openxmlformats.org/drawingml/2006/main">
              <a:ext uri="{FF2B5EF4-FFF2-40B4-BE49-F238E27FC236}">
                <a16:creationId xmlns:a16="http://schemas.microsoft.com/office/drawing/2014/main" id="{A178A738-E277-42D3-A73A-81D4BE901CB5}"/>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C27F9988-B222-4253-B608-30A583135518}"/>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19" name="">
            <a:extLst xmlns:a="http://schemas.openxmlformats.org/drawingml/2006/main">
              <a:ext uri="{FF2B5EF4-FFF2-40B4-BE49-F238E27FC236}">
                <a16:creationId xmlns:a16="http://schemas.microsoft.com/office/drawing/2014/main" id="{6DB7D874-87DC-49DD-B403-CB3A6B69CC24}"/>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6F9DA6FD-73A1-4981-890C-E306590EEF0C}"/>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1" name="">
            <a:extLst xmlns:a="http://schemas.openxmlformats.org/drawingml/2006/main">
              <a:ext uri="{FF2B5EF4-FFF2-40B4-BE49-F238E27FC236}">
                <a16:creationId xmlns:a16="http://schemas.microsoft.com/office/drawing/2014/main" id="{9C11C1AE-62BF-4D74-80BC-94904499A7F1}"/>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E019F616-CFE0-4952-A3FF-54AEF1A84AA3}"/>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1108FCBC-BF97-47DE-8758-6E16F8251263}"/>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4" name="">
            <a:extLst xmlns:a="http://schemas.openxmlformats.org/drawingml/2006/main">
              <a:ext uri="{FF2B5EF4-FFF2-40B4-BE49-F238E27FC236}">
                <a16:creationId xmlns:a16="http://schemas.microsoft.com/office/drawing/2014/main" id="{BB479A26-C5AA-4343-AF0F-86132498B56B}"/>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158368"/>
                </a:solidFill>
                <a:latin typeface="Arial"/>
                <a:ea typeface="Arial"/>
                <a:cs typeface="Arial"/>
              </a:defRPr>
            </a:pPr>
            <a:r>
              <a:rPr sz="2025" b="1" i="0">
                <a:solidFill>
                  <a:srgbClr val="158368"/>
                </a:solidFill>
                <a:latin typeface="Arial"/>
                <a:ea typeface="Arial"/>
                <a:cs typeface="Arial"/>
              </a:rPr>
              <a:t>Free fourth point</a:t>
            </a:r>
          </a:p>
        </p:txBody>
      </p:sp>
      <p:sp>
        <p:nvSpPr>
          <p:cNvPr id="25" name="">
            <a:extLst xmlns:a="http://schemas.openxmlformats.org/drawingml/2006/main">
              <a:ext uri="{FF2B5EF4-FFF2-40B4-BE49-F238E27FC236}">
                <a16:creationId xmlns:a16="http://schemas.microsoft.com/office/drawing/2014/main" id="{DFDA5DFE-04CD-439C-A5CC-82441EC1BD75}"/>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For each omitted face, use the direction from its centroid toward the remaining point and minimize the corresponding support over the face chest. The repaired explorer recalculates all four inequalities while any vertex is dragged.</a:t>
            </a:r>
          </a:p>
        </p:txBody>
      </p:sp>
      <p:sp>
        <p:nvSpPr>
          <p:cNvPr id="26" name="">
            <a:extLst xmlns:a="http://schemas.openxmlformats.org/drawingml/2006/main">
              <a:ext uri="{FF2B5EF4-FFF2-40B4-BE49-F238E27FC236}">
                <a16:creationId xmlns:a16="http://schemas.microsoft.com/office/drawing/2014/main" id="{2FFF5538-4AAA-42FC-B669-BBFD1AE596DA}"/>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158368"/>
            </a:solidFill>
          </a:ln>
        </p:spPr>
      </p:sp>
      <p:sp>
        <p:nvSpPr>
          <p:cNvPr id="27" name="">
            <a:extLst xmlns:a="http://schemas.openxmlformats.org/drawingml/2006/main">
              <a:ext uri="{FF2B5EF4-FFF2-40B4-BE49-F238E27FC236}">
                <a16:creationId xmlns:a16="http://schemas.microsoft.com/office/drawing/2014/main" id="{88F085B4-5A35-4C74-B5AE-A46A897D273C}"/>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158368"/>
                </a:solidFill>
                <a:latin typeface="Arial"/>
                <a:ea typeface="Arial"/>
                <a:cs typeface="Arial"/>
              </a:defRPr>
            </a:pPr>
            <a:r>
              <a:rPr sz="975" b="1" i="0">
                <a:solidFill>
                  <a:srgbClr val="158368"/>
                </a:solidFill>
                <a:latin typeface="Arial"/>
                <a:ea typeface="Arial"/>
                <a:cs typeface="Arial"/>
              </a:rPr>
              <a:t>Valid chest layer: general centroid transfer</a:t>
            </a:r>
          </a:p>
        </p:txBody>
      </p:sp>
      <p:sp>
        <p:nvSpPr>
          <p:cNvPr id="28" name="">
            <a:extLst xmlns:a="http://schemas.openxmlformats.org/drawingml/2006/main">
              <a:ext uri="{FF2B5EF4-FFF2-40B4-BE49-F238E27FC236}">
                <a16:creationId xmlns:a16="http://schemas.microsoft.com/office/drawing/2014/main" id="{A180EEB2-51C4-41A1-876B-36950E9FA56E}"/>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21</a:t>
            </a:r>
          </a:p>
        </p:txBody>
      </p:sp>
    </p:spTree>
    <p:extLst>
      <p:ext uri="{BB962C8B-B14F-4D97-AF65-F5344CB8AC3E}">
        <p14:creationId xmlns:p14="http://schemas.microsoft.com/office/powerpoint/2010/main" val="1823337641"/>
      </p:ext>
    </p:extLst>
  </p:cSld>
  <p:transition spd="slow" advClick="1">
    <p:fade/>
  </p:transition>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9738ADF-8B89-4596-9E5D-330E1CC076BE}"/>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7. Absorption construction</a:t>
            </a:r>
          </a:p>
        </p:txBody>
      </p:sp>
      <p:sp>
        <p:nvSpPr>
          <p:cNvPr id="2" name="">
            <a:extLst xmlns:a="http://schemas.openxmlformats.org/drawingml/2006/main">
              <a:ext uri="{FF2B5EF4-FFF2-40B4-BE49-F238E27FC236}">
                <a16:creationId xmlns:a16="http://schemas.microsoft.com/office/drawing/2014/main" id="{00862BA5-17C4-4691-B256-4713349469BC}"/>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Assume a coherent stable family across cardinalities</a:t>
            </a:r>
          </a:p>
        </p:txBody>
      </p:sp>
      <p:sp>
        <p:nvSpPr>
          <p:cNvPr id="3" name="">
            <a:extLst xmlns:a="http://schemas.openxmlformats.org/drawingml/2006/main">
              <a:ext uri="{FF2B5EF4-FFF2-40B4-BE49-F238E27FC236}">
                <a16:creationId xmlns:a16="http://schemas.microsoft.com/office/drawing/2014/main" id="{406EFE7B-5C58-4A5C-AEA0-2CA72E68C50F}"/>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3F54DE64-2514-4FFA-B968-6802D59EEE3D}"/>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E98669D3-684B-4D63-B768-88A06B4CC036}"/>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8B7E2E9D-194B-4E39-B581-624337C72016}"/>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B30B9433-314D-450F-93BF-6D015D27785C}"/>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A6BADC74-6D72-43EE-9136-6205850B9495}"/>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25CE2A83-8738-4CED-B354-A07A493B9524}"/>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CD875F87-6B1B-4AFF-9CA4-7CB45F1727E3}"/>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F1488D07-6634-4FC4-A5E0-63B7366671EE}"/>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CD4D9B32-8CE3-49CE-B638-7E620AFD84AF}"/>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08AD14D5-DBBB-44DC-8C59-44913F44000D}"/>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7095C1B6-2748-4048-91EB-D926D7B8CF95}"/>
              </a:ext>
            </a:extLst>
          </p:cNvPr>
          <p:cNvSpPr>
            <a:spLocks xmlns:a="http://schemas.openxmlformats.org/drawingml/2006/main" noGrp="1"/>
          </p:cNvSpPr>
          <p:nvPr/>
        </p:nvSpPr>
        <p:spPr>
          <a:xfrm xmlns:a="http://schemas.openxmlformats.org/drawingml/2006/main">
            <a:off x="2754115" y="3505178"/>
            <a:ext cx="1446410" cy="1104369"/>
          </a:xfrm>
          <a:custGeom xmlns:a="http://schemas.openxmlformats.org/drawingml/2006/main">
            <a:pathLst>
              <a:path w="1446410" h="1104369">
                <a:moveTo>
                  <a:pt x="1446410" y="1104369"/>
                </a:moveTo>
                <a:lnTo>
                  <a:pt x="1446410" y="559616"/>
                </a:lnTo>
                <a:lnTo>
                  <a:pt x="103330" y="0"/>
                </a:lnTo>
                <a:lnTo>
                  <a:pt x="0" y="501701"/>
                </a:lnTo>
                <a:close/>
              </a:path>
            </a:pathLst>
          </a:custGeom>
          <a:solidFill xmlns:a="http://schemas.openxmlformats.org/drawingml/2006/main">
            <a:srgbClr val="BD5275">
              <a:alpha val="18000"/>
            </a:srgbClr>
          </a:solidFill>
          <a:ln xmlns:a="http://schemas.openxmlformats.org/drawingml/2006/main" w="24765">
            <a:solidFill>
              <a:srgbClr val="BD5275"/>
            </a:solidFill>
            <a:prstDash val="solid"/>
          </a:ln>
        </p:spPr>
      </p:sp>
      <p:sp>
        <p:nvSpPr>
          <p:cNvPr id="15" name="">
            <a:extLst xmlns:a="http://schemas.openxmlformats.org/drawingml/2006/main">
              <a:ext uri="{FF2B5EF4-FFF2-40B4-BE49-F238E27FC236}">
                <a16:creationId xmlns:a16="http://schemas.microsoft.com/office/drawing/2014/main" id="{EE596EF6-14EF-4C80-9843-CC446AC935D9}"/>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6" name="">
            <a:extLst xmlns:a="http://schemas.openxmlformats.org/drawingml/2006/main">
              <a:ext uri="{FF2B5EF4-FFF2-40B4-BE49-F238E27FC236}">
                <a16:creationId xmlns:a16="http://schemas.microsoft.com/office/drawing/2014/main" id="{B2FB4981-3918-4352-A8B6-0DB193987D89}"/>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7" name="">
            <a:extLst xmlns:a="http://schemas.openxmlformats.org/drawingml/2006/main">
              <a:ext uri="{FF2B5EF4-FFF2-40B4-BE49-F238E27FC236}">
                <a16:creationId xmlns:a16="http://schemas.microsoft.com/office/drawing/2014/main" id="{BF422F69-FD77-409A-BD55-7FDBF3430B83}"/>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8" name="">
            <a:extLst xmlns:a="http://schemas.openxmlformats.org/drawingml/2006/main">
              <a:ext uri="{FF2B5EF4-FFF2-40B4-BE49-F238E27FC236}">
                <a16:creationId xmlns:a16="http://schemas.microsoft.com/office/drawing/2014/main" id="{A7D83DD7-19A1-4BE1-A507-81277A9CC9C3}"/>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78DBCB80-D586-44DF-B23E-909835B5E156}"/>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CB1AE056-2DDB-42A9-9C8C-5CF2BE2E576E}"/>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26827F10-783A-4F98-A5E6-2D3DED3BD00E}"/>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2" name="">
            <a:extLst xmlns:a="http://schemas.openxmlformats.org/drawingml/2006/main">
              <a:ext uri="{FF2B5EF4-FFF2-40B4-BE49-F238E27FC236}">
                <a16:creationId xmlns:a16="http://schemas.microsoft.com/office/drawing/2014/main" id="{EAEFF713-C056-4323-8F60-1219AE0D2033}"/>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F3289A6E-0394-4DCE-85E2-C0FBD441E332}"/>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4" name="">
            <a:extLst xmlns:a="http://schemas.openxmlformats.org/drawingml/2006/main">
              <a:ext uri="{FF2B5EF4-FFF2-40B4-BE49-F238E27FC236}">
                <a16:creationId xmlns:a16="http://schemas.microsoft.com/office/drawing/2014/main" id="{66D0DA97-B1D4-4225-A8BB-E34972C64F38}"/>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5" name="">
            <a:extLst xmlns:a="http://schemas.openxmlformats.org/drawingml/2006/main">
              <a:ext uri="{FF2B5EF4-FFF2-40B4-BE49-F238E27FC236}">
                <a16:creationId xmlns:a16="http://schemas.microsoft.com/office/drawing/2014/main" id="{43D80E2D-F9C6-43E8-8AE9-47808ED424FA}"/>
              </a:ext>
            </a:extLst>
          </p:cNvPr>
          <p:cNvSpPr>
            <a:spLocks xmlns:a="http://schemas.openxmlformats.org/drawingml/2006/main" noGrp="1"/>
          </p:cNvSpPr>
          <p:nvPr/>
        </p:nvSpPr>
        <p:spPr>
          <a:xfrm xmlns:a="http://schemas.openxmlformats.org/drawingml/2006/main">
            <a:off x="8191500"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BD5275"/>
                </a:solidFill>
                <a:latin typeface="Arial"/>
                <a:ea typeface="Arial"/>
                <a:cs typeface="Arial"/>
              </a:defRPr>
            </a:pPr>
            <a:r>
              <a:rPr sz="2025" b="1" i="0">
                <a:solidFill>
                  <a:srgbClr val="BD5275"/>
                </a:solidFill>
                <a:latin typeface="Arial"/>
                <a:ea typeface="Arial"/>
                <a:cs typeface="Arial"/>
              </a:rPr>
              <a:t>Additional axiom</a:t>
            </a:r>
          </a:p>
        </p:txBody>
      </p:sp>
      <p:sp>
        <p:nvSpPr>
          <p:cNvPr id="26" name="">
            <a:extLst xmlns:a="http://schemas.openxmlformats.org/drawingml/2006/main">
              <a:ext uri="{FF2B5EF4-FFF2-40B4-BE49-F238E27FC236}">
                <a16:creationId xmlns:a16="http://schemas.microsoft.com/office/drawing/2014/main" id="{F7288D97-0318-4A90-B82B-9B74A03AE160}"/>
              </a:ext>
            </a:extLst>
          </p:cNvPr>
          <p:cNvSpPr>
            <a:spLocks xmlns:a="http://schemas.openxmlformats.org/drawingml/2006/main" noGrp="1"/>
          </p:cNvSpPr>
          <p:nvPr/>
        </p:nvSpPr>
        <p:spPr>
          <a:xfrm xmlns:a="http://schemas.openxmlformats.org/drawingml/2006/main">
            <a:off x="8191500" y="2238375"/>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Assume X₄(A,B,C,X₃(A,B,C))=X₃(A,B,C). Range the omitted-face center over its triangle chest, form the valid union of half-planes, and convexify after intersecting the clauses.</a:t>
            </a:r>
          </a:p>
        </p:txBody>
      </p:sp>
      <p:sp>
        <p:nvSpPr>
          <p:cNvPr id="27" name="">
            <a:extLst xmlns:a="http://schemas.openxmlformats.org/drawingml/2006/main">
              <a:ext uri="{FF2B5EF4-FFF2-40B4-BE49-F238E27FC236}">
                <a16:creationId xmlns:a16="http://schemas.microsoft.com/office/drawing/2014/main" id="{F8DE92AA-B22B-4ED3-8C4F-32A5491B7B8E}"/>
              </a:ext>
            </a:extLst>
          </p:cNvPr>
          <p:cNvSpPr>
            <a:spLocks xmlns:a="http://schemas.openxmlformats.org/drawingml/2006/main" noGrp="1"/>
          </p:cNvSpPr>
          <p:nvPr/>
        </p:nvSpPr>
        <p:spPr>
          <a:xfrm xmlns:a="http://schemas.openxmlformats.org/drawingml/2006/main">
            <a:off x="8362950" y="5429250"/>
            <a:ext cx="2895600" cy="361950"/>
          </a:xfrm>
          <a:prstGeom xmlns:a="http://schemas.openxmlformats.org/drawingml/2006/main" prst="roundRect">
            <a:avLst>
              <a:gd name="adj" fmla="val 21053"/>
            </a:avLst>
          </a:prstGeom>
          <a:solidFill xmlns:a="http://schemas.openxmlformats.org/drawingml/2006/main">
            <a:srgbClr val="F4F6F8"/>
          </a:solidFill>
          <a:ln xmlns:a="http://schemas.openxmlformats.org/drawingml/2006/main" w="14288">
            <a:solidFill>
              <a:srgbClr val="BD5275"/>
            </a:solidFill>
          </a:ln>
        </p:spPr>
      </p:sp>
      <p:sp>
        <p:nvSpPr>
          <p:cNvPr id="28" name="">
            <a:extLst xmlns:a="http://schemas.openxmlformats.org/drawingml/2006/main">
              <a:ext uri="{FF2B5EF4-FFF2-40B4-BE49-F238E27FC236}">
                <a16:creationId xmlns:a16="http://schemas.microsoft.com/office/drawing/2014/main" id="{CFD4940B-5BCA-452D-ABE5-9DCAB3222912}"/>
              </a:ext>
            </a:extLst>
          </p:cNvPr>
          <p:cNvSpPr>
            <a:spLocks xmlns:a="http://schemas.openxmlformats.org/drawingml/2006/main" noGrp="1"/>
          </p:cNvSpPr>
          <p:nvPr/>
        </p:nvSpPr>
        <p:spPr>
          <a:xfrm xmlns:a="http://schemas.openxmlformats.org/drawingml/2006/main">
            <a:off x="8477250" y="552450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i="0">
                <a:solidFill>
                  <a:srgbClr val="BD5275"/>
                </a:solidFill>
                <a:latin typeface="Arial"/>
                <a:ea typeface="Arial"/>
                <a:cs typeface="Arial"/>
              </a:defRPr>
            </a:pPr>
            <a:r>
              <a:rPr sz="975" b="1" i="0">
                <a:solidFill>
                  <a:srgbClr val="BD5275"/>
                </a:solidFill>
                <a:latin typeface="Arial"/>
                <a:ea typeface="Arial"/>
                <a:cs typeface="Arial"/>
              </a:rPr>
              <a:t>Extra hypothesis: absorption</a:t>
            </a:r>
          </a:p>
        </p:txBody>
      </p:sp>
      <p:sp>
        <p:nvSpPr>
          <p:cNvPr id="29" name="">
            <a:extLst xmlns:a="http://schemas.openxmlformats.org/drawingml/2006/main">
              <a:ext uri="{FF2B5EF4-FFF2-40B4-BE49-F238E27FC236}">
                <a16:creationId xmlns:a16="http://schemas.microsoft.com/office/drawing/2014/main" id="{9B189B97-3207-49F1-BA25-1E82009023AA}"/>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22</a:t>
            </a:r>
          </a:p>
        </p:txBody>
      </p:sp>
    </p:spTree>
    <p:extLst>
      <p:ext uri="{BB962C8B-B14F-4D97-AF65-F5344CB8AC3E}">
        <p14:creationId xmlns:p14="http://schemas.microsoft.com/office/powerpoint/2010/main" val="1982869011"/>
      </p:ext>
    </p:extLst>
  </p:cSld>
  <p:transition spd="slow" advClick="1">
    <p:fade/>
  </p:transition>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18F9BFF-AE86-49FE-B62D-BA4987621E35}"/>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Seven layers and their scopes</a:t>
            </a:r>
          </a:p>
        </p:txBody>
      </p:sp>
      <p:sp>
        <p:nvSpPr>
          <p:cNvPr id="2" name="">
            <a:extLst xmlns:a="http://schemas.openxmlformats.org/drawingml/2006/main">
              <a:ext uri="{FF2B5EF4-FFF2-40B4-BE49-F238E27FC236}">
                <a16:creationId xmlns:a16="http://schemas.microsoft.com/office/drawing/2014/main" id="{38EBD93F-F492-4180-9584-AB2996CE1665}"/>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The construction sequence distinguishes theorem, finite relaxation, and extra hypothesis</a:t>
            </a:r>
          </a:p>
        </p:txBody>
      </p:sp>
      <p:sp>
        <p:nvSpPr>
          <p:cNvPr id="3" name="">
            <a:extLst xmlns:a="http://schemas.openxmlformats.org/drawingml/2006/main">
              <a:ext uri="{FF2B5EF4-FFF2-40B4-BE49-F238E27FC236}">
                <a16:creationId xmlns:a16="http://schemas.microsoft.com/office/drawing/2014/main" id="{7C5229CA-51AB-42D4-B73E-9BC163199590}"/>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F07CC815-41C6-4F48-82F7-65DD72865B67}"/>
              </a:ext>
            </a:extLst>
          </p:cNvPr>
          <p:cNvSpPr>
            <a:spLocks xmlns:a="http://schemas.openxmlformats.org/drawingml/2006/main" noGrp="1"/>
          </p:cNvSpPr>
          <p:nvPr/>
        </p:nvSpPr>
        <p:spPr>
          <a:xfrm xmlns:a="http://schemas.openxmlformats.org/drawingml/2006/main">
            <a:off x="952500" y="14287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A87819"/>
                </a:solidFill>
                <a:latin typeface="Arial"/>
                <a:ea typeface="Arial"/>
                <a:cs typeface="Arial"/>
              </a:defRPr>
            </a:pPr>
            <a:r>
              <a:rPr sz="1725" b="1" i="0">
                <a:solidFill>
                  <a:srgbClr val="A87819"/>
                </a:solidFill>
                <a:latin typeface="Arial"/>
                <a:ea typeface="Arial"/>
                <a:cs typeface="Arial"/>
              </a:rPr>
              <a:t>Midpoint slabs</a:t>
            </a:r>
          </a:p>
        </p:txBody>
      </p:sp>
      <p:sp>
        <p:nvSpPr>
          <p:cNvPr id="5" name="">
            <a:extLst xmlns:a="http://schemas.openxmlformats.org/drawingml/2006/main">
              <a:ext uri="{FF2B5EF4-FFF2-40B4-BE49-F238E27FC236}">
                <a16:creationId xmlns:a16="http://schemas.microsoft.com/office/drawing/2014/main" id="{64E0937A-BE10-42D7-9497-F045DE1158F7}"/>
              </a:ext>
            </a:extLst>
          </p:cNvPr>
          <p:cNvSpPr>
            <a:spLocks xmlns:a="http://schemas.openxmlformats.org/drawingml/2006/main" noGrp="1"/>
          </p:cNvSpPr>
          <p:nvPr/>
        </p:nvSpPr>
        <p:spPr>
          <a:xfrm xmlns:a="http://schemas.openxmlformats.org/drawingml/2006/main">
            <a:off x="4762500" y="14287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475"/>
                </a:solidFill>
                <a:latin typeface="Arial"/>
                <a:ea typeface="Arial"/>
                <a:cs typeface="Arial"/>
              </a:defRPr>
            </a:pPr>
            <a:r>
              <a:rPr sz="1575" b="0" i="0">
                <a:solidFill>
                  <a:srgbClr val="536475"/>
                </a:solidFill>
                <a:latin typeface="Arial"/>
                <a:ea typeface="Arial"/>
                <a:cs typeface="Arial"/>
              </a:rPr>
              <a:t>unconditional</a:t>
            </a:r>
          </a:p>
        </p:txBody>
      </p:sp>
      <p:sp>
        <p:nvSpPr>
          <p:cNvPr id="6" name="">
            <a:extLst xmlns:a="http://schemas.openxmlformats.org/drawingml/2006/main">
              <a:ext uri="{FF2B5EF4-FFF2-40B4-BE49-F238E27FC236}">
                <a16:creationId xmlns:a16="http://schemas.microsoft.com/office/drawing/2014/main" id="{E25F0478-38E0-45DE-BC20-F99F5C2C810C}"/>
              </a:ext>
            </a:extLst>
          </p:cNvPr>
          <p:cNvSpPr>
            <a:spLocks xmlns:a="http://schemas.openxmlformats.org/drawingml/2006/main" noGrp="1"/>
          </p:cNvSpPr>
          <p:nvPr/>
        </p:nvSpPr>
        <p:spPr>
          <a:xfrm xmlns:a="http://schemas.openxmlformats.org/drawingml/2006/main">
            <a:off x="952500" y="20193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8E569C"/>
                </a:solidFill>
                <a:latin typeface="Arial"/>
                <a:ea typeface="Arial"/>
                <a:cs typeface="Arial"/>
              </a:defRPr>
            </a:pPr>
            <a:r>
              <a:rPr sz="1725" b="1" i="0">
                <a:solidFill>
                  <a:srgbClr val="8E569C"/>
                </a:solidFill>
                <a:latin typeface="Arial"/>
                <a:ea typeface="Arial"/>
                <a:cs typeface="Arial"/>
              </a:rPr>
              <a:t>Useful bisectors</a:t>
            </a:r>
          </a:p>
        </p:txBody>
      </p:sp>
      <p:sp>
        <p:nvSpPr>
          <p:cNvPr id="7" name="">
            <a:extLst xmlns:a="http://schemas.openxmlformats.org/drawingml/2006/main">
              <a:ext uri="{FF2B5EF4-FFF2-40B4-BE49-F238E27FC236}">
                <a16:creationId xmlns:a16="http://schemas.microsoft.com/office/drawing/2014/main" id="{4D1B5862-C619-441A-ACF2-96A25C9F1151}"/>
              </a:ext>
            </a:extLst>
          </p:cNvPr>
          <p:cNvSpPr>
            <a:spLocks xmlns:a="http://schemas.openxmlformats.org/drawingml/2006/main" noGrp="1"/>
          </p:cNvSpPr>
          <p:nvPr/>
        </p:nvSpPr>
        <p:spPr>
          <a:xfrm xmlns:a="http://schemas.openxmlformats.org/drawingml/2006/main">
            <a:off x="4762500" y="20193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475"/>
                </a:solidFill>
                <a:latin typeface="Arial"/>
                <a:ea typeface="Arial"/>
                <a:cs typeface="Arial"/>
              </a:defRPr>
            </a:pPr>
            <a:r>
              <a:rPr sz="1575" b="0" i="0">
                <a:solidFill>
                  <a:srgbClr val="536475"/>
                </a:solidFill>
                <a:latin typeface="Arial"/>
                <a:ea typeface="Arial"/>
                <a:cs typeface="Arial"/>
              </a:rPr>
              <a:t>unconditional</a:t>
            </a:r>
          </a:p>
        </p:txBody>
      </p:sp>
      <p:sp>
        <p:nvSpPr>
          <p:cNvPr id="8" name="">
            <a:extLst xmlns:a="http://schemas.openxmlformats.org/drawingml/2006/main">
              <a:ext uri="{FF2B5EF4-FFF2-40B4-BE49-F238E27FC236}">
                <a16:creationId xmlns:a16="http://schemas.microsoft.com/office/drawing/2014/main" id="{2F5D2E93-3876-4EE6-B62F-A56914D01E80}"/>
              </a:ext>
            </a:extLst>
          </p:cNvPr>
          <p:cNvSpPr>
            <a:spLocks xmlns:a="http://schemas.openxmlformats.org/drawingml/2006/main" noGrp="1"/>
          </p:cNvSpPr>
          <p:nvPr/>
        </p:nvSpPr>
        <p:spPr>
          <a:xfrm xmlns:a="http://schemas.openxmlformats.org/drawingml/2006/main">
            <a:off x="952500" y="26098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3979AD"/>
                </a:solidFill>
                <a:latin typeface="Arial"/>
                <a:ea typeface="Arial"/>
                <a:cs typeface="Arial"/>
              </a:defRPr>
            </a:pPr>
            <a:r>
              <a:rPr sz="1725" b="1" i="0">
                <a:solidFill>
                  <a:srgbClr val="3979AD"/>
                </a:solidFill>
                <a:latin typeface="Arial"/>
                <a:ea typeface="Arial"/>
                <a:cs typeface="Arial"/>
              </a:rPr>
              <a:t>Two-order networks</a:t>
            </a:r>
          </a:p>
        </p:txBody>
      </p:sp>
      <p:sp>
        <p:nvSpPr>
          <p:cNvPr id="9" name="">
            <a:extLst xmlns:a="http://schemas.openxmlformats.org/drawingml/2006/main">
              <a:ext uri="{FF2B5EF4-FFF2-40B4-BE49-F238E27FC236}">
                <a16:creationId xmlns:a16="http://schemas.microsoft.com/office/drawing/2014/main" id="{781DAD08-6619-4457-87E4-FEDB34F85073}"/>
              </a:ext>
            </a:extLst>
          </p:cNvPr>
          <p:cNvSpPr>
            <a:spLocks xmlns:a="http://schemas.openxmlformats.org/drawingml/2006/main" noGrp="1"/>
          </p:cNvSpPr>
          <p:nvPr/>
        </p:nvSpPr>
        <p:spPr>
          <a:xfrm xmlns:a="http://schemas.openxmlformats.org/drawingml/2006/main">
            <a:off x="4762500" y="26098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475"/>
                </a:solidFill>
                <a:latin typeface="Arial"/>
                <a:ea typeface="Arial"/>
                <a:cs typeface="Arial"/>
              </a:defRPr>
            </a:pPr>
            <a:r>
              <a:rPr sz="1575" b="0" i="0">
                <a:solidFill>
                  <a:srgbClr val="536475"/>
                </a:solidFill>
                <a:latin typeface="Arial"/>
                <a:ea typeface="Arial"/>
                <a:cs typeface="Arial"/>
              </a:rPr>
              <a:t>finite rigorous relaxation</a:t>
            </a:r>
          </a:p>
        </p:txBody>
      </p:sp>
      <p:sp>
        <p:nvSpPr>
          <p:cNvPr id="10" name="">
            <a:extLst xmlns:a="http://schemas.openxmlformats.org/drawingml/2006/main">
              <a:ext uri="{FF2B5EF4-FFF2-40B4-BE49-F238E27FC236}">
                <a16:creationId xmlns:a16="http://schemas.microsoft.com/office/drawing/2014/main" id="{30309786-F9A2-4F68-8077-FB6ECBCEBBA3}"/>
              </a:ext>
            </a:extLst>
          </p:cNvPr>
          <p:cNvSpPr>
            <a:spLocks xmlns:a="http://schemas.openxmlformats.org/drawingml/2006/main" noGrp="1"/>
          </p:cNvSpPr>
          <p:nvPr/>
        </p:nvSpPr>
        <p:spPr>
          <a:xfrm xmlns:a="http://schemas.openxmlformats.org/drawingml/2006/main">
            <a:off x="952500" y="32004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087B82"/>
                </a:solidFill>
                <a:latin typeface="Arial"/>
                <a:ea typeface="Arial"/>
                <a:cs typeface="Arial"/>
              </a:defRPr>
            </a:pPr>
            <a:r>
              <a:rPr sz="1725" b="1" i="0">
                <a:solidFill>
                  <a:srgbClr val="087B82"/>
                </a:solidFill>
                <a:latin typeface="Arial"/>
                <a:ea typeface="Arial"/>
                <a:cs typeface="Arial"/>
              </a:rPr>
              <a:t>Discrete involutions</a:t>
            </a:r>
          </a:p>
        </p:txBody>
      </p:sp>
      <p:sp>
        <p:nvSpPr>
          <p:cNvPr id="11" name="">
            <a:extLst xmlns:a="http://schemas.openxmlformats.org/drawingml/2006/main">
              <a:ext uri="{FF2B5EF4-FFF2-40B4-BE49-F238E27FC236}">
                <a16:creationId xmlns:a16="http://schemas.microsoft.com/office/drawing/2014/main" id="{C2F336D4-4D89-4FB7-8A4C-2ABC2C3ABC24}"/>
              </a:ext>
            </a:extLst>
          </p:cNvPr>
          <p:cNvSpPr>
            <a:spLocks xmlns:a="http://schemas.openxmlformats.org/drawingml/2006/main" noGrp="1"/>
          </p:cNvSpPr>
          <p:nvPr/>
        </p:nvSpPr>
        <p:spPr>
          <a:xfrm xmlns:a="http://schemas.openxmlformats.org/drawingml/2006/main">
            <a:off x="4762500" y="32004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475"/>
                </a:solidFill>
                <a:latin typeface="Arial"/>
                <a:ea typeface="Arial"/>
                <a:cs typeface="Arial"/>
              </a:defRPr>
            </a:pPr>
            <a:r>
              <a:rPr sz="1575" b="0" i="0">
                <a:solidFill>
                  <a:srgbClr val="536475"/>
                </a:solidFill>
                <a:latin typeface="Arial"/>
                <a:ea typeface="Arial"/>
                <a:cs typeface="Arial"/>
              </a:rPr>
              <a:t>finite certificate family</a:t>
            </a:r>
          </a:p>
        </p:txBody>
      </p:sp>
      <p:sp>
        <p:nvSpPr>
          <p:cNvPr id="12" name="">
            <a:extLst xmlns:a="http://schemas.openxmlformats.org/drawingml/2006/main">
              <a:ext uri="{FF2B5EF4-FFF2-40B4-BE49-F238E27FC236}">
                <a16:creationId xmlns:a16="http://schemas.microsoft.com/office/drawing/2014/main" id="{24149085-5829-400F-B12D-764B25FEFDE9}"/>
              </a:ext>
            </a:extLst>
          </p:cNvPr>
          <p:cNvSpPr>
            <a:spLocks xmlns:a="http://schemas.openxmlformats.org/drawingml/2006/main" noGrp="1"/>
          </p:cNvSpPr>
          <p:nvPr/>
        </p:nvSpPr>
        <p:spPr>
          <a:xfrm xmlns:a="http://schemas.openxmlformats.org/drawingml/2006/main">
            <a:off x="952500" y="37909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3979AD"/>
                </a:solidFill>
                <a:latin typeface="Arial"/>
                <a:ea typeface="Arial"/>
                <a:cs typeface="Arial"/>
              </a:defRPr>
            </a:pPr>
            <a:r>
              <a:rPr sz="1725" b="1" i="0">
                <a:solidFill>
                  <a:srgbClr val="3979AD"/>
                </a:solidFill>
                <a:latin typeface="Arial"/>
                <a:ea typeface="Arial"/>
                <a:cs typeface="Arial"/>
              </a:rPr>
              <a:t>Edge-projection slabs</a:t>
            </a:r>
          </a:p>
        </p:txBody>
      </p:sp>
      <p:sp>
        <p:nvSpPr>
          <p:cNvPr id="13" name="">
            <a:extLst xmlns:a="http://schemas.openxmlformats.org/drawingml/2006/main">
              <a:ext uri="{FF2B5EF4-FFF2-40B4-BE49-F238E27FC236}">
                <a16:creationId xmlns:a16="http://schemas.microsoft.com/office/drawing/2014/main" id="{7A26E060-F13A-4DC1-B1D7-43B4DD332365}"/>
              </a:ext>
            </a:extLst>
          </p:cNvPr>
          <p:cNvSpPr>
            <a:spLocks xmlns:a="http://schemas.openxmlformats.org/drawingml/2006/main" noGrp="1"/>
          </p:cNvSpPr>
          <p:nvPr/>
        </p:nvSpPr>
        <p:spPr>
          <a:xfrm xmlns:a="http://schemas.openxmlformats.org/drawingml/2006/main">
            <a:off x="4762500" y="37909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475"/>
                </a:solidFill>
                <a:latin typeface="Arial"/>
                <a:ea typeface="Arial"/>
                <a:cs typeface="Arial"/>
              </a:defRPr>
            </a:pPr>
            <a:r>
              <a:rPr sz="1575" b="0" i="0">
                <a:solidFill>
                  <a:srgbClr val="536475"/>
                </a:solidFill>
                <a:latin typeface="Arial"/>
                <a:ea typeface="Arial"/>
                <a:cs typeface="Arial"/>
              </a:rPr>
              <a:t>unconditional</a:t>
            </a:r>
          </a:p>
        </p:txBody>
      </p:sp>
      <p:sp>
        <p:nvSpPr>
          <p:cNvPr id="14" name="">
            <a:extLst xmlns:a="http://schemas.openxmlformats.org/drawingml/2006/main">
              <a:ext uri="{FF2B5EF4-FFF2-40B4-BE49-F238E27FC236}">
                <a16:creationId xmlns:a16="http://schemas.microsoft.com/office/drawing/2014/main" id="{2940EE2C-35CC-4B54-8DF0-6AB13CD33614}"/>
              </a:ext>
            </a:extLst>
          </p:cNvPr>
          <p:cNvSpPr>
            <a:spLocks xmlns:a="http://schemas.openxmlformats.org/drawingml/2006/main" noGrp="1"/>
          </p:cNvSpPr>
          <p:nvPr/>
        </p:nvSpPr>
        <p:spPr>
          <a:xfrm xmlns:a="http://schemas.openxmlformats.org/drawingml/2006/main">
            <a:off x="952500" y="43815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58368"/>
                </a:solidFill>
                <a:latin typeface="Arial"/>
                <a:ea typeface="Arial"/>
                <a:cs typeface="Arial"/>
              </a:defRPr>
            </a:pPr>
            <a:r>
              <a:rPr sz="1725" b="1" i="0">
                <a:solidFill>
                  <a:srgbClr val="158368"/>
                </a:solidFill>
                <a:latin typeface="Arial"/>
                <a:ea typeface="Arial"/>
                <a:cs typeface="Arial"/>
              </a:rPr>
              <a:t>Centroid transfer</a:t>
            </a:r>
          </a:p>
        </p:txBody>
      </p:sp>
      <p:sp>
        <p:nvSpPr>
          <p:cNvPr id="15" name="">
            <a:extLst xmlns:a="http://schemas.openxmlformats.org/drawingml/2006/main">
              <a:ext uri="{FF2B5EF4-FFF2-40B4-BE49-F238E27FC236}">
                <a16:creationId xmlns:a16="http://schemas.microsoft.com/office/drawing/2014/main" id="{E6AB965C-1F05-4BBB-92DB-EE7278E945F0}"/>
              </a:ext>
            </a:extLst>
          </p:cNvPr>
          <p:cNvSpPr>
            <a:spLocks xmlns:a="http://schemas.openxmlformats.org/drawingml/2006/main" noGrp="1"/>
          </p:cNvSpPr>
          <p:nvPr/>
        </p:nvSpPr>
        <p:spPr>
          <a:xfrm xmlns:a="http://schemas.openxmlformats.org/drawingml/2006/main">
            <a:off x="4762500" y="43815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475"/>
                </a:solidFill>
                <a:latin typeface="Arial"/>
                <a:ea typeface="Arial"/>
                <a:cs typeface="Arial"/>
              </a:defRPr>
            </a:pPr>
            <a:r>
              <a:rPr sz="1575" b="0" i="0">
                <a:solidFill>
                  <a:srgbClr val="536475"/>
                </a:solidFill>
                <a:latin typeface="Arial"/>
                <a:ea typeface="Arial"/>
                <a:cs typeface="Arial"/>
              </a:rPr>
              <a:t>unconditional</a:t>
            </a:r>
          </a:p>
        </p:txBody>
      </p:sp>
      <p:sp>
        <p:nvSpPr>
          <p:cNvPr id="16" name="">
            <a:extLst xmlns:a="http://schemas.openxmlformats.org/drawingml/2006/main">
              <a:ext uri="{FF2B5EF4-FFF2-40B4-BE49-F238E27FC236}">
                <a16:creationId xmlns:a16="http://schemas.microsoft.com/office/drawing/2014/main" id="{C25651F4-AF8D-4121-8DAB-A69EDE4063D8}"/>
              </a:ext>
            </a:extLst>
          </p:cNvPr>
          <p:cNvSpPr>
            <a:spLocks xmlns:a="http://schemas.openxmlformats.org/drawingml/2006/main" noGrp="1"/>
          </p:cNvSpPr>
          <p:nvPr/>
        </p:nvSpPr>
        <p:spPr>
          <a:xfrm xmlns:a="http://schemas.openxmlformats.org/drawingml/2006/main">
            <a:off x="952500" y="49720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BD5275"/>
                </a:solidFill>
                <a:latin typeface="Arial"/>
                <a:ea typeface="Arial"/>
                <a:cs typeface="Arial"/>
              </a:defRPr>
            </a:pPr>
            <a:r>
              <a:rPr sz="1725" b="1" i="0">
                <a:solidFill>
                  <a:srgbClr val="BD5275"/>
                </a:solidFill>
                <a:latin typeface="Arial"/>
                <a:ea typeface="Arial"/>
                <a:cs typeface="Arial"/>
              </a:rPr>
              <a:t>Absorption</a:t>
            </a:r>
          </a:p>
        </p:txBody>
      </p:sp>
      <p:sp>
        <p:nvSpPr>
          <p:cNvPr id="17" name="">
            <a:extLst xmlns:a="http://schemas.openxmlformats.org/drawingml/2006/main">
              <a:ext uri="{FF2B5EF4-FFF2-40B4-BE49-F238E27FC236}">
                <a16:creationId xmlns:a16="http://schemas.microsoft.com/office/drawing/2014/main" id="{4F490999-77E5-4C0D-8DC8-56B1F6E70C8C}"/>
              </a:ext>
            </a:extLst>
          </p:cNvPr>
          <p:cNvSpPr>
            <a:spLocks xmlns:a="http://schemas.openxmlformats.org/drawingml/2006/main" noGrp="1"/>
          </p:cNvSpPr>
          <p:nvPr/>
        </p:nvSpPr>
        <p:spPr>
          <a:xfrm xmlns:a="http://schemas.openxmlformats.org/drawingml/2006/main">
            <a:off x="4762500" y="49720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475"/>
                </a:solidFill>
                <a:latin typeface="Arial"/>
                <a:ea typeface="Arial"/>
                <a:cs typeface="Arial"/>
              </a:defRPr>
            </a:pPr>
            <a:r>
              <a:rPr sz="1575" b="0" i="0">
                <a:solidFill>
                  <a:srgbClr val="536475"/>
                </a:solidFill>
                <a:latin typeface="Arial"/>
                <a:ea typeface="Arial"/>
                <a:cs typeface="Arial"/>
              </a:rPr>
              <a:t>extra cross-arity hypothesis</a:t>
            </a:r>
          </a:p>
        </p:txBody>
      </p:sp>
      <p:sp>
        <p:nvSpPr>
          <p:cNvPr id="18" name="">
            <a:extLst xmlns:a="http://schemas.openxmlformats.org/drawingml/2006/main">
              <a:ext uri="{FF2B5EF4-FFF2-40B4-BE49-F238E27FC236}">
                <a16:creationId xmlns:a16="http://schemas.microsoft.com/office/drawing/2014/main" id="{FA8B8B26-AC8B-46B0-A5EB-023F31F90DDF}"/>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23</a:t>
            </a:r>
          </a:p>
        </p:txBody>
      </p:sp>
    </p:spTree>
    <p:extLst>
      <p:ext uri="{BB962C8B-B14F-4D97-AF65-F5344CB8AC3E}">
        <p14:creationId xmlns:p14="http://schemas.microsoft.com/office/powerpoint/2010/main" val="537565556"/>
      </p:ext>
    </p:extLst>
  </p:cSld>
  <p:transition spd="slow" advClick="1">
    <p:fade/>
  </p:transition>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C7D1D27-750D-4025-8783-1B219416A709}"/>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Constructing a chest for four planar points</a:t>
            </a:r>
          </a:p>
        </p:txBody>
      </p:sp>
      <p:sp>
        <p:nvSpPr>
          <p:cNvPr id="2" name="">
            <a:extLst xmlns:a="http://schemas.openxmlformats.org/drawingml/2006/main">
              <a:ext uri="{FF2B5EF4-FFF2-40B4-BE49-F238E27FC236}">
                <a16:creationId xmlns:a16="http://schemas.microsoft.com/office/drawing/2014/main" id="{00B714D5-87D4-496B-8A89-7C07EC66154C}"/>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Animated construction sequence • revision 3</a:t>
            </a:r>
          </a:p>
        </p:txBody>
      </p:sp>
      <p:sp>
        <p:nvSpPr>
          <p:cNvPr id="3" name="">
            <a:extLst xmlns:a="http://schemas.openxmlformats.org/drawingml/2006/main">
              <a:ext uri="{FF2B5EF4-FFF2-40B4-BE49-F238E27FC236}">
                <a16:creationId xmlns:a16="http://schemas.microsoft.com/office/drawing/2014/main" id="{FC9A4386-F972-4E79-B2AD-0EE23219CE05}"/>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02E69943-DC81-464F-8A0B-D058D6D52BD8}"/>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8D4A1615-AACE-4FE1-885D-954447A4E4CE}"/>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DF11AAE1-91C0-4379-ADA5-35581737BF15}"/>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D2E6FE24-1005-4B2F-91D8-B130834078B2}"/>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9A8B9FA3-B346-40AD-818E-E6320C7B8974}"/>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A529CB38-A830-4E02-8D53-70AFAD94DA9B}"/>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EB3584F3-0330-4BAA-AB3A-D38984D28040}"/>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89C4ACF2-E9B3-4100-BBC6-F2F9CB1B8229}"/>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F13951C7-4B2F-422F-B56F-96CF53D7A714}"/>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900F8C7A-B6F5-4909-9245-AFEE22CC02B1}"/>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F330BB78-E5E5-42B1-BA1D-5D743BD71ECF}"/>
              </a:ext>
            </a:extLst>
          </p:cNvPr>
          <p:cNvSpPr>
            <a:spLocks xmlns:a="http://schemas.openxmlformats.org/drawingml/2006/main" noGrp="1"/>
          </p:cNvSpPr>
          <p:nvPr/>
        </p:nvSpPr>
        <p:spPr>
          <a:xfrm xmlns:a="http://schemas.openxmlformats.org/drawingml/2006/main">
            <a:off x="1647795" y="2591346"/>
            <a:ext cx="3936225" cy="2868550"/>
          </a:xfrm>
          <a:custGeom xmlns:a="http://schemas.openxmlformats.org/drawingml/2006/main">
            <a:pathLst>
              <a:path w="3936225" h="2868550">
                <a:moveTo>
                  <a:pt x="880649" y="2868550"/>
                </a:moveTo>
                <a:lnTo>
                  <a:pt x="2552730" y="2868550"/>
                </a:lnTo>
                <a:lnTo>
                  <a:pt x="3932845" y="2235986"/>
                </a:lnTo>
                <a:lnTo>
                  <a:pt x="3936225" y="2225591"/>
                </a:lnTo>
                <a:lnTo>
                  <a:pt x="3349931" y="955267"/>
                </a:lnTo>
                <a:lnTo>
                  <a:pt x="2076243" y="0"/>
                </a:lnTo>
                <a:lnTo>
                  <a:pt x="3967" y="949792"/>
                </a:lnTo>
                <a:lnTo>
                  <a:pt x="1687" y="955267"/>
                </a:lnTo>
                <a:lnTo>
                  <a:pt x="0" y="960468"/>
                </a:lnTo>
                <a:close/>
              </a:path>
            </a:pathLst>
          </a:custGeom>
          <a:solidFill xmlns:a="http://schemas.openxmlformats.org/drawingml/2006/main">
            <a:srgbClr val="A87819">
              <a:alpha val="12000"/>
            </a:srgbClr>
          </a:solidFill>
          <a:ln xmlns:a="http://schemas.openxmlformats.org/drawingml/2006/main" w="14288">
            <a:solidFill>
              <a:srgbClr val="A87819"/>
            </a:solidFill>
            <a:prstDash val="solid"/>
          </a:ln>
        </p:spPr>
      </p:sp>
      <p:sp>
        <p:nvSpPr>
          <p:cNvPr id="15" name="">
            <a:extLst xmlns:a="http://schemas.openxmlformats.org/drawingml/2006/main">
              <a:ext uri="{FF2B5EF4-FFF2-40B4-BE49-F238E27FC236}">
                <a16:creationId xmlns:a16="http://schemas.microsoft.com/office/drawing/2014/main" id="{624C592F-FDFE-400D-BC62-183A401844A3}"/>
              </a:ext>
            </a:extLst>
          </p:cNvPr>
          <p:cNvSpPr>
            <a:spLocks xmlns:a="http://schemas.openxmlformats.org/drawingml/2006/main" noGrp="1"/>
          </p:cNvSpPr>
          <p:nvPr/>
        </p:nvSpPr>
        <p:spPr>
          <a:xfrm xmlns:a="http://schemas.openxmlformats.org/drawingml/2006/main">
            <a:off x="2754115" y="3505178"/>
            <a:ext cx="1446410" cy="1104369"/>
          </a:xfrm>
          <a:custGeom xmlns:a="http://schemas.openxmlformats.org/drawingml/2006/main">
            <a:pathLst>
              <a:path w="1446410" h="1104369">
                <a:moveTo>
                  <a:pt x="1446410" y="1104369"/>
                </a:moveTo>
                <a:lnTo>
                  <a:pt x="1446410" y="559616"/>
                </a:lnTo>
                <a:lnTo>
                  <a:pt x="103330" y="0"/>
                </a:lnTo>
                <a:lnTo>
                  <a:pt x="0" y="501701"/>
                </a:lnTo>
                <a:close/>
              </a:path>
            </a:pathLst>
          </a:custGeom>
          <a:solidFill xmlns:a="http://schemas.openxmlformats.org/drawingml/2006/main">
            <a:srgbClr val="158368">
              <a:alpha val="38000"/>
            </a:srgbClr>
          </a:solidFill>
          <a:ln xmlns:a="http://schemas.openxmlformats.org/drawingml/2006/main" w="28575">
            <a:solidFill>
              <a:srgbClr val="158368"/>
            </a:solidFill>
            <a:prstDash val="solid"/>
          </a:ln>
        </p:spPr>
      </p:sp>
      <p:sp>
        <p:nvSpPr>
          <p:cNvPr id="16" name="">
            <a:extLst xmlns:a="http://schemas.openxmlformats.org/drawingml/2006/main">
              <a:ext uri="{FF2B5EF4-FFF2-40B4-BE49-F238E27FC236}">
                <a16:creationId xmlns:a16="http://schemas.microsoft.com/office/drawing/2014/main" id="{B981DF12-D933-487D-823F-8335B7F0AE3F}"/>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7" name="">
            <a:extLst xmlns:a="http://schemas.openxmlformats.org/drawingml/2006/main">
              <a:ext uri="{FF2B5EF4-FFF2-40B4-BE49-F238E27FC236}">
                <a16:creationId xmlns:a16="http://schemas.microsoft.com/office/drawing/2014/main" id="{03475AB4-CB86-4251-BBDD-1F7D8DA2337B}"/>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8BAA6DBB-FCAE-4B2E-974D-32BD9DDA4AA9}"/>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9" name="">
            <a:extLst xmlns:a="http://schemas.openxmlformats.org/drawingml/2006/main">
              <a:ext uri="{FF2B5EF4-FFF2-40B4-BE49-F238E27FC236}">
                <a16:creationId xmlns:a16="http://schemas.microsoft.com/office/drawing/2014/main" id="{B4D0D64E-E907-474F-9BB3-5717B35A4120}"/>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B188A371-055A-4DA3-8006-27A2D280B66B}"/>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1" name="">
            <a:extLst xmlns:a="http://schemas.openxmlformats.org/drawingml/2006/main">
              <a:ext uri="{FF2B5EF4-FFF2-40B4-BE49-F238E27FC236}">
                <a16:creationId xmlns:a16="http://schemas.microsoft.com/office/drawing/2014/main" id="{1EF7C73B-D792-4D28-87F0-EDCCE3EB0E76}"/>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4421A2B4-23BC-46C8-AD91-9C0D8CD04B55}"/>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3" name="">
            <a:extLst xmlns:a="http://schemas.openxmlformats.org/drawingml/2006/main">
              <a:ext uri="{FF2B5EF4-FFF2-40B4-BE49-F238E27FC236}">
                <a16:creationId xmlns:a16="http://schemas.microsoft.com/office/drawing/2014/main" id="{C40EF5A1-ED4C-45AD-9932-CDB94692A19B}"/>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4" name="">
            <a:extLst xmlns:a="http://schemas.openxmlformats.org/drawingml/2006/main">
              <a:ext uri="{FF2B5EF4-FFF2-40B4-BE49-F238E27FC236}">
                <a16:creationId xmlns:a16="http://schemas.microsoft.com/office/drawing/2014/main" id="{CE362891-75F3-4301-99F1-16B20D0F6E51}"/>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5" name="">
            <a:extLst xmlns:a="http://schemas.openxmlformats.org/drawingml/2006/main">
              <a:ext uri="{FF2B5EF4-FFF2-40B4-BE49-F238E27FC236}">
                <a16:creationId xmlns:a16="http://schemas.microsoft.com/office/drawing/2014/main" id="{77B94EFA-4451-482E-AF41-9C10AC153EC7}"/>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6" name="">
            <a:extLst xmlns:a="http://schemas.openxmlformats.org/drawingml/2006/main">
              <a:ext uri="{FF2B5EF4-FFF2-40B4-BE49-F238E27FC236}">
                <a16:creationId xmlns:a16="http://schemas.microsoft.com/office/drawing/2014/main" id="{85B96749-DC13-467D-B499-58302B708640}"/>
              </a:ext>
            </a:extLst>
          </p:cNvPr>
          <p:cNvSpPr>
            <a:spLocks xmlns:a="http://schemas.openxmlformats.org/drawingml/2006/main" noGrp="1"/>
          </p:cNvSpPr>
          <p:nvPr/>
        </p:nvSpPr>
        <p:spPr>
          <a:xfrm xmlns:a="http://schemas.openxmlformats.org/drawingml/2006/main">
            <a:off x="8382000" y="163830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158368"/>
                </a:solidFill>
                <a:latin typeface="Arial"/>
                <a:ea typeface="Arial"/>
                <a:cs typeface="Arial"/>
              </a:defRPr>
            </a:pPr>
            <a:r>
              <a:rPr sz="4050" b="1" i="0">
                <a:solidFill>
                  <a:srgbClr val="158368"/>
                </a:solidFill>
                <a:latin typeface="Arial"/>
                <a:ea typeface="Arial"/>
                <a:cs typeface="Arial"/>
              </a:rPr>
              <a:t>5.9302%</a:t>
            </a:r>
          </a:p>
        </p:txBody>
      </p:sp>
      <p:sp>
        <p:nvSpPr>
          <p:cNvPr id="27" name="">
            <a:extLst xmlns:a="http://schemas.openxmlformats.org/drawingml/2006/main">
              <a:ext uri="{FF2B5EF4-FFF2-40B4-BE49-F238E27FC236}">
                <a16:creationId xmlns:a16="http://schemas.microsoft.com/office/drawing/2014/main" id="{DFDED295-4C53-4413-AB70-D7F58A18A826}"/>
              </a:ext>
            </a:extLst>
          </p:cNvPr>
          <p:cNvSpPr>
            <a:spLocks xmlns:a="http://schemas.openxmlformats.org/drawingml/2006/main" noGrp="1"/>
          </p:cNvSpPr>
          <p:nvPr/>
        </p:nvSpPr>
        <p:spPr>
          <a:xfrm xmlns:a="http://schemas.openxmlformats.org/drawingml/2006/main">
            <a:off x="8572500" y="230505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of the convex hull remains</a:t>
            </a:r>
          </a:p>
        </p:txBody>
      </p:sp>
      <p:sp>
        <p:nvSpPr>
          <p:cNvPr id="28" name="">
            <a:extLst xmlns:a="http://schemas.openxmlformats.org/drawingml/2006/main">
              <a:ext uri="{FF2B5EF4-FFF2-40B4-BE49-F238E27FC236}">
                <a16:creationId xmlns:a16="http://schemas.microsoft.com/office/drawing/2014/main" id="{D69E580E-8D9D-49BD-B14B-1C5A8F6BB571}"/>
              </a:ext>
            </a:extLst>
          </p:cNvPr>
          <p:cNvSpPr>
            <a:spLocks xmlns:a="http://schemas.openxmlformats.org/drawingml/2006/main" noGrp="1"/>
          </p:cNvSpPr>
          <p:nvPr/>
        </p:nvSpPr>
        <p:spPr>
          <a:xfrm xmlns:a="http://schemas.openxmlformats.org/drawingml/2006/main">
            <a:off x="8334375" y="3362325"/>
            <a:ext cx="76200" cy="76200"/>
          </a:xfrm>
          <a:prstGeom xmlns:a="http://schemas.openxmlformats.org/drawingml/2006/main" prst="ellipse">
            <a:avLst/>
          </a:prstGeom>
          <a:solidFill xmlns:a="http://schemas.openxmlformats.org/drawingml/2006/main">
            <a:srgbClr val="3979A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7251430-63E5-4D2E-A699-2624FAB67D9B}"/>
              </a:ext>
            </a:extLst>
          </p:cNvPr>
          <p:cNvSpPr>
            <a:spLocks xmlns:a="http://schemas.openxmlformats.org/drawingml/2006/main" noGrp="1"/>
          </p:cNvSpPr>
          <p:nvPr/>
        </p:nvSpPr>
        <p:spPr>
          <a:xfrm xmlns:a="http://schemas.openxmlformats.org/drawingml/2006/main">
            <a:off x="8524875" y="3286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3979AD"/>
                </a:solidFill>
                <a:latin typeface="Arial"/>
                <a:ea typeface="Arial"/>
                <a:cs typeface="Arial"/>
              </a:defRPr>
            </a:pPr>
            <a:r>
              <a:rPr sz="1425" b="1" i="0">
                <a:solidFill>
                  <a:srgbClr val="3979AD"/>
                </a:solidFill>
                <a:latin typeface="Arial"/>
                <a:ea typeface="Arial"/>
                <a:cs typeface="Arial"/>
              </a:rPr>
              <a:t>Symmetry and networks</a:t>
            </a:r>
          </a:p>
        </p:txBody>
      </p:sp>
      <p:sp>
        <p:nvSpPr>
          <p:cNvPr id="30" name="">
            <a:extLst xmlns:a="http://schemas.openxmlformats.org/drawingml/2006/main">
              <a:ext uri="{FF2B5EF4-FFF2-40B4-BE49-F238E27FC236}">
                <a16:creationId xmlns:a16="http://schemas.microsoft.com/office/drawing/2014/main" id="{093DED01-12EF-43DE-AC43-B7EDB2B04B10}"/>
              </a:ext>
            </a:extLst>
          </p:cNvPr>
          <p:cNvSpPr>
            <a:spLocks xmlns:a="http://schemas.openxmlformats.org/drawingml/2006/main" noGrp="1"/>
          </p:cNvSpPr>
          <p:nvPr/>
        </p:nvSpPr>
        <p:spPr>
          <a:xfrm xmlns:a="http://schemas.openxmlformats.org/drawingml/2006/main">
            <a:off x="8524875" y="35433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36475"/>
                </a:solidFill>
                <a:latin typeface="Arial"/>
                <a:ea typeface="Arial"/>
                <a:cs typeface="Arial"/>
              </a:defRPr>
            </a:pPr>
            <a:r>
              <a:rPr sz="1275" b="0" i="0">
                <a:solidFill>
                  <a:srgbClr val="536475"/>
                </a:solidFill>
                <a:latin typeface="Arial"/>
                <a:ea typeface="Arial"/>
                <a:cs typeface="Arial"/>
              </a:rPr>
              <a:t>From midpoint strips to stronger edge and orbit bounds</a:t>
            </a:r>
          </a:p>
        </p:txBody>
      </p:sp>
      <p:sp>
        <p:nvSpPr>
          <p:cNvPr id="31" name="">
            <a:extLst xmlns:a="http://schemas.openxmlformats.org/drawingml/2006/main">
              <a:ext uri="{FF2B5EF4-FFF2-40B4-BE49-F238E27FC236}">
                <a16:creationId xmlns:a16="http://schemas.microsoft.com/office/drawing/2014/main" id="{6871C197-109F-4D50-80D3-B720EB818DC4}"/>
              </a:ext>
            </a:extLst>
          </p:cNvPr>
          <p:cNvSpPr>
            <a:spLocks xmlns:a="http://schemas.openxmlformats.org/drawingml/2006/main" noGrp="1"/>
          </p:cNvSpPr>
          <p:nvPr/>
        </p:nvSpPr>
        <p:spPr>
          <a:xfrm xmlns:a="http://schemas.openxmlformats.org/drawingml/2006/main">
            <a:off x="8334375" y="4524375"/>
            <a:ext cx="76200" cy="76200"/>
          </a:xfrm>
          <a:prstGeom xmlns:a="http://schemas.openxmlformats.org/drawingml/2006/main" prst="ellipse">
            <a:avLst/>
          </a:prstGeom>
          <a:solidFill xmlns:a="http://schemas.openxmlformats.org/drawingml/2006/main">
            <a:srgbClr val="15836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C8A1449-9FA2-41C0-80A8-26176AC07E11}"/>
              </a:ext>
            </a:extLst>
          </p:cNvPr>
          <p:cNvSpPr>
            <a:spLocks xmlns:a="http://schemas.openxmlformats.org/drawingml/2006/main" noGrp="1"/>
          </p:cNvSpPr>
          <p:nvPr/>
        </p:nvSpPr>
        <p:spPr>
          <a:xfrm xmlns:a="http://schemas.openxmlformats.org/drawingml/2006/main">
            <a:off x="8524875" y="44481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158368"/>
                </a:solidFill>
                <a:latin typeface="Arial"/>
                <a:ea typeface="Arial"/>
                <a:cs typeface="Arial"/>
              </a:defRPr>
            </a:pPr>
            <a:r>
              <a:rPr sz="1425" b="1" i="0">
                <a:solidFill>
                  <a:srgbClr val="158368"/>
                </a:solidFill>
                <a:latin typeface="Arial"/>
                <a:ea typeface="Arial"/>
                <a:cs typeface="Arial"/>
              </a:rPr>
              <a:t>Centroid insertion</a:t>
            </a:r>
          </a:p>
        </p:txBody>
      </p:sp>
      <p:sp>
        <p:nvSpPr>
          <p:cNvPr id="33" name="">
            <a:extLst xmlns:a="http://schemas.openxmlformats.org/drawingml/2006/main">
              <a:ext uri="{FF2B5EF4-FFF2-40B4-BE49-F238E27FC236}">
                <a16:creationId xmlns:a16="http://schemas.microsoft.com/office/drawing/2014/main" id="{24D9B0F9-D808-49A8-A2C0-191BF65D207D}"/>
              </a:ext>
            </a:extLst>
          </p:cNvPr>
          <p:cNvSpPr>
            <a:spLocks xmlns:a="http://schemas.openxmlformats.org/drawingml/2006/main" noGrp="1"/>
          </p:cNvSpPr>
          <p:nvPr/>
        </p:nvSpPr>
        <p:spPr>
          <a:xfrm xmlns:a="http://schemas.openxmlformats.org/drawingml/2006/main">
            <a:off x="8524875" y="47053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36475"/>
                </a:solidFill>
                <a:latin typeface="Arial"/>
                <a:ea typeface="Arial"/>
                <a:cs typeface="Arial"/>
              </a:defRPr>
            </a:pPr>
            <a:r>
              <a:rPr sz="1275" b="0" i="0">
                <a:solidFill>
                  <a:srgbClr val="536475"/>
                </a:solidFill>
                <a:latin typeface="Arial"/>
                <a:ea typeface="Arial"/>
                <a:cs typeface="Arial"/>
              </a:rPr>
              <a:t>Transfer the triangle chest without an absorption axiom</a:t>
            </a:r>
          </a:p>
        </p:txBody>
      </p:sp>
      <p:sp>
        <p:nvSpPr>
          <p:cNvPr id="34" name="">
            <a:extLst xmlns:a="http://schemas.openxmlformats.org/drawingml/2006/main">
              <a:ext uri="{FF2B5EF4-FFF2-40B4-BE49-F238E27FC236}">
                <a16:creationId xmlns:a16="http://schemas.microsoft.com/office/drawing/2014/main" id="{DD1D4034-D4E7-4EBF-8442-708AA07B099A}"/>
              </a:ext>
            </a:extLst>
          </p:cNvPr>
          <p:cNvSpPr>
            <a:spLocks xmlns:a="http://schemas.openxmlformats.org/drawingml/2006/main" noGrp="1"/>
          </p:cNvSpPr>
          <p:nvPr/>
        </p:nvSpPr>
        <p:spPr>
          <a:xfrm xmlns:a="http://schemas.openxmlformats.org/drawingml/2006/main">
            <a:off x="8191500" y="56578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13–20–21 triangle + its centroid</a:t>
            </a:r>
          </a:p>
        </p:txBody>
      </p:sp>
      <p:sp>
        <p:nvSpPr>
          <p:cNvPr id="35" name="">
            <a:extLst xmlns:a="http://schemas.openxmlformats.org/drawingml/2006/main">
              <a:ext uri="{FF2B5EF4-FFF2-40B4-BE49-F238E27FC236}">
                <a16:creationId xmlns:a16="http://schemas.microsoft.com/office/drawing/2014/main" id="{BB078B17-BD2F-4D1E-A79C-B1536503027C}"/>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24</a:t>
            </a:r>
          </a:p>
        </p:txBody>
      </p:sp>
    </p:spTree>
    <p:extLst>
      <p:ext uri="{BB962C8B-B14F-4D97-AF65-F5344CB8AC3E}">
        <p14:creationId xmlns:p14="http://schemas.microsoft.com/office/powerpoint/2010/main" val="297012622"/>
      </p:ext>
    </p:extLst>
  </p:cSld>
  <p:transition spd="slow" advClick="1">
    <p:fade/>
  </p:transition>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FF25C6F-7C26-40D5-8A7A-B4FD09F2C88B}"/>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Attractivity turns motion into a half-plane</a:t>
            </a:r>
          </a:p>
        </p:txBody>
      </p:sp>
      <p:sp>
        <p:nvSpPr>
          <p:cNvPr id="2" name="">
            <a:extLst xmlns:a="http://schemas.openxmlformats.org/drawingml/2006/main">
              <a:ext uri="{FF2B5EF4-FFF2-40B4-BE49-F238E27FC236}">
                <a16:creationId xmlns:a16="http://schemas.microsoft.com/office/drawing/2014/main" id="{AC3978D8-3D49-4830-821D-74A596877BEA}"/>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3" name="">
            <a:extLst xmlns:a="http://schemas.openxmlformats.org/drawingml/2006/main">
              <a:ext uri="{FF2B5EF4-FFF2-40B4-BE49-F238E27FC236}">
                <a16:creationId xmlns:a16="http://schemas.microsoft.com/office/drawing/2014/main" id="{D6EE940A-A726-4D3B-AF46-BA734ECBB22E}"/>
              </a:ext>
            </a:extLst>
          </p:cNvPr>
          <p:cNvSpPr>
            <a:spLocks xmlns:a="http://schemas.openxmlformats.org/drawingml/2006/main" noGrp="1"/>
          </p:cNvSpPr>
          <p:nvPr/>
        </p:nvSpPr>
        <p:spPr>
          <a:xfrm xmlns:a="http://schemas.openxmlformats.org/drawingml/2006/main">
            <a:off x="666750" y="1571625"/>
            <a:ext cx="619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When one input point moves by d, the center may move sideways or forward, but never backward:</a:t>
            </a:r>
          </a:p>
        </p:txBody>
      </p:sp>
      <p:sp>
        <p:nvSpPr>
          <p:cNvPr id="4" name="">
            <a:extLst xmlns:a="http://schemas.openxmlformats.org/drawingml/2006/main">
              <a:ext uri="{FF2B5EF4-FFF2-40B4-BE49-F238E27FC236}">
                <a16:creationId xmlns:a16="http://schemas.microsoft.com/office/drawing/2014/main" id="{A8CAB32B-D199-49FC-A571-934E0EC2C580}"/>
              </a:ext>
            </a:extLst>
          </p:cNvPr>
          <p:cNvSpPr>
            <a:spLocks xmlns:a="http://schemas.openxmlformats.org/drawingml/2006/main" noGrp="1"/>
          </p:cNvSpPr>
          <p:nvPr/>
        </p:nvSpPr>
        <p:spPr>
          <a:xfrm xmlns:a="http://schemas.openxmlformats.org/drawingml/2006/main">
            <a:off x="1714500" y="2362200"/>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150" b="1" i="0">
                <a:solidFill>
                  <a:srgbClr val="087B82"/>
                </a:solidFill>
                <a:latin typeface="Arial"/>
                <a:ea typeface="Arial"/>
                <a:cs typeface="Arial"/>
              </a:defRPr>
            </a:pPr>
            <a:r>
              <a:rPr sz="3150" b="1" i="0">
                <a:solidFill>
                  <a:srgbClr val="087B82"/>
                </a:solidFill>
                <a:latin typeface="Arial"/>
                <a:ea typeface="Arial"/>
                <a:cs typeface="Arial"/>
              </a:rPr>
              <a:t>d · (X₁ − X₀) ≥ 0</a:t>
            </a:r>
          </a:p>
        </p:txBody>
      </p:sp>
      <p:sp>
        <p:nvSpPr>
          <p:cNvPr id="5" name="">
            <a:extLst xmlns:a="http://schemas.openxmlformats.org/drawingml/2006/main">
              <a:ext uri="{FF2B5EF4-FFF2-40B4-BE49-F238E27FC236}">
                <a16:creationId xmlns:a16="http://schemas.microsoft.com/office/drawing/2014/main" id="{84B2A7D9-9CF7-4FBB-8E10-D641B65ECD1E}"/>
              </a:ext>
            </a:extLst>
          </p:cNvPr>
          <p:cNvSpPr>
            <a:spLocks xmlns:a="http://schemas.openxmlformats.org/drawingml/2006/main" noGrp="1"/>
          </p:cNvSpPr>
          <p:nvPr/>
        </p:nvSpPr>
        <p:spPr>
          <a:xfrm xmlns:a="http://schemas.openxmlformats.org/drawingml/2006/main">
            <a:off x="1914525" y="4343400"/>
            <a:ext cx="171450" cy="171450"/>
          </a:xfrm>
          <a:prstGeom xmlns:a="http://schemas.openxmlformats.org/drawingml/2006/main" prst="ellipse">
            <a:avLst/>
          </a:prstGeom>
          <a:solidFill xmlns:a="http://schemas.openxmlformats.org/drawingml/2006/main">
            <a:srgbClr val="24384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EB76F43-2951-4B41-8A09-BCD3D8166B8A}"/>
              </a:ext>
            </a:extLst>
          </p:cNvPr>
          <p:cNvSpPr>
            <a:spLocks xmlns:a="http://schemas.openxmlformats.org/drawingml/2006/main" noGrp="1"/>
          </p:cNvSpPr>
          <p:nvPr/>
        </p:nvSpPr>
        <p:spPr>
          <a:xfrm xmlns:a="http://schemas.openxmlformats.org/drawingml/2006/main">
            <a:off x="4391025" y="3771900"/>
            <a:ext cx="171450" cy="171450"/>
          </a:xfrm>
          <a:prstGeom xmlns:a="http://schemas.openxmlformats.org/drawingml/2006/main" prst="ellipse">
            <a:avLst/>
          </a:prstGeom>
          <a:solidFill xmlns:a="http://schemas.openxmlformats.org/drawingml/2006/main">
            <a:srgbClr val="A8781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566A238-6EE8-4BD9-95B7-F8FD2FE4DD00}"/>
              </a:ext>
            </a:extLst>
          </p:cNvPr>
          <p:cNvSpPr>
            <a:spLocks xmlns:a="http://schemas.openxmlformats.org/drawingml/2006/main" noGrp="1"/>
          </p:cNvSpPr>
          <p:nvPr/>
        </p:nvSpPr>
        <p:spPr>
          <a:xfrm xmlns:a="http://schemas.openxmlformats.org/drawingml/2006/main">
            <a:off x="2000250" y="3857625"/>
            <a:ext cx="2476500" cy="571500"/>
          </a:xfrm>
          <a:custGeom xmlns:a="http://schemas.openxmlformats.org/drawingml/2006/main">
            <a:pathLst>
              <a:path w="2476500" h="571500">
                <a:moveTo>
                  <a:pt x="0" y="571500"/>
                </a:moveTo>
                <a:lnTo>
                  <a:pt x="2476500" y="0"/>
                </a:lnTo>
              </a:path>
            </a:pathLst>
          </a:custGeom>
          <a:noFill xmlns:a="http://schemas.openxmlformats.org/drawingml/2006/main"/>
          <a:ln xmlns:a="http://schemas.openxmlformats.org/drawingml/2006/main" w="38100">
            <a:solidFill>
              <a:srgbClr val="A87819"/>
            </a:solidFill>
          </a:ln>
        </p:spPr>
      </p:sp>
      <p:sp>
        <p:nvSpPr>
          <p:cNvPr id="8" name="">
            <a:extLst xmlns:a="http://schemas.openxmlformats.org/drawingml/2006/main">
              <a:ext uri="{FF2B5EF4-FFF2-40B4-BE49-F238E27FC236}">
                <a16:creationId xmlns:a16="http://schemas.microsoft.com/office/drawing/2014/main" id="{4F879C27-105A-4F4A-B00F-42CF3DB588F1}"/>
              </a:ext>
            </a:extLst>
          </p:cNvPr>
          <p:cNvSpPr>
            <a:spLocks xmlns:a="http://schemas.openxmlformats.org/drawingml/2006/main" noGrp="1"/>
          </p:cNvSpPr>
          <p:nvPr/>
        </p:nvSpPr>
        <p:spPr>
          <a:xfrm xmlns:a="http://schemas.openxmlformats.org/drawingml/2006/main">
            <a:off x="1428750" y="4762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i="0">
                <a:solidFill>
                  <a:srgbClr val="536475"/>
                </a:solidFill>
                <a:latin typeface="Arial"/>
                <a:ea typeface="Arial"/>
                <a:cs typeface="Arial"/>
              </a:defRPr>
            </a:pPr>
            <a:r>
              <a:rPr sz="1275" b="0" i="0">
                <a:solidFill>
                  <a:srgbClr val="536475"/>
                </a:solidFill>
                <a:latin typeface="Arial"/>
                <a:ea typeface="Arial"/>
                <a:cs typeface="Arial"/>
              </a:rPr>
              <a:t>moved vertex</a:t>
            </a:r>
          </a:p>
        </p:txBody>
      </p:sp>
      <p:sp>
        <p:nvSpPr>
          <p:cNvPr id="9" name="">
            <a:extLst xmlns:a="http://schemas.openxmlformats.org/drawingml/2006/main">
              <a:ext uri="{FF2B5EF4-FFF2-40B4-BE49-F238E27FC236}">
                <a16:creationId xmlns:a16="http://schemas.microsoft.com/office/drawing/2014/main" id="{2107A05F-102A-4E77-A6AD-C4A709E5A5CE}"/>
              </a:ext>
            </a:extLst>
          </p:cNvPr>
          <p:cNvSpPr>
            <a:spLocks xmlns:a="http://schemas.openxmlformats.org/drawingml/2006/main" noGrp="1"/>
          </p:cNvSpPr>
          <p:nvPr/>
        </p:nvSpPr>
        <p:spPr>
          <a:xfrm xmlns:a="http://schemas.openxmlformats.org/drawingml/2006/main">
            <a:off x="2305050" y="5305425"/>
            <a:ext cx="152400" cy="152400"/>
          </a:xfrm>
          <a:prstGeom xmlns:a="http://schemas.openxmlformats.org/drawingml/2006/main" prst="ellipse">
            <a:avLst/>
          </a:prstGeom>
          <a:solidFill xmlns:a="http://schemas.openxmlformats.org/drawingml/2006/main">
            <a:srgbClr val="8E569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DE7BE1B-8219-4774-BE0D-53A01D8EF843}"/>
              </a:ext>
            </a:extLst>
          </p:cNvPr>
          <p:cNvSpPr>
            <a:spLocks xmlns:a="http://schemas.openxmlformats.org/drawingml/2006/main" noGrp="1"/>
          </p:cNvSpPr>
          <p:nvPr/>
        </p:nvSpPr>
        <p:spPr>
          <a:xfrm xmlns:a="http://schemas.openxmlformats.org/drawingml/2006/main">
            <a:off x="3543300" y="5019675"/>
            <a:ext cx="152400" cy="152400"/>
          </a:xfrm>
          <a:prstGeom xmlns:a="http://schemas.openxmlformats.org/drawingml/2006/main" prst="ellipse">
            <a:avLst/>
          </a:prstGeom>
          <a:solidFill xmlns:a="http://schemas.openxmlformats.org/drawingml/2006/main">
            <a:srgbClr val="087B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B8711E0-A94F-4EB2-88FD-F697821EBAD7}"/>
              </a:ext>
            </a:extLst>
          </p:cNvPr>
          <p:cNvSpPr>
            <a:spLocks xmlns:a="http://schemas.openxmlformats.org/drawingml/2006/main" noGrp="1"/>
          </p:cNvSpPr>
          <p:nvPr/>
        </p:nvSpPr>
        <p:spPr>
          <a:xfrm xmlns:a="http://schemas.openxmlformats.org/drawingml/2006/main">
            <a:off x="2381250" y="5095875"/>
            <a:ext cx="1238250" cy="285750"/>
          </a:xfrm>
          <a:custGeom xmlns:a="http://schemas.openxmlformats.org/drawingml/2006/main">
            <a:pathLst>
              <a:path w="1238250" h="285750">
                <a:moveTo>
                  <a:pt x="0" y="285750"/>
                </a:moveTo>
                <a:lnTo>
                  <a:pt x="1238250" y="0"/>
                </a:lnTo>
              </a:path>
            </a:pathLst>
          </a:custGeom>
          <a:noFill xmlns:a="http://schemas.openxmlformats.org/drawingml/2006/main"/>
          <a:ln xmlns:a="http://schemas.openxmlformats.org/drawingml/2006/main" w="28575">
            <a:solidFill>
              <a:srgbClr val="087B82"/>
            </a:solidFill>
          </a:ln>
        </p:spPr>
      </p:sp>
      <p:sp>
        <p:nvSpPr>
          <p:cNvPr id="12" name="">
            <a:extLst xmlns:a="http://schemas.openxmlformats.org/drawingml/2006/main">
              <a:ext uri="{FF2B5EF4-FFF2-40B4-BE49-F238E27FC236}">
                <a16:creationId xmlns:a16="http://schemas.microsoft.com/office/drawing/2014/main" id="{A093CA14-AD41-4F23-A66D-65E78AB6C291}"/>
              </a:ext>
            </a:extLst>
          </p:cNvPr>
          <p:cNvSpPr>
            <a:spLocks xmlns:a="http://schemas.openxmlformats.org/drawingml/2006/main" noGrp="1"/>
          </p:cNvSpPr>
          <p:nvPr/>
        </p:nvSpPr>
        <p:spPr>
          <a:xfrm xmlns:a="http://schemas.openxmlformats.org/drawingml/2006/main">
            <a:off x="2333625" y="55721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i="0">
                <a:solidFill>
                  <a:srgbClr val="536475"/>
                </a:solidFill>
                <a:latin typeface="Arial"/>
                <a:ea typeface="Arial"/>
                <a:cs typeface="Arial"/>
              </a:defRPr>
            </a:pPr>
            <a:r>
              <a:rPr sz="1275" b="0" i="0">
                <a:solidFill>
                  <a:srgbClr val="536475"/>
                </a:solidFill>
                <a:latin typeface="Arial"/>
                <a:ea typeface="Arial"/>
                <a:cs typeface="Arial"/>
              </a:rPr>
              <a:t>center response</a:t>
            </a:r>
          </a:p>
        </p:txBody>
      </p:sp>
      <p:sp>
        <p:nvSpPr>
          <p:cNvPr id="13" name="">
            <a:extLst xmlns:a="http://schemas.openxmlformats.org/drawingml/2006/main">
              <a:ext uri="{FF2B5EF4-FFF2-40B4-BE49-F238E27FC236}">
                <a16:creationId xmlns:a16="http://schemas.microsoft.com/office/drawing/2014/main" id="{34C756D0-AA1B-41B8-9C98-095B15D40C24}"/>
              </a:ext>
            </a:extLst>
          </p:cNvPr>
          <p:cNvSpPr>
            <a:spLocks xmlns:a="http://schemas.openxmlformats.org/drawingml/2006/main" noGrp="1"/>
          </p:cNvSpPr>
          <p:nvPr/>
        </p:nvSpPr>
        <p:spPr>
          <a:xfrm xmlns:a="http://schemas.openxmlformats.org/drawingml/2006/main">
            <a:off x="7477125" y="1524000"/>
            <a:ext cx="0" cy="409575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14" name="">
            <a:extLst xmlns:a="http://schemas.openxmlformats.org/drawingml/2006/main">
              <a:ext uri="{FF2B5EF4-FFF2-40B4-BE49-F238E27FC236}">
                <a16:creationId xmlns:a16="http://schemas.microsoft.com/office/drawing/2014/main" id="{A7B303F4-D3EC-49FE-8AA0-D029B752775A}"/>
              </a:ext>
            </a:extLst>
          </p:cNvPr>
          <p:cNvSpPr>
            <a:spLocks xmlns:a="http://schemas.openxmlformats.org/drawingml/2006/main" noGrp="1"/>
          </p:cNvSpPr>
          <p:nvPr/>
        </p:nvSpPr>
        <p:spPr>
          <a:xfrm xmlns:a="http://schemas.openxmlformats.org/drawingml/2006/main">
            <a:off x="8048625" y="17335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550" b="1" i="0">
                <a:solidFill>
                  <a:srgbClr val="A87819"/>
                </a:solidFill>
                <a:latin typeface="Arial"/>
                <a:ea typeface="Arial"/>
                <a:cs typeface="Arial"/>
              </a:defRPr>
            </a:pPr>
            <a:r>
              <a:rPr sz="2550" b="1" i="0">
                <a:solidFill>
                  <a:srgbClr val="A87819"/>
                </a:solidFill>
                <a:latin typeface="Arial"/>
                <a:ea typeface="Arial"/>
                <a:cs typeface="Arial"/>
              </a:rPr>
              <a:t>A chest</a:t>
            </a:r>
          </a:p>
        </p:txBody>
      </p:sp>
      <p:sp>
        <p:nvSpPr>
          <p:cNvPr id="15" name="">
            <a:extLst xmlns:a="http://schemas.openxmlformats.org/drawingml/2006/main">
              <a:ext uri="{FF2B5EF4-FFF2-40B4-BE49-F238E27FC236}">
                <a16:creationId xmlns:a16="http://schemas.microsoft.com/office/drawing/2014/main" id="{6B7DB5A0-AF73-4DEC-B6A7-F3F1E2D5F228}"/>
              </a:ext>
            </a:extLst>
          </p:cNvPr>
          <p:cNvSpPr>
            <a:spLocks xmlns:a="http://schemas.openxmlformats.org/drawingml/2006/main" noGrp="1"/>
          </p:cNvSpPr>
          <p:nvPr/>
        </p:nvSpPr>
        <p:spPr>
          <a:xfrm xmlns:a="http://schemas.openxmlformats.org/drawingml/2006/main">
            <a:off x="8020050" y="2381250"/>
            <a:ext cx="295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0" i="0">
                <a:solidFill>
                  <a:srgbClr val="243849"/>
                </a:solidFill>
                <a:latin typeface="Arial"/>
                <a:ea typeface="Arial"/>
                <a:cs typeface="Arial"/>
              </a:defRPr>
            </a:pPr>
            <a:r>
              <a:rPr sz="1800" b="0" i="0">
                <a:solidFill>
                  <a:srgbClr val="243849"/>
                </a:solidFill>
                <a:latin typeface="Arial"/>
                <a:ea typeface="Arial"/>
                <a:cs typeface="Arial"/>
              </a:rPr>
              <a:t>is any convex region that contains the value of every attractive center for the displayed configuration.</a:t>
            </a:r>
          </a:p>
        </p:txBody>
      </p:sp>
      <p:sp>
        <p:nvSpPr>
          <p:cNvPr id="16" name="">
            <a:extLst xmlns:a="http://schemas.openxmlformats.org/drawingml/2006/main">
              <a:ext uri="{FF2B5EF4-FFF2-40B4-BE49-F238E27FC236}">
                <a16:creationId xmlns:a16="http://schemas.microsoft.com/office/drawing/2014/main" id="{2326F414-C519-4594-BA18-F61DA0713531}"/>
              </a:ext>
            </a:extLst>
          </p:cNvPr>
          <p:cNvSpPr>
            <a:spLocks xmlns:a="http://schemas.openxmlformats.org/drawingml/2006/main" noGrp="1"/>
          </p:cNvSpPr>
          <p:nvPr/>
        </p:nvSpPr>
        <p:spPr>
          <a:xfrm xmlns:a="http://schemas.openxmlformats.org/drawingml/2006/main">
            <a:off x="8020050" y="4095750"/>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0" i="0">
                <a:solidFill>
                  <a:srgbClr val="536475"/>
                </a:solidFill>
                <a:latin typeface="Arial"/>
                <a:ea typeface="Arial"/>
                <a:cs typeface="Arial"/>
              </a:defRPr>
            </a:pPr>
            <a:r>
              <a:rPr sz="1575" b="0" i="0">
                <a:solidFill>
                  <a:srgbClr val="536475"/>
                </a:solidFill>
                <a:latin typeface="Arial"/>
                <a:ea typeface="Arial"/>
                <a:cs typeface="Arial"/>
              </a:rPr>
              <a:t>Symmetry fixes X₀.</a:t>
            </a:r>
          </a:p>
          <a:p xmlns:a="http://schemas.openxmlformats.org/drawingml/2006/main">
            <a:pPr algn="ctr">
              <a:defRPr sz="1575" b="0" i="0">
                <a:solidFill>
                  <a:srgbClr val="536475"/>
                </a:solidFill>
                <a:latin typeface="Arial"/>
                <a:ea typeface="Arial"/>
                <a:cs typeface="Arial"/>
              </a:defRPr>
            </a:pPr>
            <a:r>
              <a:rPr sz="1575" b="0" i="0">
                <a:solidFill>
                  <a:srgbClr val="536475"/>
                </a:solidFill>
                <a:latin typeface="Arial"/>
                <a:ea typeface="Arial"/>
                <a:cs typeface="Arial"/>
              </a:rPr>
              <a:t>Attractivity supplies the supporting inequality.</a:t>
            </a:r>
          </a:p>
        </p:txBody>
      </p:sp>
      <p:sp>
        <p:nvSpPr>
          <p:cNvPr id="17" name="">
            <a:extLst xmlns:a="http://schemas.openxmlformats.org/drawingml/2006/main">
              <a:ext uri="{FF2B5EF4-FFF2-40B4-BE49-F238E27FC236}">
                <a16:creationId xmlns:a16="http://schemas.microsoft.com/office/drawing/2014/main" id="{40D80B7D-D1C9-48D3-913F-9A7C1B5D9CD9}"/>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25</a:t>
            </a:r>
          </a:p>
        </p:txBody>
      </p:sp>
    </p:spTree>
    <p:extLst>
      <p:ext uri="{BB962C8B-B14F-4D97-AF65-F5344CB8AC3E}">
        <p14:creationId xmlns:p14="http://schemas.microsoft.com/office/powerpoint/2010/main" val="1801790132"/>
      </p:ext>
    </p:extLst>
  </p:cSld>
  <p:transition spd="slow" advClick="1">
    <p:fade/>
  </p:transition>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846847B-230A-4784-B0E6-F20305AA08EF}"/>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The four-point example</a:t>
            </a:r>
          </a:p>
        </p:txBody>
      </p:sp>
      <p:sp>
        <p:nvSpPr>
          <p:cNvPr id="2" name="">
            <a:extLst xmlns:a="http://schemas.openxmlformats.org/drawingml/2006/main">
              <a:ext uri="{FF2B5EF4-FFF2-40B4-BE49-F238E27FC236}">
                <a16:creationId xmlns:a16="http://schemas.microsoft.com/office/drawing/2014/main" id="{655FFDCA-431A-4B4C-91DD-5D3D4F600C99}"/>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The fourth point is the centroid of a 13–20–21 triangle</a:t>
            </a:r>
          </a:p>
        </p:txBody>
      </p:sp>
      <p:sp>
        <p:nvSpPr>
          <p:cNvPr id="3" name="">
            <a:extLst xmlns:a="http://schemas.openxmlformats.org/drawingml/2006/main">
              <a:ext uri="{FF2B5EF4-FFF2-40B4-BE49-F238E27FC236}">
                <a16:creationId xmlns:a16="http://schemas.microsoft.com/office/drawing/2014/main" id="{226929C9-F2A8-4E5D-93A1-83758CC7E133}"/>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1C5869B2-46AF-44E9-9633-28EB62125ED3}"/>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A48B3369-5411-4B57-84C3-87177E881637}"/>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12A86374-2C9C-41CD-A9BF-EA5A3B74B000}"/>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040896EB-82B4-4D6E-A31E-520629C30941}"/>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6D361EE3-58A8-49D2-859B-8CD437105B4C}"/>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1C3B099B-CBE2-4D77-B83A-9B8969030B6E}"/>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4F9F4121-39E6-4FD8-92A2-8FB2A79DF6DE}"/>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1C6C106B-0C47-494F-A284-E0420F37B888}"/>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78EADCAA-3D44-4526-A5F0-AB71EB3058BF}"/>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107A0383-0DCE-48BC-B2A1-C2D97F2217CA}"/>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88526494-FAB7-455B-82AF-74793E8FF142}"/>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5" name="">
            <a:extLst xmlns:a="http://schemas.openxmlformats.org/drawingml/2006/main">
              <a:ext uri="{FF2B5EF4-FFF2-40B4-BE49-F238E27FC236}">
                <a16:creationId xmlns:a16="http://schemas.microsoft.com/office/drawing/2014/main" id="{4B5BAB9D-5BC1-4EF5-909C-42692726C8BF}"/>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6" name="">
            <a:extLst xmlns:a="http://schemas.openxmlformats.org/drawingml/2006/main">
              <a:ext uri="{FF2B5EF4-FFF2-40B4-BE49-F238E27FC236}">
                <a16:creationId xmlns:a16="http://schemas.microsoft.com/office/drawing/2014/main" id="{00539AC7-9EEE-4AEF-BB1D-DD5C7A7BD6CC}"/>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7" name="">
            <a:extLst xmlns:a="http://schemas.openxmlformats.org/drawingml/2006/main">
              <a:ext uri="{FF2B5EF4-FFF2-40B4-BE49-F238E27FC236}">
                <a16:creationId xmlns:a16="http://schemas.microsoft.com/office/drawing/2014/main" id="{EF9E611D-9ACA-4927-B72C-600E67DB5D8F}"/>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30116354-062C-4517-A4E3-7B05DBCC2C77}"/>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19" name="">
            <a:extLst xmlns:a="http://schemas.openxmlformats.org/drawingml/2006/main">
              <a:ext uri="{FF2B5EF4-FFF2-40B4-BE49-F238E27FC236}">
                <a16:creationId xmlns:a16="http://schemas.microsoft.com/office/drawing/2014/main" id="{DE790FA9-3B71-47F2-94B0-440A2DC5EA99}"/>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4C2A88A8-EF1D-4C92-A480-8B01F37B0CD5}"/>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1" name="">
            <a:extLst xmlns:a="http://schemas.openxmlformats.org/drawingml/2006/main">
              <a:ext uri="{FF2B5EF4-FFF2-40B4-BE49-F238E27FC236}">
                <a16:creationId xmlns:a16="http://schemas.microsoft.com/office/drawing/2014/main" id="{9D07C81B-F785-4F7F-8D7B-44A23B9D3AB1}"/>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09D9D55B-E7C1-4C0C-BCC5-75650BE08859}"/>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F9524F91-2978-4336-AB0A-D76CE0D85672}"/>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4" name="">
            <a:extLst xmlns:a="http://schemas.openxmlformats.org/drawingml/2006/main">
              <a:ext uri="{FF2B5EF4-FFF2-40B4-BE49-F238E27FC236}">
                <a16:creationId xmlns:a16="http://schemas.microsoft.com/office/drawing/2014/main" id="{5855D431-6ADC-426A-8139-1EAEC02CDF5B}"/>
              </a:ext>
            </a:extLst>
          </p:cNvPr>
          <p:cNvSpPr>
            <a:spLocks xmlns:a="http://schemas.openxmlformats.org/drawingml/2006/main" noGrp="1"/>
          </p:cNvSpPr>
          <p:nvPr/>
        </p:nvSpPr>
        <p:spPr>
          <a:xfrm xmlns:a="http://schemas.openxmlformats.org/drawingml/2006/main">
            <a:off x="8429625" y="1676400"/>
            <a:ext cx="276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A = (0, 0)</a:t>
            </a:r>
          </a:p>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B = (21, 0)</a:t>
            </a:r>
          </a:p>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C = (5, 12)</a:t>
            </a:r>
          </a:p>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D = (26/3, 4)</a:t>
            </a:r>
          </a:p>
        </p:txBody>
      </p:sp>
      <p:sp>
        <p:nvSpPr>
          <p:cNvPr id="25" name="">
            <a:extLst xmlns:a="http://schemas.openxmlformats.org/drawingml/2006/main">
              <a:ext uri="{FF2B5EF4-FFF2-40B4-BE49-F238E27FC236}">
                <a16:creationId xmlns:a16="http://schemas.microsoft.com/office/drawing/2014/main" id="{5A9D3602-D5E2-46DC-8E72-401ADD6CB6C6}"/>
              </a:ext>
            </a:extLst>
          </p:cNvPr>
          <p:cNvSpPr>
            <a:spLocks xmlns:a="http://schemas.openxmlformats.org/drawingml/2006/main" noGrp="1"/>
          </p:cNvSpPr>
          <p:nvPr/>
        </p:nvSpPr>
        <p:spPr>
          <a:xfrm xmlns:a="http://schemas.openxmlformats.org/drawingml/2006/main">
            <a:off x="8429625" y="3333750"/>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475"/>
                </a:solidFill>
                <a:latin typeface="Arial"/>
                <a:ea typeface="Arial"/>
                <a:cs typeface="Arial"/>
              </a:defRPr>
            </a:pPr>
            <a:r>
              <a:rPr sz="1575" b="0" i="0">
                <a:solidFill>
                  <a:srgbClr val="536475"/>
                </a:solidFill>
                <a:latin typeface="Arial"/>
                <a:ea typeface="Arial"/>
                <a:cs typeface="Arial"/>
              </a:rPr>
              <a:t>|BC| = 20</a:t>
            </a:r>
          </a:p>
          <a:p xmlns:a="http://schemas.openxmlformats.org/drawingml/2006/main">
            <a:pPr algn="l">
              <a:defRPr sz="1575" b="0" i="0">
                <a:solidFill>
                  <a:srgbClr val="536475"/>
                </a:solidFill>
                <a:latin typeface="Arial"/>
                <a:ea typeface="Arial"/>
                <a:cs typeface="Arial"/>
              </a:defRPr>
            </a:pPr>
            <a:r>
              <a:rPr sz="1575" b="0" i="0">
                <a:solidFill>
                  <a:srgbClr val="536475"/>
                </a:solidFill>
                <a:latin typeface="Arial"/>
                <a:ea typeface="Arial"/>
                <a:cs typeface="Arial"/>
              </a:rPr>
              <a:t>|CA| = 13</a:t>
            </a:r>
          </a:p>
          <a:p xmlns:a="http://schemas.openxmlformats.org/drawingml/2006/main">
            <a:pPr algn="l">
              <a:defRPr sz="1575" b="0" i="0">
                <a:solidFill>
                  <a:srgbClr val="536475"/>
                </a:solidFill>
                <a:latin typeface="Arial"/>
                <a:ea typeface="Arial"/>
                <a:cs typeface="Arial"/>
              </a:defRPr>
            </a:pPr>
            <a:r>
              <a:rPr sz="1575" b="0" i="0">
                <a:solidFill>
                  <a:srgbClr val="536475"/>
                </a:solidFill>
                <a:latin typeface="Arial"/>
                <a:ea typeface="Arial"/>
                <a:cs typeface="Arial"/>
              </a:rPr>
              <a:t>|AB| = 21</a:t>
            </a:r>
          </a:p>
        </p:txBody>
      </p:sp>
      <p:sp>
        <p:nvSpPr>
          <p:cNvPr id="26" name="">
            <a:extLst xmlns:a="http://schemas.openxmlformats.org/drawingml/2006/main">
              <a:ext uri="{FF2B5EF4-FFF2-40B4-BE49-F238E27FC236}">
                <a16:creationId xmlns:a16="http://schemas.microsoft.com/office/drawing/2014/main" id="{B756CAD7-F78B-4D07-9C33-34C25F5A3E55}"/>
              </a:ext>
            </a:extLst>
          </p:cNvPr>
          <p:cNvSpPr>
            <a:spLocks xmlns:a="http://schemas.openxmlformats.org/drawingml/2006/main" noGrp="1"/>
          </p:cNvSpPr>
          <p:nvPr/>
        </p:nvSpPr>
        <p:spPr>
          <a:xfrm xmlns:a="http://schemas.openxmlformats.org/drawingml/2006/main">
            <a:off x="8382000" y="457200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243849"/>
                </a:solidFill>
                <a:latin typeface="Arial"/>
                <a:ea typeface="Arial"/>
                <a:cs typeface="Arial"/>
              </a:defRPr>
            </a:pPr>
            <a:r>
              <a:rPr sz="4050" b="1" i="0">
                <a:solidFill>
                  <a:srgbClr val="243849"/>
                </a:solidFill>
                <a:latin typeface="Arial"/>
                <a:ea typeface="Arial"/>
                <a:cs typeface="Arial"/>
              </a:rPr>
              <a:t>126</a:t>
            </a:r>
          </a:p>
        </p:txBody>
      </p:sp>
      <p:sp>
        <p:nvSpPr>
          <p:cNvPr id="27" name="">
            <a:extLst xmlns:a="http://schemas.openxmlformats.org/drawingml/2006/main">
              <a:ext uri="{FF2B5EF4-FFF2-40B4-BE49-F238E27FC236}">
                <a16:creationId xmlns:a16="http://schemas.microsoft.com/office/drawing/2014/main" id="{10FB66AC-88FD-4BD5-A6AB-60A4E5918781}"/>
              </a:ext>
            </a:extLst>
          </p:cNvPr>
          <p:cNvSpPr>
            <a:spLocks xmlns:a="http://schemas.openxmlformats.org/drawingml/2006/main" noGrp="1"/>
          </p:cNvSpPr>
          <p:nvPr/>
        </p:nvSpPr>
        <p:spPr>
          <a:xfrm xmlns:a="http://schemas.openxmlformats.org/drawingml/2006/main">
            <a:off x="8572500" y="523875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area of conv{A,B,C,D}</a:t>
            </a:r>
          </a:p>
        </p:txBody>
      </p:sp>
      <p:sp>
        <p:nvSpPr>
          <p:cNvPr id="28" name="">
            <a:extLst xmlns:a="http://schemas.openxmlformats.org/drawingml/2006/main">
              <a:ext uri="{FF2B5EF4-FFF2-40B4-BE49-F238E27FC236}">
                <a16:creationId xmlns:a16="http://schemas.microsoft.com/office/drawing/2014/main" id="{48BE7C36-3DCA-4B35-850D-D16CF43CDE40}"/>
              </a:ext>
            </a:extLst>
          </p:cNvPr>
          <p:cNvSpPr>
            <a:spLocks xmlns:a="http://schemas.openxmlformats.org/drawingml/2006/main" noGrp="1"/>
          </p:cNvSpPr>
          <p:nvPr/>
        </p:nvSpPr>
        <p:spPr>
          <a:xfrm xmlns:a="http://schemas.openxmlformats.org/drawingml/2006/main">
            <a:off x="8267700" y="571500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i="0">
                <a:solidFill>
                  <a:srgbClr val="536475"/>
                </a:solidFill>
                <a:latin typeface="Arial"/>
                <a:ea typeface="Arial"/>
                <a:cs typeface="Arial"/>
              </a:defRPr>
            </a:pPr>
            <a:r>
              <a:rPr sz="1275" b="0" i="0">
                <a:solidFill>
                  <a:srgbClr val="536475"/>
                </a:solidFill>
                <a:latin typeface="Arial"/>
                <a:ea typeface="Arial"/>
                <a:cs typeface="Arial"/>
              </a:rPr>
              <a:t>D lies inside ABC,</a:t>
            </a:r>
          </a:p>
          <a:p xmlns:a="http://schemas.openxmlformats.org/drawingml/2006/main">
            <a:pPr algn="ctr">
              <a:defRPr sz="1275" b="0" i="0">
                <a:solidFill>
                  <a:srgbClr val="536475"/>
                </a:solidFill>
                <a:latin typeface="Arial"/>
                <a:ea typeface="Arial"/>
                <a:cs typeface="Arial"/>
              </a:defRPr>
            </a:pPr>
            <a:r>
              <a:rPr sz="1275" b="0" i="0">
                <a:solidFill>
                  <a:srgbClr val="536475"/>
                </a:solidFill>
                <a:latin typeface="Arial"/>
                <a:ea typeface="Arial"/>
                <a:cs typeface="Arial"/>
              </a:rPr>
              <a:t>so the hull remains the triangle.</a:t>
            </a:r>
          </a:p>
        </p:txBody>
      </p:sp>
      <p:sp>
        <p:nvSpPr>
          <p:cNvPr id="29" name="">
            <a:extLst xmlns:a="http://schemas.openxmlformats.org/drawingml/2006/main">
              <a:ext uri="{FF2B5EF4-FFF2-40B4-BE49-F238E27FC236}">
                <a16:creationId xmlns:a16="http://schemas.microsoft.com/office/drawing/2014/main" id="{9FDA1868-5F10-4CA3-8165-A568E22EF7F2}"/>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26</a:t>
            </a:r>
          </a:p>
        </p:txBody>
      </p:sp>
    </p:spTree>
    <p:extLst>
      <p:ext uri="{BB962C8B-B14F-4D97-AF65-F5344CB8AC3E}">
        <p14:creationId xmlns:p14="http://schemas.microsoft.com/office/powerpoint/2010/main" val="1560886094"/>
      </p:ext>
    </p:extLst>
  </p:cSld>
  <p:transition spd="slow" advClick="1">
    <p:fade/>
  </p:transition>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FAEBD4E-763A-4353-A694-284CA26A729C}"/>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One 2+2 partition produces one strip</a:t>
            </a:r>
          </a:p>
        </p:txBody>
      </p:sp>
      <p:sp>
        <p:nvSpPr>
          <p:cNvPr id="2" name="">
            <a:extLst xmlns:a="http://schemas.openxmlformats.org/drawingml/2006/main">
              <a:ext uri="{FF2B5EF4-FFF2-40B4-BE49-F238E27FC236}">
                <a16:creationId xmlns:a16="http://schemas.microsoft.com/office/drawing/2014/main" id="{F83E86B8-1830-4662-B4A4-93DD6F605B46}"/>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First build a centrally symmetric predecessor, then restore the translated pair in parallel</a:t>
            </a:r>
          </a:p>
        </p:txBody>
      </p:sp>
      <p:sp>
        <p:nvSpPr>
          <p:cNvPr id="3" name="">
            <a:extLst xmlns:a="http://schemas.openxmlformats.org/drawingml/2006/main">
              <a:ext uri="{FF2B5EF4-FFF2-40B4-BE49-F238E27FC236}">
                <a16:creationId xmlns:a16="http://schemas.microsoft.com/office/drawing/2014/main" id="{949F8EB5-F499-49F6-BDB7-CB831AF2E876}"/>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F73FDD24-2413-419A-892F-74422BBEFDBA}"/>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7C6A8B9E-AA26-4A41-8FE3-8810BF42B88E}"/>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331FD29B-2662-4825-9EB5-A44D19C5E79D}"/>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5C499F7E-2760-42E7-9AE3-EFEE180E2443}"/>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FFFF56A1-A894-4933-AA0C-F4682586FF8E}"/>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7E8648F1-31E1-47CE-B7DB-E4696955B444}"/>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7B307B7C-47F7-4FA2-BE7E-C58B97A0C62E}"/>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532F4A4A-7980-4480-87CD-7C7B49B801C7}"/>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3EB6C2AF-CEEE-4BE9-AB7B-68055B296310}"/>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07E3F5FB-22C9-4098-ACDA-7A65AAB094C2}"/>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65FDB453-47D2-4D1A-A7B3-26B62D995457}"/>
              </a:ext>
            </a:extLst>
          </p:cNvPr>
          <p:cNvSpPr>
            <a:spLocks xmlns:a="http://schemas.openxmlformats.org/drawingml/2006/main" noGrp="1"/>
          </p:cNvSpPr>
          <p:nvPr/>
        </p:nvSpPr>
        <p:spPr>
          <a:xfrm xmlns:a="http://schemas.openxmlformats.org/drawingml/2006/main">
            <a:off x="533400" y="1314450"/>
            <a:ext cx="7334250" cy="4464326"/>
          </a:xfrm>
          <a:custGeom xmlns:a="http://schemas.openxmlformats.org/drawingml/2006/main">
            <a:pathLst>
              <a:path w="7334250" h="4464326">
                <a:moveTo>
                  <a:pt x="7334250" y="2464680"/>
                </a:moveTo>
                <a:lnTo>
                  <a:pt x="7334250" y="0"/>
                </a:lnTo>
                <a:lnTo>
                  <a:pt x="5976592" y="0"/>
                </a:lnTo>
                <a:lnTo>
                  <a:pt x="0" y="2739272"/>
                </a:lnTo>
                <a:lnTo>
                  <a:pt x="0" y="4464326"/>
                </a:lnTo>
                <a:lnTo>
                  <a:pt x="2971386" y="4464326"/>
                </a:lnTo>
                <a:close/>
              </a:path>
            </a:pathLst>
          </a:custGeom>
          <a:solidFill xmlns:a="http://schemas.openxmlformats.org/drawingml/2006/main">
            <a:srgbClr val="A87819">
              <a:alpha val="24000"/>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A21DFDF-3FDD-4B61-A097-B57DD48793FA}"/>
              </a:ext>
            </a:extLst>
          </p:cNvPr>
          <p:cNvSpPr>
            <a:spLocks xmlns:a="http://schemas.openxmlformats.org/drawingml/2006/main" noGrp="1"/>
          </p:cNvSpPr>
          <p:nvPr/>
        </p:nvSpPr>
        <p:spPr>
          <a:xfrm xmlns:a="http://schemas.openxmlformats.org/drawingml/2006/main">
            <a:off x="533400" y="1314450"/>
            <a:ext cx="5976592" cy="2739272"/>
          </a:xfrm>
          <a:custGeom xmlns:a="http://schemas.openxmlformats.org/drawingml/2006/main">
            <a:pathLst>
              <a:path w="5976592" h="2739272">
                <a:moveTo>
                  <a:pt x="0" y="2739272"/>
                </a:moveTo>
                <a:lnTo>
                  <a:pt x="5976592" y="0"/>
                </a:lnTo>
              </a:path>
            </a:pathLst>
          </a:custGeom>
          <a:noFill xmlns:a="http://schemas.openxmlformats.org/drawingml/2006/main"/>
          <a:ln xmlns:a="http://schemas.openxmlformats.org/drawingml/2006/main" w="20955">
            <a:solidFill>
              <a:srgbClr val="A87819"/>
            </a:solidFill>
            <a:prstDash val="dash"/>
          </a:ln>
        </p:spPr>
      </p:sp>
      <p:sp>
        <p:nvSpPr>
          <p:cNvPr id="16" name="">
            <a:extLst xmlns:a="http://schemas.openxmlformats.org/drawingml/2006/main">
              <a:ext uri="{FF2B5EF4-FFF2-40B4-BE49-F238E27FC236}">
                <a16:creationId xmlns:a16="http://schemas.microsoft.com/office/drawing/2014/main" id="{269922E9-B223-407A-B2BD-1286CBFDA8F9}"/>
              </a:ext>
            </a:extLst>
          </p:cNvPr>
          <p:cNvSpPr>
            <a:spLocks xmlns:a="http://schemas.openxmlformats.org/drawingml/2006/main" noGrp="1"/>
          </p:cNvSpPr>
          <p:nvPr/>
        </p:nvSpPr>
        <p:spPr>
          <a:xfrm xmlns:a="http://schemas.openxmlformats.org/drawingml/2006/main">
            <a:off x="3504786" y="3779130"/>
            <a:ext cx="4362864" cy="1999646"/>
          </a:xfrm>
          <a:custGeom xmlns:a="http://schemas.openxmlformats.org/drawingml/2006/main">
            <a:pathLst>
              <a:path w="4362864" h="1999646">
                <a:moveTo>
                  <a:pt x="4362864" y="0"/>
                </a:moveTo>
                <a:lnTo>
                  <a:pt x="0" y="1999646"/>
                </a:lnTo>
              </a:path>
            </a:pathLst>
          </a:custGeom>
          <a:noFill xmlns:a="http://schemas.openxmlformats.org/drawingml/2006/main"/>
          <a:ln xmlns:a="http://schemas.openxmlformats.org/drawingml/2006/main" w="20955">
            <a:solidFill>
              <a:srgbClr val="A87819"/>
            </a:solidFill>
            <a:prstDash val="dash"/>
          </a:ln>
        </p:spPr>
      </p:sp>
      <p:sp>
        <p:nvSpPr>
          <p:cNvPr id="17" name="">
            <a:extLst xmlns:a="http://schemas.openxmlformats.org/drawingml/2006/main">
              <a:ext uri="{FF2B5EF4-FFF2-40B4-BE49-F238E27FC236}">
                <a16:creationId xmlns:a16="http://schemas.microsoft.com/office/drawing/2014/main" id="{D8F486F4-FD90-4055-928C-7424B2A1312A}"/>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8" name="">
            <a:extLst xmlns:a="http://schemas.openxmlformats.org/drawingml/2006/main">
              <a:ext uri="{FF2B5EF4-FFF2-40B4-BE49-F238E27FC236}">
                <a16:creationId xmlns:a16="http://schemas.microsoft.com/office/drawing/2014/main" id="{227E8CAD-5079-40F6-A3F4-CD585DE3653E}"/>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9" name="">
            <a:extLst xmlns:a="http://schemas.openxmlformats.org/drawingml/2006/main">
              <a:ext uri="{FF2B5EF4-FFF2-40B4-BE49-F238E27FC236}">
                <a16:creationId xmlns:a16="http://schemas.microsoft.com/office/drawing/2014/main" id="{E3C649D9-1FB0-4AD4-8E04-CA107B208A81}"/>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20" name="">
            <a:extLst xmlns:a="http://schemas.openxmlformats.org/drawingml/2006/main">
              <a:ext uri="{FF2B5EF4-FFF2-40B4-BE49-F238E27FC236}">
                <a16:creationId xmlns:a16="http://schemas.microsoft.com/office/drawing/2014/main" id="{D2529E57-83DB-4884-B094-E728B0414C4E}"/>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1" name="">
            <a:extLst xmlns:a="http://schemas.openxmlformats.org/drawingml/2006/main">
              <a:ext uri="{FF2B5EF4-FFF2-40B4-BE49-F238E27FC236}">
                <a16:creationId xmlns:a16="http://schemas.microsoft.com/office/drawing/2014/main" id="{CBC6625E-1134-402B-BBB8-CAD6078C7CB9}"/>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2" name="">
            <a:extLst xmlns:a="http://schemas.openxmlformats.org/drawingml/2006/main">
              <a:ext uri="{FF2B5EF4-FFF2-40B4-BE49-F238E27FC236}">
                <a16:creationId xmlns:a16="http://schemas.microsoft.com/office/drawing/2014/main" id="{12837FA2-3CB4-4878-BFC8-07E4B104C348}"/>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3A9B3532-A07D-4352-AC37-FDF9F7775CE7}"/>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4" name="">
            <a:extLst xmlns:a="http://schemas.openxmlformats.org/drawingml/2006/main">
              <a:ext uri="{FF2B5EF4-FFF2-40B4-BE49-F238E27FC236}">
                <a16:creationId xmlns:a16="http://schemas.microsoft.com/office/drawing/2014/main" id="{1B0508B9-CF29-47A1-A874-0116E15D4C1E}"/>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5" name="">
            <a:extLst xmlns:a="http://schemas.openxmlformats.org/drawingml/2006/main">
              <a:ext uri="{FF2B5EF4-FFF2-40B4-BE49-F238E27FC236}">
                <a16:creationId xmlns:a16="http://schemas.microsoft.com/office/drawing/2014/main" id="{20A79745-7580-4947-9540-7242889B8C6C}"/>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6" name="">
            <a:extLst xmlns:a="http://schemas.openxmlformats.org/drawingml/2006/main">
              <a:ext uri="{FF2B5EF4-FFF2-40B4-BE49-F238E27FC236}">
                <a16:creationId xmlns:a16="http://schemas.microsoft.com/office/drawing/2014/main" id="{2A32B730-C562-46E5-94EC-D77A1107510E}"/>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7" name="">
            <a:extLst xmlns:a="http://schemas.openxmlformats.org/drawingml/2006/main">
              <a:ext uri="{FF2B5EF4-FFF2-40B4-BE49-F238E27FC236}">
                <a16:creationId xmlns:a16="http://schemas.microsoft.com/office/drawing/2014/main" id="{2443733A-5417-4789-A120-771FA8355DD8}"/>
              </a:ext>
            </a:extLst>
          </p:cNvPr>
          <p:cNvSpPr>
            <a:spLocks xmlns:a="http://schemas.openxmlformats.org/drawingml/2006/main" noGrp="1"/>
          </p:cNvSpPr>
          <p:nvPr/>
        </p:nvSpPr>
        <p:spPr>
          <a:xfrm xmlns:a="http://schemas.openxmlformats.org/drawingml/2006/main">
            <a:off x="8429625" y="15811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A87819"/>
                </a:solidFill>
                <a:latin typeface="Arial"/>
                <a:ea typeface="Arial"/>
                <a:cs typeface="Arial"/>
              </a:defRPr>
            </a:pPr>
            <a:r>
              <a:rPr sz="1350" b="1" i="0">
                <a:solidFill>
                  <a:srgbClr val="A87819"/>
                </a:solidFill>
                <a:latin typeface="Arial"/>
                <a:ea typeface="Arial"/>
                <a:cs typeface="Arial"/>
              </a:rPr>
              <a:t>Partition</a:t>
            </a:r>
          </a:p>
        </p:txBody>
      </p:sp>
      <p:sp>
        <p:nvSpPr>
          <p:cNvPr id="28" name="">
            <a:extLst xmlns:a="http://schemas.openxmlformats.org/drawingml/2006/main">
              <a:ext uri="{FF2B5EF4-FFF2-40B4-BE49-F238E27FC236}">
                <a16:creationId xmlns:a16="http://schemas.microsoft.com/office/drawing/2014/main" id="{8AD7F8E6-94E7-417E-B334-913429DAAA57}"/>
              </a:ext>
            </a:extLst>
          </p:cNvPr>
          <p:cNvSpPr>
            <a:spLocks xmlns:a="http://schemas.openxmlformats.org/drawingml/2006/main" noGrp="1"/>
          </p:cNvSpPr>
          <p:nvPr/>
        </p:nvSpPr>
        <p:spPr>
          <a:xfrm xmlns:a="http://schemas.openxmlformats.org/drawingml/2006/main">
            <a:off x="8429625" y="195262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243849"/>
                </a:solidFill>
                <a:latin typeface="Arial"/>
                <a:ea typeface="Arial"/>
                <a:cs typeface="Arial"/>
              </a:defRPr>
            </a:pPr>
            <a:r>
              <a:rPr sz="2100" b="1" i="0">
                <a:solidFill>
                  <a:srgbClr val="243849"/>
                </a:solidFill>
                <a:latin typeface="Arial"/>
                <a:ea typeface="Arial"/>
                <a:cs typeface="Arial"/>
              </a:rPr>
              <a:t>{A,B} | {C,D}</a:t>
            </a:r>
          </a:p>
        </p:txBody>
      </p:sp>
      <p:sp>
        <p:nvSpPr>
          <p:cNvPr id="29" name="">
            <a:extLst xmlns:a="http://schemas.openxmlformats.org/drawingml/2006/main">
              <a:ext uri="{FF2B5EF4-FFF2-40B4-BE49-F238E27FC236}">
                <a16:creationId xmlns:a16="http://schemas.microsoft.com/office/drawing/2014/main" id="{25CE40BA-5A42-4870-8B31-29FDF3FF294E}"/>
              </a:ext>
            </a:extLst>
          </p:cNvPr>
          <p:cNvSpPr>
            <a:spLocks xmlns:a="http://schemas.openxmlformats.org/drawingml/2006/main" noGrp="1"/>
          </p:cNvSpPr>
          <p:nvPr/>
        </p:nvSpPr>
        <p:spPr>
          <a:xfrm xmlns:a="http://schemas.openxmlformats.org/drawingml/2006/main">
            <a:off x="8429625" y="25717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536475"/>
                </a:solidFill>
                <a:latin typeface="Arial"/>
                <a:ea typeface="Arial"/>
                <a:cs typeface="Arial"/>
              </a:defRPr>
            </a:pPr>
            <a:r>
              <a:rPr sz="1650" b="0" i="0">
                <a:solidFill>
                  <a:srgbClr val="536475"/>
                </a:solidFill>
                <a:latin typeface="Arial"/>
                <a:ea typeface="Arial"/>
                <a:cs typeface="Arial"/>
              </a:rPr>
              <a:t>m₁ = (A+B)/2</a:t>
            </a:r>
          </a:p>
          <a:p xmlns:a="http://schemas.openxmlformats.org/drawingml/2006/main">
            <a:pPr algn="l">
              <a:defRPr sz="1650" b="0" i="0">
                <a:solidFill>
                  <a:srgbClr val="536475"/>
                </a:solidFill>
                <a:latin typeface="Arial"/>
                <a:ea typeface="Arial"/>
                <a:cs typeface="Arial"/>
              </a:defRPr>
            </a:pPr>
            <a:r>
              <a:rPr sz="1650" b="0" i="0">
                <a:solidFill>
                  <a:srgbClr val="536475"/>
                </a:solidFill>
                <a:latin typeface="Arial"/>
                <a:ea typeface="Arial"/>
                <a:cs typeface="Arial"/>
              </a:rPr>
              <a:t>m₂ = (C+D)/2</a:t>
            </a:r>
          </a:p>
          <a:p xmlns:a="http://schemas.openxmlformats.org/drawingml/2006/main">
            <a:pPr algn="l">
              <a:defRPr sz="1650" b="0" i="0">
                <a:solidFill>
                  <a:srgbClr val="536475"/>
                </a:solidFill>
                <a:latin typeface="Arial"/>
                <a:ea typeface="Arial"/>
                <a:cs typeface="Arial"/>
              </a:defRPr>
            </a:pPr>
            <a:r>
              <a:rPr sz="1650" b="0" i="0">
                <a:solidFill>
                  <a:srgbClr val="536475"/>
                </a:solidFill>
                <a:latin typeface="Arial"/>
                <a:ea typeface="Arial"/>
                <a:cs typeface="Arial"/>
              </a:rPr>
              <a:t>d = m₁ − m₂</a:t>
            </a:r>
          </a:p>
        </p:txBody>
      </p:sp>
      <p:sp>
        <p:nvSpPr>
          <p:cNvPr id="30" name="">
            <a:extLst xmlns:a="http://schemas.openxmlformats.org/drawingml/2006/main">
              <a:ext uri="{FF2B5EF4-FFF2-40B4-BE49-F238E27FC236}">
                <a16:creationId xmlns:a16="http://schemas.microsoft.com/office/drawing/2014/main" id="{790DBF1F-A84E-49E9-95C9-897219B41594}"/>
              </a:ext>
            </a:extLst>
          </p:cNvPr>
          <p:cNvSpPr>
            <a:spLocks xmlns:a="http://schemas.openxmlformats.org/drawingml/2006/main" noGrp="1"/>
          </p:cNvSpPr>
          <p:nvPr/>
        </p:nvSpPr>
        <p:spPr>
          <a:xfrm xmlns:a="http://schemas.openxmlformats.org/drawingml/2006/main">
            <a:off x="8239125" y="39052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i="0">
                <a:solidFill>
                  <a:srgbClr val="243849"/>
                </a:solidFill>
                <a:latin typeface="Arial"/>
                <a:ea typeface="Arial"/>
                <a:cs typeface="Arial"/>
              </a:defRPr>
            </a:pPr>
            <a:r>
              <a:rPr sz="1650" b="0" i="0">
                <a:solidFill>
                  <a:srgbClr val="243849"/>
                </a:solidFill>
                <a:latin typeface="Arial"/>
                <a:ea typeface="Arial"/>
                <a:cs typeface="Arial"/>
              </a:rPr>
              <a:t>min(d·m₁,d·m₂) ≤ d·X ≤ max(d·m₁,d·m₂)</a:t>
            </a:r>
          </a:p>
        </p:txBody>
      </p:sp>
      <p:sp>
        <p:nvSpPr>
          <p:cNvPr id="31" name="">
            <a:extLst xmlns:a="http://schemas.openxmlformats.org/drawingml/2006/main">
              <a:ext uri="{FF2B5EF4-FFF2-40B4-BE49-F238E27FC236}">
                <a16:creationId xmlns:a16="http://schemas.microsoft.com/office/drawing/2014/main" id="{186C53E3-EBE4-41F7-A878-FBB5EAAB20A2}"/>
              </a:ext>
            </a:extLst>
          </p:cNvPr>
          <p:cNvSpPr>
            <a:spLocks xmlns:a="http://schemas.openxmlformats.org/drawingml/2006/main" noGrp="1"/>
          </p:cNvSpPr>
          <p:nvPr/>
        </p:nvSpPr>
        <p:spPr>
          <a:xfrm xmlns:a="http://schemas.openxmlformats.org/drawingml/2006/main">
            <a:off x="8239125" y="50673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A87819"/>
                </a:solidFill>
                <a:latin typeface="Arial"/>
                <a:ea typeface="Arial"/>
                <a:cs typeface="Arial"/>
              </a:defRPr>
            </a:pPr>
            <a:r>
              <a:rPr sz="1500" b="1" i="0">
                <a:solidFill>
                  <a:srgbClr val="A87819"/>
                </a:solidFill>
                <a:latin typeface="Arial"/>
                <a:ea typeface="Arial"/>
                <a:cs typeface="Arial"/>
              </a:rPr>
              <a:t>−701/18 ≤ (11/3)x − 8y ≤ 77/2</a:t>
            </a:r>
          </a:p>
        </p:txBody>
      </p:sp>
      <p:sp>
        <p:nvSpPr>
          <p:cNvPr id="32" name="">
            <a:extLst xmlns:a="http://schemas.openxmlformats.org/drawingml/2006/main">
              <a:ext uri="{FF2B5EF4-FFF2-40B4-BE49-F238E27FC236}">
                <a16:creationId xmlns:a16="http://schemas.microsoft.com/office/drawing/2014/main" id="{A2CEB670-2BFD-4CA4-A929-A2940B5C5B41}"/>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27</a:t>
            </a:r>
          </a:p>
        </p:txBody>
      </p:sp>
    </p:spTree>
    <p:extLst>
      <p:ext uri="{BB962C8B-B14F-4D97-AF65-F5344CB8AC3E}">
        <p14:creationId xmlns:p14="http://schemas.microsoft.com/office/powerpoint/2010/main" val="1312969967"/>
      </p:ext>
    </p:extLst>
  </p:cSld>
  <p:transition spd="slow" advClick="1">
    <p:fade/>
  </p:transition>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5097B9E-E553-4689-AB7F-6E9DE905860D}"/>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Three partitions give the parallelogram chest</a:t>
            </a:r>
          </a:p>
        </p:txBody>
      </p:sp>
      <p:sp>
        <p:nvSpPr>
          <p:cNvPr id="2" name="">
            <a:extLst xmlns:a="http://schemas.openxmlformats.org/drawingml/2006/main">
              <a:ext uri="{FF2B5EF4-FFF2-40B4-BE49-F238E27FC236}">
                <a16:creationId xmlns:a16="http://schemas.microsoft.com/office/drawing/2014/main" id="{AAFD5B63-0A03-4CE0-8978-2F9010166A94}"/>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Intersect the three strips with the convex hull</a:t>
            </a:r>
          </a:p>
        </p:txBody>
      </p:sp>
      <p:sp>
        <p:nvSpPr>
          <p:cNvPr id="3" name="">
            <a:extLst xmlns:a="http://schemas.openxmlformats.org/drawingml/2006/main">
              <a:ext uri="{FF2B5EF4-FFF2-40B4-BE49-F238E27FC236}">
                <a16:creationId xmlns:a16="http://schemas.microsoft.com/office/drawing/2014/main" id="{7C48E951-1EB6-4137-A736-C9067891B83F}"/>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011B8798-E54A-4F2F-86E6-517753427EEA}"/>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EEDBB36D-C6A3-4507-BA76-D32B01D13746}"/>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C46B2E92-24A5-4EFD-8565-7A5EBBADC967}"/>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844BE249-DD02-4886-BFB0-D52E88489B89}"/>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A8F2EDC6-CA2F-4CDB-B1E0-E510872AB26E}"/>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DA58C59F-693E-4D65-AC97-A07577900234}"/>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25D34944-FE8D-44F1-849B-5300403727C6}"/>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F297F959-9328-4D00-8F57-1E768D18088A}"/>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9AF45FD3-DE0D-45D6-B5CE-0D4837B220B8}"/>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6C4C4FDB-C947-4A35-A550-FBD261DBB49F}"/>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9B3ACC76-6264-4063-9A6D-C42D46B51FC7}"/>
              </a:ext>
            </a:extLst>
          </p:cNvPr>
          <p:cNvSpPr>
            <a:spLocks xmlns:a="http://schemas.openxmlformats.org/drawingml/2006/main" noGrp="1"/>
          </p:cNvSpPr>
          <p:nvPr/>
        </p:nvSpPr>
        <p:spPr>
          <a:xfrm xmlns:a="http://schemas.openxmlformats.org/drawingml/2006/main">
            <a:off x="1647795" y="2591346"/>
            <a:ext cx="3936225" cy="2868550"/>
          </a:xfrm>
          <a:custGeom xmlns:a="http://schemas.openxmlformats.org/drawingml/2006/main">
            <a:pathLst>
              <a:path w="3936225" h="2868550">
                <a:moveTo>
                  <a:pt x="880649" y="2868550"/>
                </a:moveTo>
                <a:lnTo>
                  <a:pt x="2552730" y="2868550"/>
                </a:lnTo>
                <a:lnTo>
                  <a:pt x="3932845" y="2235986"/>
                </a:lnTo>
                <a:lnTo>
                  <a:pt x="3936225" y="2225591"/>
                </a:lnTo>
                <a:lnTo>
                  <a:pt x="3349931" y="955267"/>
                </a:lnTo>
                <a:lnTo>
                  <a:pt x="2076243" y="0"/>
                </a:lnTo>
                <a:lnTo>
                  <a:pt x="3967" y="949792"/>
                </a:lnTo>
                <a:lnTo>
                  <a:pt x="1687" y="955267"/>
                </a:lnTo>
                <a:lnTo>
                  <a:pt x="0" y="960468"/>
                </a:lnTo>
                <a:close/>
              </a:path>
            </a:pathLst>
          </a:custGeom>
          <a:solidFill xmlns:a="http://schemas.openxmlformats.org/drawingml/2006/main">
            <a:srgbClr val="A87819">
              <a:alpha val="42000"/>
            </a:srgbClr>
          </a:solidFill>
          <a:ln xmlns:a="http://schemas.openxmlformats.org/drawingml/2006/main" w="28575">
            <a:solidFill>
              <a:srgbClr val="A87819"/>
            </a:solidFill>
            <a:prstDash val="solid"/>
          </a:ln>
        </p:spPr>
      </p:sp>
      <p:sp>
        <p:nvSpPr>
          <p:cNvPr id="15" name="">
            <a:extLst xmlns:a="http://schemas.openxmlformats.org/drawingml/2006/main">
              <a:ext uri="{FF2B5EF4-FFF2-40B4-BE49-F238E27FC236}">
                <a16:creationId xmlns:a16="http://schemas.microsoft.com/office/drawing/2014/main" id="{A8F3649C-B0C7-4609-AD53-A2E75C46084F}"/>
              </a:ext>
            </a:extLst>
          </p:cNvPr>
          <p:cNvSpPr>
            <a:spLocks xmlns:a="http://schemas.openxmlformats.org/drawingml/2006/main" noGrp="1"/>
          </p:cNvSpPr>
          <p:nvPr/>
        </p:nvSpPr>
        <p:spPr>
          <a:xfrm xmlns:a="http://schemas.openxmlformats.org/drawingml/2006/main">
            <a:off x="533400" y="1314450"/>
            <a:ext cx="5976592" cy="2739272"/>
          </a:xfrm>
          <a:custGeom xmlns:a="http://schemas.openxmlformats.org/drawingml/2006/main">
            <a:pathLst>
              <a:path w="5976592" h="2739272">
                <a:moveTo>
                  <a:pt x="0" y="2739272"/>
                </a:moveTo>
                <a:lnTo>
                  <a:pt x="5976592" y="0"/>
                </a:lnTo>
              </a:path>
            </a:pathLst>
          </a:custGeom>
          <a:noFill xmlns:a="http://schemas.openxmlformats.org/drawingml/2006/main"/>
          <a:ln xmlns:a="http://schemas.openxmlformats.org/drawingml/2006/main" w="15240">
            <a:solidFill>
              <a:srgbClr val="A87819">
                <a:alpha val="70000"/>
              </a:srgbClr>
            </a:solidFill>
            <a:prstDash val="dash"/>
          </a:ln>
        </p:spPr>
      </p:sp>
      <p:sp>
        <p:nvSpPr>
          <p:cNvPr id="16" name="">
            <a:extLst xmlns:a="http://schemas.openxmlformats.org/drawingml/2006/main">
              <a:ext uri="{FF2B5EF4-FFF2-40B4-BE49-F238E27FC236}">
                <a16:creationId xmlns:a16="http://schemas.microsoft.com/office/drawing/2014/main" id="{6265DD75-0442-4338-9A4B-A51E616A86CD}"/>
              </a:ext>
            </a:extLst>
          </p:cNvPr>
          <p:cNvSpPr>
            <a:spLocks xmlns:a="http://schemas.openxmlformats.org/drawingml/2006/main" noGrp="1"/>
          </p:cNvSpPr>
          <p:nvPr/>
        </p:nvSpPr>
        <p:spPr>
          <a:xfrm xmlns:a="http://schemas.openxmlformats.org/drawingml/2006/main">
            <a:off x="3504786" y="3779130"/>
            <a:ext cx="4362864" cy="1999646"/>
          </a:xfrm>
          <a:custGeom xmlns:a="http://schemas.openxmlformats.org/drawingml/2006/main">
            <a:pathLst>
              <a:path w="4362864" h="1999646">
                <a:moveTo>
                  <a:pt x="4362864" y="0"/>
                </a:moveTo>
                <a:lnTo>
                  <a:pt x="0" y="1999646"/>
                </a:lnTo>
              </a:path>
            </a:pathLst>
          </a:custGeom>
          <a:noFill xmlns:a="http://schemas.openxmlformats.org/drawingml/2006/main"/>
          <a:ln xmlns:a="http://schemas.openxmlformats.org/drawingml/2006/main" w="15240">
            <a:solidFill>
              <a:srgbClr val="A87819">
                <a:alpha val="70000"/>
              </a:srgbClr>
            </a:solidFill>
            <a:prstDash val="dash"/>
          </a:ln>
        </p:spPr>
      </p:sp>
      <p:sp>
        <p:nvSpPr>
          <p:cNvPr id="17" name="">
            <a:extLst xmlns:a="http://schemas.openxmlformats.org/drawingml/2006/main">
              <a:ext uri="{FF2B5EF4-FFF2-40B4-BE49-F238E27FC236}">
                <a16:creationId xmlns:a16="http://schemas.microsoft.com/office/drawing/2014/main" id="{4B4C7687-CE8F-42E8-B5CF-B654730FA442}"/>
              </a:ext>
            </a:extLst>
          </p:cNvPr>
          <p:cNvSpPr>
            <a:spLocks xmlns:a="http://schemas.openxmlformats.org/drawingml/2006/main" noGrp="1"/>
          </p:cNvSpPr>
          <p:nvPr/>
        </p:nvSpPr>
        <p:spPr>
          <a:xfrm xmlns:a="http://schemas.openxmlformats.org/drawingml/2006/main">
            <a:off x="5272078" y="1314450"/>
            <a:ext cx="1447890" cy="4464326"/>
          </a:xfrm>
          <a:custGeom xmlns:a="http://schemas.openxmlformats.org/drawingml/2006/main">
            <a:pathLst>
              <a:path w="1447890" h="4464326">
                <a:moveTo>
                  <a:pt x="0" y="4464326"/>
                </a:moveTo>
                <a:lnTo>
                  <a:pt x="1447890" y="0"/>
                </a:lnTo>
              </a:path>
            </a:pathLst>
          </a:custGeom>
          <a:noFill xmlns:a="http://schemas.openxmlformats.org/drawingml/2006/main"/>
          <a:ln xmlns:a="http://schemas.openxmlformats.org/drawingml/2006/main" w="15240">
            <a:solidFill>
              <a:srgbClr val="A87819">
                <a:alpha val="70000"/>
              </a:srgbClr>
            </a:solidFill>
            <a:prstDash val="dash"/>
          </a:ln>
        </p:spPr>
      </p:sp>
      <p:sp>
        <p:nvSpPr>
          <p:cNvPr id="18" name="">
            <a:extLst xmlns:a="http://schemas.openxmlformats.org/drawingml/2006/main">
              <a:ext uri="{FF2B5EF4-FFF2-40B4-BE49-F238E27FC236}">
                <a16:creationId xmlns:a16="http://schemas.microsoft.com/office/drawing/2014/main" id="{CF83849A-7B29-4301-A1C5-B27D6B050086}"/>
              </a:ext>
            </a:extLst>
          </p:cNvPr>
          <p:cNvSpPr>
            <a:spLocks xmlns:a="http://schemas.openxmlformats.org/drawingml/2006/main" noGrp="1"/>
          </p:cNvSpPr>
          <p:nvPr/>
        </p:nvSpPr>
        <p:spPr>
          <a:xfrm xmlns:a="http://schemas.openxmlformats.org/drawingml/2006/main">
            <a:off x="925537" y="1314450"/>
            <a:ext cx="1447890" cy="4464326"/>
          </a:xfrm>
          <a:custGeom xmlns:a="http://schemas.openxmlformats.org/drawingml/2006/main">
            <a:pathLst>
              <a:path w="1447890" h="4464326">
                <a:moveTo>
                  <a:pt x="0" y="4464326"/>
                </a:moveTo>
                <a:lnTo>
                  <a:pt x="1447890" y="0"/>
                </a:lnTo>
              </a:path>
            </a:pathLst>
          </a:custGeom>
          <a:noFill xmlns:a="http://schemas.openxmlformats.org/drawingml/2006/main"/>
          <a:ln xmlns:a="http://schemas.openxmlformats.org/drawingml/2006/main" w="15240">
            <a:solidFill>
              <a:srgbClr val="A87819">
                <a:alpha val="70000"/>
              </a:srgbClr>
            </a:solidFill>
            <a:prstDash val="dash"/>
          </a:ln>
        </p:spPr>
      </p:sp>
      <p:sp>
        <p:nvSpPr>
          <p:cNvPr id="19" name="">
            <a:extLst xmlns:a="http://schemas.openxmlformats.org/drawingml/2006/main">
              <a:ext uri="{FF2B5EF4-FFF2-40B4-BE49-F238E27FC236}">
                <a16:creationId xmlns:a16="http://schemas.microsoft.com/office/drawing/2014/main" id="{F7FDAD22-2639-468F-9DF2-75631032E1E8}"/>
              </a:ext>
            </a:extLst>
          </p:cNvPr>
          <p:cNvSpPr>
            <a:spLocks xmlns:a="http://schemas.openxmlformats.org/drawingml/2006/main" noGrp="1"/>
          </p:cNvSpPr>
          <p:nvPr/>
        </p:nvSpPr>
        <p:spPr>
          <a:xfrm xmlns:a="http://schemas.openxmlformats.org/drawingml/2006/main">
            <a:off x="3967497" y="1314450"/>
            <a:ext cx="2060458" cy="4464326"/>
          </a:xfrm>
          <a:custGeom xmlns:a="http://schemas.openxmlformats.org/drawingml/2006/main">
            <a:pathLst>
              <a:path w="2060458" h="4464326">
                <a:moveTo>
                  <a:pt x="2060458" y="4464326"/>
                </a:moveTo>
                <a:lnTo>
                  <a:pt x="0" y="0"/>
                </a:lnTo>
              </a:path>
            </a:pathLst>
          </a:custGeom>
          <a:noFill xmlns:a="http://schemas.openxmlformats.org/drawingml/2006/main"/>
          <a:ln xmlns:a="http://schemas.openxmlformats.org/drawingml/2006/main" w="15240">
            <a:solidFill>
              <a:srgbClr val="A87819">
                <a:alpha val="70000"/>
              </a:srgbClr>
            </a:solidFill>
            <a:prstDash val="dash"/>
          </a:ln>
        </p:spPr>
      </p:sp>
      <p:sp>
        <p:nvSpPr>
          <p:cNvPr id="20" name="">
            <a:extLst xmlns:a="http://schemas.openxmlformats.org/drawingml/2006/main">
              <a:ext uri="{FF2B5EF4-FFF2-40B4-BE49-F238E27FC236}">
                <a16:creationId xmlns:a16="http://schemas.microsoft.com/office/drawing/2014/main" id="{72677285-98D7-42D6-B7DE-22949A362E6D}"/>
              </a:ext>
            </a:extLst>
          </p:cNvPr>
          <p:cNvSpPr>
            <a:spLocks xmlns:a="http://schemas.openxmlformats.org/drawingml/2006/main" noGrp="1"/>
          </p:cNvSpPr>
          <p:nvPr/>
        </p:nvSpPr>
        <p:spPr>
          <a:xfrm xmlns:a="http://schemas.openxmlformats.org/drawingml/2006/main">
            <a:off x="615164" y="1314450"/>
            <a:ext cx="2060458" cy="4464326"/>
          </a:xfrm>
          <a:custGeom xmlns:a="http://schemas.openxmlformats.org/drawingml/2006/main">
            <a:pathLst>
              <a:path w="2060458" h="4464326">
                <a:moveTo>
                  <a:pt x="2060458" y="4464326"/>
                </a:moveTo>
                <a:lnTo>
                  <a:pt x="0" y="0"/>
                </a:lnTo>
              </a:path>
            </a:pathLst>
          </a:custGeom>
          <a:noFill xmlns:a="http://schemas.openxmlformats.org/drawingml/2006/main"/>
          <a:ln xmlns:a="http://schemas.openxmlformats.org/drawingml/2006/main" w="15240">
            <a:solidFill>
              <a:srgbClr val="A87819">
                <a:alpha val="70000"/>
              </a:srgbClr>
            </a:solidFill>
            <a:prstDash val="dash"/>
          </a:ln>
        </p:spPr>
      </p:sp>
      <p:sp>
        <p:nvSpPr>
          <p:cNvPr id="21" name="">
            <a:extLst xmlns:a="http://schemas.openxmlformats.org/drawingml/2006/main">
              <a:ext uri="{FF2B5EF4-FFF2-40B4-BE49-F238E27FC236}">
                <a16:creationId xmlns:a16="http://schemas.microsoft.com/office/drawing/2014/main" id="{3501D5F5-9F7D-4339-A89C-05942106932B}"/>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22" name="">
            <a:extLst xmlns:a="http://schemas.openxmlformats.org/drawingml/2006/main">
              <a:ext uri="{FF2B5EF4-FFF2-40B4-BE49-F238E27FC236}">
                <a16:creationId xmlns:a16="http://schemas.microsoft.com/office/drawing/2014/main" id="{6FD71BF5-00A0-42AB-9645-704955DF0BB7}"/>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3" name="">
            <a:extLst xmlns:a="http://schemas.openxmlformats.org/drawingml/2006/main">
              <a:ext uri="{FF2B5EF4-FFF2-40B4-BE49-F238E27FC236}">
                <a16:creationId xmlns:a16="http://schemas.microsoft.com/office/drawing/2014/main" id="{78937FD8-89FC-4CED-8DDD-6C4B736E7533}"/>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24" name="">
            <a:extLst xmlns:a="http://schemas.openxmlformats.org/drawingml/2006/main">
              <a:ext uri="{FF2B5EF4-FFF2-40B4-BE49-F238E27FC236}">
                <a16:creationId xmlns:a16="http://schemas.microsoft.com/office/drawing/2014/main" id="{057F518F-2625-43B2-8729-4361862FC83C}"/>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5" name="">
            <a:extLst xmlns:a="http://schemas.openxmlformats.org/drawingml/2006/main">
              <a:ext uri="{FF2B5EF4-FFF2-40B4-BE49-F238E27FC236}">
                <a16:creationId xmlns:a16="http://schemas.microsoft.com/office/drawing/2014/main" id="{A0B38B52-E495-4CDC-AA64-93F988D604B0}"/>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6" name="">
            <a:extLst xmlns:a="http://schemas.openxmlformats.org/drawingml/2006/main">
              <a:ext uri="{FF2B5EF4-FFF2-40B4-BE49-F238E27FC236}">
                <a16:creationId xmlns:a16="http://schemas.microsoft.com/office/drawing/2014/main" id="{0A19F800-4F66-4EF4-B163-1CC9ED695E59}"/>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7" name="">
            <a:extLst xmlns:a="http://schemas.openxmlformats.org/drawingml/2006/main">
              <a:ext uri="{FF2B5EF4-FFF2-40B4-BE49-F238E27FC236}">
                <a16:creationId xmlns:a16="http://schemas.microsoft.com/office/drawing/2014/main" id="{5717C509-F215-4900-ACE9-D382F29C8FF4}"/>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8" name="">
            <a:extLst xmlns:a="http://schemas.openxmlformats.org/drawingml/2006/main">
              <a:ext uri="{FF2B5EF4-FFF2-40B4-BE49-F238E27FC236}">
                <a16:creationId xmlns:a16="http://schemas.microsoft.com/office/drawing/2014/main" id="{A4FFF88C-064D-419C-A4E8-FFB8C27D7661}"/>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9" name="">
            <a:extLst xmlns:a="http://schemas.openxmlformats.org/drawingml/2006/main">
              <a:ext uri="{FF2B5EF4-FFF2-40B4-BE49-F238E27FC236}">
                <a16:creationId xmlns:a16="http://schemas.microsoft.com/office/drawing/2014/main" id="{2B5DCE49-BC18-4861-BCB0-0BA50F4B3326}"/>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30" name="">
            <a:extLst xmlns:a="http://schemas.openxmlformats.org/drawingml/2006/main">
              <a:ext uri="{FF2B5EF4-FFF2-40B4-BE49-F238E27FC236}">
                <a16:creationId xmlns:a16="http://schemas.microsoft.com/office/drawing/2014/main" id="{8BDC00DA-FC77-48CA-8900-6D4223B6B52C}"/>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31" name="">
            <a:extLst xmlns:a="http://schemas.openxmlformats.org/drawingml/2006/main">
              <a:ext uri="{FF2B5EF4-FFF2-40B4-BE49-F238E27FC236}">
                <a16:creationId xmlns:a16="http://schemas.microsoft.com/office/drawing/2014/main" id="{79E1935E-CC70-4888-BB31-4CB7B1B5E99A}"/>
              </a:ext>
            </a:extLst>
          </p:cNvPr>
          <p:cNvSpPr>
            <a:spLocks xmlns:a="http://schemas.openxmlformats.org/drawingml/2006/main" noGrp="1"/>
          </p:cNvSpPr>
          <p:nvPr/>
        </p:nvSpPr>
        <p:spPr>
          <a:xfrm xmlns:a="http://schemas.openxmlformats.org/drawingml/2006/main">
            <a:off x="8382000" y="167640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A87819"/>
                </a:solidFill>
                <a:latin typeface="Arial"/>
                <a:ea typeface="Arial"/>
                <a:cs typeface="Arial"/>
              </a:defRPr>
            </a:pPr>
            <a:r>
              <a:rPr sz="4050" b="1" i="0">
                <a:solidFill>
                  <a:srgbClr val="A87819"/>
                </a:solidFill>
                <a:latin typeface="Arial"/>
                <a:ea typeface="Arial"/>
                <a:cs typeface="Arial"/>
              </a:rPr>
              <a:t>58.4105%</a:t>
            </a:r>
          </a:p>
        </p:txBody>
      </p:sp>
      <p:sp>
        <p:nvSpPr>
          <p:cNvPr id="32" name="">
            <a:extLst xmlns:a="http://schemas.openxmlformats.org/drawingml/2006/main">
              <a:ext uri="{FF2B5EF4-FFF2-40B4-BE49-F238E27FC236}">
                <a16:creationId xmlns:a16="http://schemas.microsoft.com/office/drawing/2014/main" id="{16D6C6F6-6AD9-4055-BB3B-96D19AED0AF5}"/>
              </a:ext>
            </a:extLst>
          </p:cNvPr>
          <p:cNvSpPr>
            <a:spLocks xmlns:a="http://schemas.openxmlformats.org/drawingml/2006/main" noGrp="1"/>
          </p:cNvSpPr>
          <p:nvPr/>
        </p:nvSpPr>
        <p:spPr>
          <a:xfrm xmlns:a="http://schemas.openxmlformats.org/drawingml/2006/main">
            <a:off x="8572500" y="234315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of the hull remains</a:t>
            </a:r>
          </a:p>
        </p:txBody>
      </p:sp>
      <p:sp>
        <p:nvSpPr>
          <p:cNvPr id="33" name="">
            <a:extLst xmlns:a="http://schemas.openxmlformats.org/drawingml/2006/main">
              <a:ext uri="{FF2B5EF4-FFF2-40B4-BE49-F238E27FC236}">
                <a16:creationId xmlns:a16="http://schemas.microsoft.com/office/drawing/2014/main" id="{CC9BCA54-8942-430F-9F67-34739FDDB7A8}"/>
              </a:ext>
            </a:extLst>
          </p:cNvPr>
          <p:cNvSpPr>
            <a:spLocks xmlns:a="http://schemas.openxmlformats.org/drawingml/2006/main" noGrp="1"/>
          </p:cNvSpPr>
          <p:nvPr/>
        </p:nvSpPr>
        <p:spPr>
          <a:xfrm xmlns:a="http://schemas.openxmlformats.org/drawingml/2006/main">
            <a:off x="8334375" y="3314700"/>
            <a:ext cx="76200" cy="76200"/>
          </a:xfrm>
          <a:prstGeom xmlns:a="http://schemas.openxmlformats.org/drawingml/2006/main" prst="ellipse">
            <a:avLst/>
          </a:prstGeom>
          <a:solidFill xmlns:a="http://schemas.openxmlformats.org/drawingml/2006/main">
            <a:srgbClr val="A87819"/>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7515512-F76C-4411-A6EC-A00A1A2B8415}"/>
              </a:ext>
            </a:extLst>
          </p:cNvPr>
          <p:cNvSpPr>
            <a:spLocks xmlns:a="http://schemas.openxmlformats.org/drawingml/2006/main" noGrp="1"/>
          </p:cNvSpPr>
          <p:nvPr/>
        </p:nvSpPr>
        <p:spPr>
          <a:xfrm xmlns:a="http://schemas.openxmlformats.org/drawingml/2006/main">
            <a:off x="8524875" y="32385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A87819"/>
                </a:solidFill>
                <a:latin typeface="Arial"/>
                <a:ea typeface="Arial"/>
                <a:cs typeface="Arial"/>
              </a:defRPr>
            </a:pPr>
            <a:r>
              <a:rPr sz="1425" b="1" i="0">
                <a:solidFill>
                  <a:srgbClr val="A87819"/>
                </a:solidFill>
                <a:latin typeface="Arial"/>
                <a:ea typeface="Arial"/>
                <a:cs typeface="Arial"/>
              </a:rPr>
              <a:t>9 vertices</a:t>
            </a:r>
          </a:p>
        </p:txBody>
      </p:sp>
      <p:sp>
        <p:nvSpPr>
          <p:cNvPr id="35" name="">
            <a:extLst xmlns:a="http://schemas.openxmlformats.org/drawingml/2006/main">
              <a:ext uri="{FF2B5EF4-FFF2-40B4-BE49-F238E27FC236}">
                <a16:creationId xmlns:a16="http://schemas.microsoft.com/office/drawing/2014/main" id="{908186A9-465A-46E2-8BB7-54D0D0B1EB09}"/>
              </a:ext>
            </a:extLst>
          </p:cNvPr>
          <p:cNvSpPr>
            <a:spLocks xmlns:a="http://schemas.openxmlformats.org/drawingml/2006/main" noGrp="1"/>
          </p:cNvSpPr>
          <p:nvPr/>
        </p:nvSpPr>
        <p:spPr>
          <a:xfrm xmlns:a="http://schemas.openxmlformats.org/drawingml/2006/main">
            <a:off x="8524875" y="34956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36475"/>
                </a:solidFill>
                <a:latin typeface="Arial"/>
                <a:ea typeface="Arial"/>
                <a:cs typeface="Arial"/>
              </a:defRPr>
            </a:pPr>
            <a:r>
              <a:rPr sz="1275" b="0" i="0">
                <a:solidFill>
                  <a:srgbClr val="536475"/>
                </a:solidFill>
                <a:latin typeface="Arial"/>
                <a:ea typeface="Arial"/>
                <a:cs typeface="Arial"/>
              </a:rPr>
              <a:t>Area 73.59722 out of 126</a:t>
            </a:r>
          </a:p>
        </p:txBody>
      </p:sp>
      <p:sp>
        <p:nvSpPr>
          <p:cNvPr id="36" name="">
            <a:extLst xmlns:a="http://schemas.openxmlformats.org/drawingml/2006/main">
              <a:ext uri="{FF2B5EF4-FFF2-40B4-BE49-F238E27FC236}">
                <a16:creationId xmlns:a16="http://schemas.microsoft.com/office/drawing/2014/main" id="{F2AD81CB-273D-410E-96DA-6166193FAAF3}"/>
              </a:ext>
            </a:extLst>
          </p:cNvPr>
          <p:cNvSpPr>
            <a:spLocks xmlns:a="http://schemas.openxmlformats.org/drawingml/2006/main" noGrp="1"/>
          </p:cNvSpPr>
          <p:nvPr/>
        </p:nvSpPr>
        <p:spPr>
          <a:xfrm xmlns:a="http://schemas.openxmlformats.org/drawingml/2006/main">
            <a:off x="8334375" y="4410075"/>
            <a:ext cx="76200" cy="76200"/>
          </a:xfrm>
          <a:prstGeom xmlns:a="http://schemas.openxmlformats.org/drawingml/2006/main" prst="ellipse">
            <a:avLst/>
          </a:prstGeom>
          <a:solidFill xmlns:a="http://schemas.openxmlformats.org/drawingml/2006/main">
            <a:srgbClr val="A87819"/>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027C87E-3560-4414-8EC5-EDCA62E3DCFB}"/>
              </a:ext>
            </a:extLst>
          </p:cNvPr>
          <p:cNvSpPr>
            <a:spLocks xmlns:a="http://schemas.openxmlformats.org/drawingml/2006/main" noGrp="1"/>
          </p:cNvSpPr>
          <p:nvPr/>
        </p:nvSpPr>
        <p:spPr>
          <a:xfrm xmlns:a="http://schemas.openxmlformats.org/drawingml/2006/main">
            <a:off x="8524875" y="43338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A87819"/>
                </a:solidFill>
                <a:latin typeface="Arial"/>
                <a:ea typeface="Arial"/>
                <a:cs typeface="Arial"/>
              </a:defRPr>
            </a:pPr>
            <a:r>
              <a:rPr sz="1425" b="1" i="0">
                <a:solidFill>
                  <a:srgbClr val="A87819"/>
                </a:solidFill>
                <a:latin typeface="Arial"/>
                <a:ea typeface="Arial"/>
                <a:cs typeface="Arial"/>
              </a:rPr>
              <a:t>41.5895% removed</a:t>
            </a:r>
          </a:p>
        </p:txBody>
      </p:sp>
      <p:sp>
        <p:nvSpPr>
          <p:cNvPr id="38" name="">
            <a:extLst xmlns:a="http://schemas.openxmlformats.org/drawingml/2006/main">
              <a:ext uri="{FF2B5EF4-FFF2-40B4-BE49-F238E27FC236}">
                <a16:creationId xmlns:a16="http://schemas.microsoft.com/office/drawing/2014/main" id="{4FB79F1B-77AB-41FA-BC79-096BFABF870D}"/>
              </a:ext>
            </a:extLst>
          </p:cNvPr>
          <p:cNvSpPr>
            <a:spLocks xmlns:a="http://schemas.openxmlformats.org/drawingml/2006/main" noGrp="1"/>
          </p:cNvSpPr>
          <p:nvPr/>
        </p:nvSpPr>
        <p:spPr>
          <a:xfrm xmlns:a="http://schemas.openxmlformats.org/drawingml/2006/main">
            <a:off x="8524875" y="45910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36475"/>
                </a:solidFill>
                <a:latin typeface="Arial"/>
                <a:ea typeface="Arial"/>
                <a:cs typeface="Arial"/>
              </a:defRPr>
            </a:pPr>
            <a:r>
              <a:rPr sz="1275" b="0" i="0">
                <a:solidFill>
                  <a:srgbClr val="536475"/>
                </a:solidFill>
                <a:latin typeface="Arial"/>
                <a:ea typeface="Arial"/>
                <a:cs typeface="Arial"/>
              </a:rPr>
              <a:t>A rigorous chest from parallel motion only</a:t>
            </a:r>
          </a:p>
        </p:txBody>
      </p:sp>
      <p:sp>
        <p:nvSpPr>
          <p:cNvPr id="39" name="">
            <a:extLst xmlns:a="http://schemas.openxmlformats.org/drawingml/2006/main">
              <a:ext uri="{FF2B5EF4-FFF2-40B4-BE49-F238E27FC236}">
                <a16:creationId xmlns:a16="http://schemas.microsoft.com/office/drawing/2014/main" id="{21245A3D-F6BD-43EC-A662-3293FD9B32D8}"/>
              </a:ext>
            </a:extLst>
          </p:cNvPr>
          <p:cNvSpPr>
            <a:spLocks xmlns:a="http://schemas.openxmlformats.org/drawingml/2006/main" noGrp="1"/>
          </p:cNvSpPr>
          <p:nvPr/>
        </p:nvSpPr>
        <p:spPr>
          <a:xfrm xmlns:a="http://schemas.openxmlformats.org/drawingml/2006/main">
            <a:off x="8382000" y="563880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243849"/>
                </a:solidFill>
                <a:latin typeface="Arial"/>
                <a:ea typeface="Arial"/>
                <a:cs typeface="Arial"/>
              </a:defRPr>
            </a:pPr>
            <a:r>
              <a:rPr sz="1500" b="0" i="0">
                <a:solidFill>
                  <a:srgbClr val="243849"/>
                </a:solidFill>
                <a:latin typeface="Arial"/>
                <a:ea typeface="Arial"/>
                <a:cs typeface="Arial"/>
              </a:rPr>
              <a:t>This is the basic four-point chest.</a:t>
            </a:r>
          </a:p>
        </p:txBody>
      </p:sp>
      <p:sp>
        <p:nvSpPr>
          <p:cNvPr id="40" name="">
            <a:extLst xmlns:a="http://schemas.openxmlformats.org/drawingml/2006/main">
              <a:ext uri="{FF2B5EF4-FFF2-40B4-BE49-F238E27FC236}">
                <a16:creationId xmlns:a16="http://schemas.microsoft.com/office/drawing/2014/main" id="{51CFD828-A0F5-4513-9E43-801610D439D4}"/>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28</a:t>
            </a:r>
          </a:p>
        </p:txBody>
      </p:sp>
    </p:spTree>
    <p:extLst>
      <p:ext uri="{BB962C8B-B14F-4D97-AF65-F5344CB8AC3E}">
        <p14:creationId xmlns:p14="http://schemas.microsoft.com/office/powerpoint/2010/main" val="2003669447"/>
      </p:ext>
    </p:extLst>
  </p:cSld>
  <p:transition spd="slow" advClick="1">
    <p:fade/>
  </p:transition>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B6A6D69-17B5-495C-82BB-9DF1ADB47AB2}"/>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A useful perpendicular bisector gives a half-plane</a:t>
            </a:r>
          </a:p>
        </p:txBody>
      </p:sp>
      <p:sp>
        <p:nvSpPr>
          <p:cNvPr id="2" name="">
            <a:extLst xmlns:a="http://schemas.openxmlformats.org/drawingml/2006/main">
              <a:ext uri="{FF2B5EF4-FFF2-40B4-BE49-F238E27FC236}">
                <a16:creationId xmlns:a16="http://schemas.microsoft.com/office/drawing/2014/main" id="{7951DEB0-0003-4844-998D-7583FE9205F9}"/>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For pair A,B, both remaining points lie on the same side of x = 10.5</a:t>
            </a:r>
          </a:p>
        </p:txBody>
      </p:sp>
      <p:sp>
        <p:nvSpPr>
          <p:cNvPr id="3" name="">
            <a:extLst xmlns:a="http://schemas.openxmlformats.org/drawingml/2006/main">
              <a:ext uri="{FF2B5EF4-FFF2-40B4-BE49-F238E27FC236}">
                <a16:creationId xmlns:a16="http://schemas.microsoft.com/office/drawing/2014/main" id="{F8F35E64-3A39-4611-9DB8-E07C2B356A47}"/>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E09E1A65-659F-42A1-B1F9-DCC84E5CFC1A}"/>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D6EA0D21-E44C-48A8-A73F-9AA3B90039AF}"/>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C93A0525-B60D-4213-936C-6505B2A11E60}"/>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547BF1A2-5AAE-40E4-B160-4E02B85BB55D}"/>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865BC463-2888-4FFD-8D5A-DE155E45E03A}"/>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DF0D9F7F-39F6-42DD-8171-EA0AED1DFBE6}"/>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AE825075-8302-402F-83B7-33AB1BFA4EAD}"/>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23BA54AB-BFD0-4735-AB64-82A5A29E754A}"/>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5F78D1EB-2F63-442C-B491-6819809B26F0}"/>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CA1D50F4-C3D4-43D8-B7FE-3BE5E88AEAFB}"/>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335E7419-46DA-4841-9B69-34B70109DB7F}"/>
              </a:ext>
            </a:extLst>
          </p:cNvPr>
          <p:cNvSpPr>
            <a:spLocks xmlns:a="http://schemas.openxmlformats.org/drawingml/2006/main" noGrp="1"/>
          </p:cNvSpPr>
          <p:nvPr/>
        </p:nvSpPr>
        <p:spPr>
          <a:xfrm xmlns:a="http://schemas.openxmlformats.org/drawingml/2006/main">
            <a:off x="533400" y="1314450"/>
            <a:ext cx="3667125" cy="4464326"/>
          </a:xfrm>
          <a:custGeom xmlns:a="http://schemas.openxmlformats.org/drawingml/2006/main">
            <a:pathLst>
              <a:path w="3667125" h="4464326">
                <a:moveTo>
                  <a:pt x="0" y="4464326"/>
                </a:moveTo>
                <a:lnTo>
                  <a:pt x="3667125" y="4464326"/>
                </a:lnTo>
                <a:lnTo>
                  <a:pt x="3667125" y="0"/>
                </a:lnTo>
                <a:lnTo>
                  <a:pt x="0" y="0"/>
                </a:lnTo>
                <a:close/>
              </a:path>
            </a:pathLst>
          </a:custGeom>
          <a:solidFill xmlns:a="http://schemas.openxmlformats.org/drawingml/2006/main">
            <a:srgbClr val="8E569C">
              <a:alpha val="20000"/>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8B2E0FA-CF44-4450-A7C4-86BA1A1C54EF}"/>
              </a:ext>
            </a:extLst>
          </p:cNvPr>
          <p:cNvSpPr>
            <a:spLocks xmlns:a="http://schemas.openxmlformats.org/drawingml/2006/main" noGrp="1"/>
          </p:cNvSpPr>
          <p:nvPr/>
        </p:nvSpPr>
        <p:spPr>
          <a:xfrm xmlns:a="http://schemas.openxmlformats.org/drawingml/2006/main">
            <a:off x="420052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28575">
            <a:solidFill>
              <a:srgbClr val="8E569C"/>
            </a:solidFill>
            <a:prstDash val="dash"/>
          </a:ln>
        </p:spPr>
      </p:sp>
      <p:sp>
        <p:nvSpPr>
          <p:cNvPr id="16" name="">
            <a:extLst xmlns:a="http://schemas.openxmlformats.org/drawingml/2006/main">
              <a:ext uri="{FF2B5EF4-FFF2-40B4-BE49-F238E27FC236}">
                <a16:creationId xmlns:a16="http://schemas.microsoft.com/office/drawing/2014/main" id="{B70FF654-0B88-4696-86F2-CA789211CB86}"/>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7" name="">
            <a:extLst xmlns:a="http://schemas.openxmlformats.org/drawingml/2006/main">
              <a:ext uri="{FF2B5EF4-FFF2-40B4-BE49-F238E27FC236}">
                <a16:creationId xmlns:a16="http://schemas.microsoft.com/office/drawing/2014/main" id="{1BDDD0A8-F283-469D-8AB0-8D44D55FBB66}"/>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39385FFA-1F48-496C-919D-DC5C80EE50CE}"/>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9" name="">
            <a:extLst xmlns:a="http://schemas.openxmlformats.org/drawingml/2006/main">
              <a:ext uri="{FF2B5EF4-FFF2-40B4-BE49-F238E27FC236}">
                <a16:creationId xmlns:a16="http://schemas.microsoft.com/office/drawing/2014/main" id="{7ED97374-1E39-4D0F-8499-F385CE1982D6}"/>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23650402-6FD9-4B12-AA37-CB07CC9127CC}"/>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1" name="">
            <a:extLst xmlns:a="http://schemas.openxmlformats.org/drawingml/2006/main">
              <a:ext uri="{FF2B5EF4-FFF2-40B4-BE49-F238E27FC236}">
                <a16:creationId xmlns:a16="http://schemas.microsoft.com/office/drawing/2014/main" id="{63730E3F-79E2-4037-BCF8-EE578C62776B}"/>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B3162E97-5779-40AC-BE52-59C647CAA593}"/>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3" name="">
            <a:extLst xmlns:a="http://schemas.openxmlformats.org/drawingml/2006/main">
              <a:ext uri="{FF2B5EF4-FFF2-40B4-BE49-F238E27FC236}">
                <a16:creationId xmlns:a16="http://schemas.microsoft.com/office/drawing/2014/main" id="{63CED3EF-561B-483A-9BFB-BA5F10879ADE}"/>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4" name="">
            <a:extLst xmlns:a="http://schemas.openxmlformats.org/drawingml/2006/main">
              <a:ext uri="{FF2B5EF4-FFF2-40B4-BE49-F238E27FC236}">
                <a16:creationId xmlns:a16="http://schemas.microsoft.com/office/drawing/2014/main" id="{7B3C3EBB-F380-4074-99E3-9518D805A0C3}"/>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5" name="">
            <a:extLst xmlns:a="http://schemas.openxmlformats.org/drawingml/2006/main">
              <a:ext uri="{FF2B5EF4-FFF2-40B4-BE49-F238E27FC236}">
                <a16:creationId xmlns:a16="http://schemas.microsoft.com/office/drawing/2014/main" id="{7F9AEB73-F15D-4558-819E-2643524AD7B9}"/>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6" name="">
            <a:extLst xmlns:a="http://schemas.openxmlformats.org/drawingml/2006/main">
              <a:ext uri="{FF2B5EF4-FFF2-40B4-BE49-F238E27FC236}">
                <a16:creationId xmlns:a16="http://schemas.microsoft.com/office/drawing/2014/main" id="{DDCF777E-D4F2-4994-9A25-B84A43D41FAD}"/>
              </a:ext>
            </a:extLst>
          </p:cNvPr>
          <p:cNvSpPr>
            <a:spLocks xmlns:a="http://schemas.openxmlformats.org/drawingml/2006/main" noGrp="1"/>
          </p:cNvSpPr>
          <p:nvPr/>
        </p:nvSpPr>
        <p:spPr>
          <a:xfrm xmlns:a="http://schemas.openxmlformats.org/drawingml/2006/main">
            <a:off x="2446683" y="1633330"/>
            <a:ext cx="1753842" cy="9525"/>
          </a:xfrm>
          <a:custGeom xmlns:a="http://schemas.openxmlformats.org/drawingml/2006/main">
            <a:pathLst>
              <a:path w="1753842" h="9525">
                <a:moveTo>
                  <a:pt x="1753842" y="0"/>
                </a:moveTo>
                <a:lnTo>
                  <a:pt x="0" y="0"/>
                </a:lnTo>
              </a:path>
            </a:pathLst>
          </a:custGeom>
          <a:noFill xmlns:a="http://schemas.openxmlformats.org/drawingml/2006/main"/>
          <a:ln xmlns:a="http://schemas.openxmlformats.org/drawingml/2006/main" w="20955">
            <a:solidFill>
              <a:srgbClr val="8E569C">
                <a:alpha val="70000"/>
              </a:srgbClr>
            </a:solidFill>
            <a:prstDash val="dot"/>
          </a:ln>
        </p:spPr>
      </p:sp>
      <p:sp>
        <p:nvSpPr>
          <p:cNvPr id="27" name="">
            <a:extLst xmlns:a="http://schemas.openxmlformats.org/drawingml/2006/main">
              <a:ext uri="{FF2B5EF4-FFF2-40B4-BE49-F238E27FC236}">
                <a16:creationId xmlns:a16="http://schemas.microsoft.com/office/drawing/2014/main" id="{59CC36A1-C60F-40A4-9845-D267BABD2BF4}"/>
              </a:ext>
            </a:extLst>
          </p:cNvPr>
          <p:cNvSpPr>
            <a:spLocks xmlns:a="http://schemas.openxmlformats.org/drawingml/2006/main" noGrp="1"/>
          </p:cNvSpPr>
          <p:nvPr/>
        </p:nvSpPr>
        <p:spPr>
          <a:xfrm xmlns:a="http://schemas.openxmlformats.org/drawingml/2006/main">
            <a:off x="3615911" y="4184374"/>
            <a:ext cx="584614" cy="9525"/>
          </a:xfrm>
          <a:custGeom xmlns:a="http://schemas.openxmlformats.org/drawingml/2006/main">
            <a:pathLst>
              <a:path w="584614" h="9525">
                <a:moveTo>
                  <a:pt x="584614" y="0"/>
                </a:moveTo>
                <a:lnTo>
                  <a:pt x="0" y="0"/>
                </a:lnTo>
              </a:path>
            </a:pathLst>
          </a:custGeom>
          <a:noFill xmlns:a="http://schemas.openxmlformats.org/drawingml/2006/main"/>
          <a:ln xmlns:a="http://schemas.openxmlformats.org/drawingml/2006/main" w="20955">
            <a:solidFill>
              <a:srgbClr val="8E569C">
                <a:alpha val="70000"/>
              </a:srgbClr>
            </a:solidFill>
            <a:prstDash val="dot"/>
          </a:ln>
        </p:spPr>
      </p:sp>
      <p:sp>
        <p:nvSpPr>
          <p:cNvPr id="28" name="">
            <a:extLst xmlns:a="http://schemas.openxmlformats.org/drawingml/2006/main">
              <a:ext uri="{FF2B5EF4-FFF2-40B4-BE49-F238E27FC236}">
                <a16:creationId xmlns:a16="http://schemas.microsoft.com/office/drawing/2014/main" id="{8BBDF466-51E6-4F94-8ABB-B9E62CB480F2}"/>
              </a:ext>
            </a:extLst>
          </p:cNvPr>
          <p:cNvSpPr>
            <a:spLocks xmlns:a="http://schemas.openxmlformats.org/drawingml/2006/main" noGrp="1"/>
          </p:cNvSpPr>
          <p:nvPr/>
        </p:nvSpPr>
        <p:spPr>
          <a:xfrm xmlns:a="http://schemas.openxmlformats.org/drawingml/2006/main">
            <a:off x="8191500" y="1571625"/>
            <a:ext cx="3381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Project C and D onto the bisector. Reflection swaps A and B and fixes the projections, so the predecessor center lies on x = 10.5.</a:t>
            </a:r>
          </a:p>
        </p:txBody>
      </p:sp>
      <p:sp>
        <p:nvSpPr>
          <p:cNvPr id="29" name="">
            <a:extLst xmlns:a="http://schemas.openxmlformats.org/drawingml/2006/main">
              <a:ext uri="{FF2B5EF4-FFF2-40B4-BE49-F238E27FC236}">
                <a16:creationId xmlns:a16="http://schemas.microsoft.com/office/drawing/2014/main" id="{5952CCDE-917B-4B9B-985C-2875B72D53BC}"/>
              </a:ext>
            </a:extLst>
          </p:cNvPr>
          <p:cNvSpPr>
            <a:spLocks xmlns:a="http://schemas.openxmlformats.org/drawingml/2006/main" noGrp="1"/>
          </p:cNvSpPr>
          <p:nvPr/>
        </p:nvSpPr>
        <p:spPr>
          <a:xfrm xmlns:a="http://schemas.openxmlformats.org/drawingml/2006/main">
            <a:off x="8239125" y="323850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536475"/>
                </a:solidFill>
                <a:latin typeface="Arial"/>
                <a:ea typeface="Arial"/>
                <a:cs typeface="Arial"/>
              </a:defRPr>
            </a:pPr>
            <a:r>
              <a:rPr sz="1500" b="0" i="0">
                <a:solidFill>
                  <a:srgbClr val="536475"/>
                </a:solidFill>
                <a:latin typeface="Arial"/>
                <a:ea typeface="Arial"/>
                <a:cs typeface="Arial"/>
              </a:rPr>
              <a:t>Restoring C and D uses parallel leftward motions.</a:t>
            </a:r>
          </a:p>
        </p:txBody>
      </p:sp>
      <p:sp>
        <p:nvSpPr>
          <p:cNvPr id="30" name="">
            <a:extLst xmlns:a="http://schemas.openxmlformats.org/drawingml/2006/main">
              <a:ext uri="{FF2B5EF4-FFF2-40B4-BE49-F238E27FC236}">
                <a16:creationId xmlns:a16="http://schemas.microsoft.com/office/drawing/2014/main" id="{848863D9-17C6-4532-8F43-454CBACB405D}"/>
              </a:ext>
            </a:extLst>
          </p:cNvPr>
          <p:cNvSpPr>
            <a:spLocks xmlns:a="http://schemas.openxmlformats.org/drawingml/2006/main" noGrp="1"/>
          </p:cNvSpPr>
          <p:nvPr/>
        </p:nvSpPr>
        <p:spPr>
          <a:xfrm xmlns:a="http://schemas.openxmlformats.org/drawingml/2006/main">
            <a:off x="8572500" y="433387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300" b="1" i="0">
                <a:solidFill>
                  <a:srgbClr val="8E569C"/>
                </a:solidFill>
                <a:latin typeface="Arial"/>
                <a:ea typeface="Arial"/>
                <a:cs typeface="Arial"/>
              </a:defRPr>
            </a:pPr>
            <a:r>
              <a:rPr sz="3300" b="1" i="0">
                <a:solidFill>
                  <a:srgbClr val="8E569C"/>
                </a:solidFill>
                <a:latin typeface="Arial"/>
                <a:ea typeface="Arial"/>
                <a:cs typeface="Arial"/>
              </a:rPr>
              <a:t>x ≤ 10.5</a:t>
            </a:r>
          </a:p>
        </p:txBody>
      </p:sp>
      <p:sp>
        <p:nvSpPr>
          <p:cNvPr id="31" name="">
            <a:extLst xmlns:a="http://schemas.openxmlformats.org/drawingml/2006/main">
              <a:ext uri="{FF2B5EF4-FFF2-40B4-BE49-F238E27FC236}">
                <a16:creationId xmlns:a16="http://schemas.microsoft.com/office/drawing/2014/main" id="{D6DCF44A-D8E3-470D-9F71-0FBBAF88CEC5}"/>
              </a:ext>
            </a:extLst>
          </p:cNvPr>
          <p:cNvSpPr>
            <a:spLocks xmlns:a="http://schemas.openxmlformats.org/drawingml/2006/main" noGrp="1"/>
          </p:cNvSpPr>
          <p:nvPr/>
        </p:nvSpPr>
        <p:spPr>
          <a:xfrm xmlns:a="http://schemas.openxmlformats.org/drawingml/2006/main">
            <a:off x="8429625" y="53340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243849"/>
                </a:solidFill>
                <a:latin typeface="Arial"/>
                <a:ea typeface="Arial"/>
                <a:cs typeface="Arial"/>
              </a:defRPr>
            </a:pPr>
            <a:r>
              <a:rPr sz="1500" b="0" i="0">
                <a:solidFill>
                  <a:srgbClr val="243849"/>
                </a:solidFill>
                <a:latin typeface="Arial"/>
                <a:ea typeface="Arial"/>
                <a:cs typeface="Arial"/>
              </a:rPr>
              <a:t>This inequality cuts the gold chest.</a:t>
            </a:r>
          </a:p>
        </p:txBody>
      </p:sp>
      <p:sp>
        <p:nvSpPr>
          <p:cNvPr id="32" name="">
            <a:extLst xmlns:a="http://schemas.openxmlformats.org/drawingml/2006/main">
              <a:ext uri="{FF2B5EF4-FFF2-40B4-BE49-F238E27FC236}">
                <a16:creationId xmlns:a16="http://schemas.microsoft.com/office/drawing/2014/main" id="{BE2AC844-EF87-4D3C-A0E0-AE641970AF5F}"/>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29</a:t>
            </a:r>
          </a:p>
        </p:txBody>
      </p:sp>
    </p:spTree>
    <p:extLst>
      <p:ext uri="{BB962C8B-B14F-4D97-AF65-F5344CB8AC3E}">
        <p14:creationId xmlns:p14="http://schemas.microsoft.com/office/powerpoint/2010/main" val="1294640871"/>
      </p:ext>
    </p:extLst>
  </p:cSld>
  <p:transition spd="slow" advClick="1">
    <p:fade/>
  </p:transition>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9C33CA2-E15A-4576-AAEE-08B3BE2D6FC3}"/>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Six useful pairs refine the chest</a:t>
            </a:r>
          </a:p>
        </p:txBody>
      </p:sp>
      <p:sp>
        <p:nvSpPr>
          <p:cNvPr id="2" name="">
            <a:extLst xmlns:a="http://schemas.openxmlformats.org/drawingml/2006/main">
              <a:ext uri="{FF2B5EF4-FFF2-40B4-BE49-F238E27FC236}">
                <a16:creationId xmlns:a16="http://schemas.microsoft.com/office/drawing/2014/main" id="{28095290-B8CF-4CDD-BC0A-ACB09F307808}"/>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Three bisector inequalities are independent of the parallelogram strips</a:t>
            </a:r>
          </a:p>
        </p:txBody>
      </p:sp>
      <p:sp>
        <p:nvSpPr>
          <p:cNvPr id="3" name="">
            <a:extLst xmlns:a="http://schemas.openxmlformats.org/drawingml/2006/main">
              <a:ext uri="{FF2B5EF4-FFF2-40B4-BE49-F238E27FC236}">
                <a16:creationId xmlns:a16="http://schemas.microsoft.com/office/drawing/2014/main" id="{17B4FDE5-D3E7-42D3-8D2E-9FB1A6D78E2F}"/>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6EA3F33B-F080-4958-8A41-C0420039090B}"/>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6149DF31-6097-4BE2-A1AE-EBB56FF11EBF}"/>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0CFE3E50-BD03-495E-8C25-2EE62B5EB45A}"/>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5ADFB11F-2F98-478C-8D9F-82D49B526AA5}"/>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3BE151F2-8F52-4835-A9B5-09064532F6C6}"/>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8567E370-30CD-4991-A3D0-3B1CB5166849}"/>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8CED4E30-CD56-4364-B529-959FD8914626}"/>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908EE861-2C57-4346-BA64-00A3F5A3DA91}"/>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A9250F39-EADB-4B8D-BEE5-0224126B4314}"/>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AFAC69E6-2CA5-401B-9201-7AB4388C99E2}"/>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F2086088-B709-4253-BAE3-AB49F315D725}"/>
              </a:ext>
            </a:extLst>
          </p:cNvPr>
          <p:cNvSpPr>
            <a:spLocks xmlns:a="http://schemas.openxmlformats.org/drawingml/2006/main" noGrp="1"/>
          </p:cNvSpPr>
          <p:nvPr/>
        </p:nvSpPr>
        <p:spPr>
          <a:xfrm xmlns:a="http://schemas.openxmlformats.org/drawingml/2006/main">
            <a:off x="1647795" y="2591346"/>
            <a:ext cx="3936225" cy="2868550"/>
          </a:xfrm>
          <a:custGeom xmlns:a="http://schemas.openxmlformats.org/drawingml/2006/main">
            <a:pathLst>
              <a:path w="3936225" h="2868550">
                <a:moveTo>
                  <a:pt x="880649" y="2868550"/>
                </a:moveTo>
                <a:lnTo>
                  <a:pt x="2552730" y="2868550"/>
                </a:lnTo>
                <a:lnTo>
                  <a:pt x="3932845" y="2235986"/>
                </a:lnTo>
                <a:lnTo>
                  <a:pt x="3936225" y="2225591"/>
                </a:lnTo>
                <a:lnTo>
                  <a:pt x="3349931" y="955267"/>
                </a:lnTo>
                <a:lnTo>
                  <a:pt x="2076243" y="0"/>
                </a:lnTo>
                <a:lnTo>
                  <a:pt x="3967" y="949792"/>
                </a:lnTo>
                <a:lnTo>
                  <a:pt x="1687" y="955267"/>
                </a:lnTo>
                <a:lnTo>
                  <a:pt x="0" y="960468"/>
                </a:lnTo>
                <a:close/>
              </a:path>
            </a:pathLst>
          </a:custGeom>
          <a:solidFill xmlns:a="http://schemas.openxmlformats.org/drawingml/2006/main">
            <a:srgbClr val="A87819">
              <a:alpha val="14000"/>
            </a:srgbClr>
          </a:solidFill>
          <a:ln xmlns:a="http://schemas.openxmlformats.org/drawingml/2006/main" w="19050">
            <a:solidFill>
              <a:srgbClr val="A87819">
                <a:alpha val="55000"/>
              </a:srgbClr>
            </a:solidFill>
            <a:prstDash val="solid"/>
          </a:ln>
        </p:spPr>
      </p:sp>
      <p:sp>
        <p:nvSpPr>
          <p:cNvPr id="15" name="">
            <a:extLst xmlns:a="http://schemas.openxmlformats.org/drawingml/2006/main">
              <a:ext uri="{FF2B5EF4-FFF2-40B4-BE49-F238E27FC236}">
                <a16:creationId xmlns:a16="http://schemas.microsoft.com/office/drawing/2014/main" id="{52A1A356-488C-4F94-BE1E-FF2A92AECC23}"/>
              </a:ext>
            </a:extLst>
          </p:cNvPr>
          <p:cNvSpPr>
            <a:spLocks xmlns:a="http://schemas.openxmlformats.org/drawingml/2006/main" noGrp="1"/>
          </p:cNvSpPr>
          <p:nvPr/>
        </p:nvSpPr>
        <p:spPr>
          <a:xfrm xmlns:a="http://schemas.openxmlformats.org/drawingml/2006/main">
            <a:off x="1649482" y="2591346"/>
            <a:ext cx="2551043" cy="2018201"/>
          </a:xfrm>
          <a:custGeom xmlns:a="http://schemas.openxmlformats.org/drawingml/2006/main">
            <a:pathLst>
              <a:path w="2551043" h="2018201">
                <a:moveTo>
                  <a:pt x="2280" y="949792"/>
                </a:moveTo>
                <a:lnTo>
                  <a:pt x="0" y="955267"/>
                </a:lnTo>
                <a:lnTo>
                  <a:pt x="2551043" y="2018201"/>
                </a:lnTo>
                <a:lnTo>
                  <a:pt x="2551043" y="357366"/>
                </a:lnTo>
                <a:lnTo>
                  <a:pt x="2074556" y="0"/>
                </a:lnTo>
                <a:close/>
              </a:path>
            </a:pathLst>
          </a:custGeom>
          <a:solidFill xmlns:a="http://schemas.openxmlformats.org/drawingml/2006/main">
            <a:srgbClr val="8E569C">
              <a:alpha val="42000"/>
            </a:srgbClr>
          </a:solidFill>
          <a:ln xmlns:a="http://schemas.openxmlformats.org/drawingml/2006/main" w="28575">
            <a:solidFill>
              <a:srgbClr val="8E569C"/>
            </a:solidFill>
            <a:prstDash val="solid"/>
          </a:ln>
        </p:spPr>
      </p:sp>
      <p:sp>
        <p:nvSpPr>
          <p:cNvPr id="16" name="">
            <a:extLst xmlns:a="http://schemas.openxmlformats.org/drawingml/2006/main">
              <a:ext uri="{FF2B5EF4-FFF2-40B4-BE49-F238E27FC236}">
                <a16:creationId xmlns:a16="http://schemas.microsoft.com/office/drawing/2014/main" id="{71D17889-76A8-425C-9FC2-F12EE781A931}"/>
              </a:ext>
            </a:extLst>
          </p:cNvPr>
          <p:cNvSpPr>
            <a:spLocks xmlns:a="http://schemas.openxmlformats.org/drawingml/2006/main" noGrp="1"/>
          </p:cNvSpPr>
          <p:nvPr/>
        </p:nvSpPr>
        <p:spPr>
          <a:xfrm xmlns:a="http://schemas.openxmlformats.org/drawingml/2006/main">
            <a:off x="420052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13335">
            <a:solidFill>
              <a:srgbClr val="8E569C">
                <a:alpha val="58000"/>
              </a:srgbClr>
            </a:solidFill>
            <a:prstDash val="dash"/>
          </a:ln>
        </p:spPr>
      </p:sp>
      <p:sp>
        <p:nvSpPr>
          <p:cNvPr id="17" name="">
            <a:extLst xmlns:a="http://schemas.openxmlformats.org/drawingml/2006/main">
              <a:ext uri="{FF2B5EF4-FFF2-40B4-BE49-F238E27FC236}">
                <a16:creationId xmlns:a16="http://schemas.microsoft.com/office/drawing/2014/main" id="{E6009629-8FC1-461B-840F-9BCEC147F73E}"/>
              </a:ext>
            </a:extLst>
          </p:cNvPr>
          <p:cNvSpPr>
            <a:spLocks xmlns:a="http://schemas.openxmlformats.org/drawingml/2006/main" noGrp="1"/>
          </p:cNvSpPr>
          <p:nvPr/>
        </p:nvSpPr>
        <p:spPr>
          <a:xfrm xmlns:a="http://schemas.openxmlformats.org/drawingml/2006/main">
            <a:off x="533400" y="3081579"/>
            <a:ext cx="6473273" cy="2697197"/>
          </a:xfrm>
          <a:custGeom xmlns:a="http://schemas.openxmlformats.org/drawingml/2006/main">
            <a:pathLst>
              <a:path w="6473273" h="2697197">
                <a:moveTo>
                  <a:pt x="0" y="0"/>
                </a:moveTo>
                <a:lnTo>
                  <a:pt x="6473273" y="2697197"/>
                </a:lnTo>
              </a:path>
            </a:pathLst>
          </a:custGeom>
          <a:noFill xmlns:a="http://schemas.openxmlformats.org/drawingml/2006/main"/>
          <a:ln xmlns:a="http://schemas.openxmlformats.org/drawingml/2006/main" w="13335">
            <a:solidFill>
              <a:srgbClr val="8E569C">
                <a:alpha val="58000"/>
              </a:srgbClr>
            </a:solidFill>
            <a:prstDash val="dash"/>
          </a:ln>
        </p:spPr>
      </p:sp>
      <p:sp>
        <p:nvSpPr>
          <p:cNvPr id="18" name="">
            <a:extLst xmlns:a="http://schemas.openxmlformats.org/drawingml/2006/main">
              <a:ext uri="{FF2B5EF4-FFF2-40B4-BE49-F238E27FC236}">
                <a16:creationId xmlns:a16="http://schemas.microsoft.com/office/drawing/2014/main" id="{83DFFDB0-191F-4BB2-A7C3-3722986A2B3C}"/>
              </a:ext>
            </a:extLst>
          </p:cNvPr>
          <p:cNvSpPr>
            <a:spLocks xmlns:a="http://schemas.openxmlformats.org/drawingml/2006/main" noGrp="1"/>
          </p:cNvSpPr>
          <p:nvPr/>
        </p:nvSpPr>
        <p:spPr>
          <a:xfrm xmlns:a="http://schemas.openxmlformats.org/drawingml/2006/main">
            <a:off x="615164" y="1314450"/>
            <a:ext cx="2060458" cy="4464326"/>
          </a:xfrm>
          <a:custGeom xmlns:a="http://schemas.openxmlformats.org/drawingml/2006/main">
            <a:pathLst>
              <a:path w="2060458" h="4464326">
                <a:moveTo>
                  <a:pt x="2060458" y="4464326"/>
                </a:moveTo>
                <a:lnTo>
                  <a:pt x="0" y="0"/>
                </a:lnTo>
              </a:path>
            </a:pathLst>
          </a:custGeom>
          <a:noFill xmlns:a="http://schemas.openxmlformats.org/drawingml/2006/main"/>
          <a:ln xmlns:a="http://schemas.openxmlformats.org/drawingml/2006/main" w="13335">
            <a:solidFill>
              <a:srgbClr val="8E569C">
                <a:alpha val="58000"/>
              </a:srgbClr>
            </a:solidFill>
            <a:prstDash val="dash"/>
          </a:ln>
        </p:spPr>
      </p:sp>
      <p:sp>
        <p:nvSpPr>
          <p:cNvPr id="19" name="">
            <a:extLst xmlns:a="http://schemas.openxmlformats.org/drawingml/2006/main">
              <a:ext uri="{FF2B5EF4-FFF2-40B4-BE49-F238E27FC236}">
                <a16:creationId xmlns:a16="http://schemas.microsoft.com/office/drawing/2014/main" id="{0EB958DD-9757-4B70-9B3C-B16DF293014D}"/>
              </a:ext>
            </a:extLst>
          </p:cNvPr>
          <p:cNvSpPr>
            <a:spLocks xmlns:a="http://schemas.openxmlformats.org/drawingml/2006/main" noGrp="1"/>
          </p:cNvSpPr>
          <p:nvPr/>
        </p:nvSpPr>
        <p:spPr>
          <a:xfrm xmlns:a="http://schemas.openxmlformats.org/drawingml/2006/main">
            <a:off x="3323604" y="1314450"/>
            <a:ext cx="3348245" cy="4464326"/>
          </a:xfrm>
          <a:custGeom xmlns:a="http://schemas.openxmlformats.org/drawingml/2006/main">
            <a:pathLst>
              <a:path w="3348245" h="4464326">
                <a:moveTo>
                  <a:pt x="0" y="4464326"/>
                </a:moveTo>
                <a:lnTo>
                  <a:pt x="3348245" y="0"/>
                </a:lnTo>
              </a:path>
            </a:pathLst>
          </a:custGeom>
          <a:noFill xmlns:a="http://schemas.openxmlformats.org/drawingml/2006/main"/>
          <a:ln xmlns:a="http://schemas.openxmlformats.org/drawingml/2006/main" w="13335">
            <a:solidFill>
              <a:srgbClr val="8E569C">
                <a:alpha val="58000"/>
              </a:srgbClr>
            </a:solidFill>
            <a:prstDash val="dash"/>
          </a:ln>
        </p:spPr>
      </p:sp>
      <p:sp>
        <p:nvSpPr>
          <p:cNvPr id="20" name="">
            <a:extLst xmlns:a="http://schemas.openxmlformats.org/drawingml/2006/main">
              <a:ext uri="{FF2B5EF4-FFF2-40B4-BE49-F238E27FC236}">
                <a16:creationId xmlns:a16="http://schemas.microsoft.com/office/drawing/2014/main" id="{9B052415-1596-48F9-8BED-7D71CD5E2DA5}"/>
              </a:ext>
            </a:extLst>
          </p:cNvPr>
          <p:cNvSpPr>
            <a:spLocks xmlns:a="http://schemas.openxmlformats.org/drawingml/2006/main" noGrp="1"/>
          </p:cNvSpPr>
          <p:nvPr/>
        </p:nvSpPr>
        <p:spPr>
          <a:xfrm xmlns:a="http://schemas.openxmlformats.org/drawingml/2006/main">
            <a:off x="5272078" y="1314450"/>
            <a:ext cx="1447890" cy="4464326"/>
          </a:xfrm>
          <a:custGeom xmlns:a="http://schemas.openxmlformats.org/drawingml/2006/main">
            <a:pathLst>
              <a:path w="1447890" h="4464326">
                <a:moveTo>
                  <a:pt x="0" y="4464326"/>
                </a:moveTo>
                <a:lnTo>
                  <a:pt x="1447890" y="0"/>
                </a:lnTo>
              </a:path>
            </a:pathLst>
          </a:custGeom>
          <a:noFill xmlns:a="http://schemas.openxmlformats.org/drawingml/2006/main"/>
          <a:ln xmlns:a="http://schemas.openxmlformats.org/drawingml/2006/main" w="13335">
            <a:solidFill>
              <a:srgbClr val="8E569C">
                <a:alpha val="58000"/>
              </a:srgbClr>
            </a:solidFill>
            <a:prstDash val="dash"/>
          </a:ln>
        </p:spPr>
      </p:sp>
      <p:sp>
        <p:nvSpPr>
          <p:cNvPr id="21" name="">
            <a:extLst xmlns:a="http://schemas.openxmlformats.org/drawingml/2006/main">
              <a:ext uri="{FF2B5EF4-FFF2-40B4-BE49-F238E27FC236}">
                <a16:creationId xmlns:a16="http://schemas.microsoft.com/office/drawing/2014/main" id="{D0642988-ED2B-4220-A3FF-11E52821DD20}"/>
              </a:ext>
            </a:extLst>
          </p:cNvPr>
          <p:cNvSpPr>
            <a:spLocks xmlns:a="http://schemas.openxmlformats.org/drawingml/2006/main" noGrp="1"/>
          </p:cNvSpPr>
          <p:nvPr/>
        </p:nvSpPr>
        <p:spPr>
          <a:xfrm xmlns:a="http://schemas.openxmlformats.org/drawingml/2006/main">
            <a:off x="533400" y="1314450"/>
            <a:ext cx="5976592" cy="2739272"/>
          </a:xfrm>
          <a:custGeom xmlns:a="http://schemas.openxmlformats.org/drawingml/2006/main">
            <a:pathLst>
              <a:path w="5976592" h="2739272">
                <a:moveTo>
                  <a:pt x="0" y="2739272"/>
                </a:moveTo>
                <a:lnTo>
                  <a:pt x="5976592" y="0"/>
                </a:lnTo>
              </a:path>
            </a:pathLst>
          </a:custGeom>
          <a:noFill xmlns:a="http://schemas.openxmlformats.org/drawingml/2006/main"/>
          <a:ln xmlns:a="http://schemas.openxmlformats.org/drawingml/2006/main" w="13335">
            <a:solidFill>
              <a:srgbClr val="8E569C">
                <a:alpha val="58000"/>
              </a:srgbClr>
            </a:solidFill>
            <a:prstDash val="dash"/>
          </a:ln>
        </p:spPr>
      </p:sp>
      <p:sp>
        <p:nvSpPr>
          <p:cNvPr id="22" name="">
            <a:extLst xmlns:a="http://schemas.openxmlformats.org/drawingml/2006/main">
              <a:ext uri="{FF2B5EF4-FFF2-40B4-BE49-F238E27FC236}">
                <a16:creationId xmlns:a16="http://schemas.microsoft.com/office/drawing/2014/main" id="{153B18C6-AE41-40AC-B5F1-31073EB2E08E}"/>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23" name="">
            <a:extLst xmlns:a="http://schemas.openxmlformats.org/drawingml/2006/main">
              <a:ext uri="{FF2B5EF4-FFF2-40B4-BE49-F238E27FC236}">
                <a16:creationId xmlns:a16="http://schemas.microsoft.com/office/drawing/2014/main" id="{56C632B2-7E0E-429A-9DF2-B48C9A3796A0}"/>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4" name="">
            <a:extLst xmlns:a="http://schemas.openxmlformats.org/drawingml/2006/main">
              <a:ext uri="{FF2B5EF4-FFF2-40B4-BE49-F238E27FC236}">
                <a16:creationId xmlns:a16="http://schemas.microsoft.com/office/drawing/2014/main" id="{58A1CC6A-7E7B-44AD-8489-9FE1804D8218}"/>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25" name="">
            <a:extLst xmlns:a="http://schemas.openxmlformats.org/drawingml/2006/main">
              <a:ext uri="{FF2B5EF4-FFF2-40B4-BE49-F238E27FC236}">
                <a16:creationId xmlns:a16="http://schemas.microsoft.com/office/drawing/2014/main" id="{9C8D2E97-3FB8-4C56-A6FF-6C47DF807183}"/>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6" name="">
            <a:extLst xmlns:a="http://schemas.openxmlformats.org/drawingml/2006/main">
              <a:ext uri="{FF2B5EF4-FFF2-40B4-BE49-F238E27FC236}">
                <a16:creationId xmlns:a16="http://schemas.microsoft.com/office/drawing/2014/main" id="{C531AA4B-25E9-4D26-AF5B-E64B63E0D023}"/>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7" name="">
            <a:extLst xmlns:a="http://schemas.openxmlformats.org/drawingml/2006/main">
              <a:ext uri="{FF2B5EF4-FFF2-40B4-BE49-F238E27FC236}">
                <a16:creationId xmlns:a16="http://schemas.microsoft.com/office/drawing/2014/main" id="{88235343-B8BC-4CC3-AFC7-FF719A88D8D2}"/>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8" name="">
            <a:extLst xmlns:a="http://schemas.openxmlformats.org/drawingml/2006/main">
              <a:ext uri="{FF2B5EF4-FFF2-40B4-BE49-F238E27FC236}">
                <a16:creationId xmlns:a16="http://schemas.microsoft.com/office/drawing/2014/main" id="{9B2F71C6-1D24-4EFE-9700-E90B13316798}"/>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9" name="">
            <a:extLst xmlns:a="http://schemas.openxmlformats.org/drawingml/2006/main">
              <a:ext uri="{FF2B5EF4-FFF2-40B4-BE49-F238E27FC236}">
                <a16:creationId xmlns:a16="http://schemas.microsoft.com/office/drawing/2014/main" id="{67B4F4B8-BBDA-418D-B6B8-99BD8A160F78}"/>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30" name="">
            <a:extLst xmlns:a="http://schemas.openxmlformats.org/drawingml/2006/main">
              <a:ext uri="{FF2B5EF4-FFF2-40B4-BE49-F238E27FC236}">
                <a16:creationId xmlns:a16="http://schemas.microsoft.com/office/drawing/2014/main" id="{99EAEBA5-1D09-47C3-80D0-E70D8475C631}"/>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31" name="">
            <a:extLst xmlns:a="http://schemas.openxmlformats.org/drawingml/2006/main">
              <a:ext uri="{FF2B5EF4-FFF2-40B4-BE49-F238E27FC236}">
                <a16:creationId xmlns:a16="http://schemas.microsoft.com/office/drawing/2014/main" id="{0D2D850D-90E2-4B4D-9283-FE2CB0937984}"/>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32" name="">
            <a:extLst xmlns:a="http://schemas.openxmlformats.org/drawingml/2006/main">
              <a:ext uri="{FF2B5EF4-FFF2-40B4-BE49-F238E27FC236}">
                <a16:creationId xmlns:a16="http://schemas.microsoft.com/office/drawing/2014/main" id="{56886C08-825A-4428-9041-D5F9ACF84325}"/>
              </a:ext>
            </a:extLst>
          </p:cNvPr>
          <p:cNvSpPr>
            <a:spLocks xmlns:a="http://schemas.openxmlformats.org/drawingml/2006/main" noGrp="1"/>
          </p:cNvSpPr>
          <p:nvPr/>
        </p:nvSpPr>
        <p:spPr>
          <a:xfrm xmlns:a="http://schemas.openxmlformats.org/drawingml/2006/main">
            <a:off x="8382000" y="167640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8E569C"/>
                </a:solidFill>
                <a:latin typeface="Arial"/>
                <a:ea typeface="Arial"/>
                <a:cs typeface="Arial"/>
              </a:defRPr>
            </a:pPr>
            <a:r>
              <a:rPr sz="4050" b="1" i="0">
                <a:solidFill>
                  <a:srgbClr val="8E569C"/>
                </a:solidFill>
                <a:latin typeface="Arial"/>
                <a:ea typeface="Arial"/>
                <a:cs typeface="Arial"/>
              </a:rPr>
              <a:t>21.2397%</a:t>
            </a:r>
          </a:p>
        </p:txBody>
      </p:sp>
      <p:sp>
        <p:nvSpPr>
          <p:cNvPr id="33" name="">
            <a:extLst xmlns:a="http://schemas.openxmlformats.org/drawingml/2006/main">
              <a:ext uri="{FF2B5EF4-FFF2-40B4-BE49-F238E27FC236}">
                <a16:creationId xmlns:a16="http://schemas.microsoft.com/office/drawing/2014/main" id="{AA9E620D-0B49-4651-AC30-EDFEFB8ED63C}"/>
              </a:ext>
            </a:extLst>
          </p:cNvPr>
          <p:cNvSpPr>
            <a:spLocks xmlns:a="http://schemas.openxmlformats.org/drawingml/2006/main" noGrp="1"/>
          </p:cNvSpPr>
          <p:nvPr/>
        </p:nvSpPr>
        <p:spPr>
          <a:xfrm xmlns:a="http://schemas.openxmlformats.org/drawingml/2006/main">
            <a:off x="8572500" y="234315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of the hull remains</a:t>
            </a:r>
          </a:p>
        </p:txBody>
      </p:sp>
      <p:sp>
        <p:nvSpPr>
          <p:cNvPr id="34" name="">
            <a:extLst xmlns:a="http://schemas.openxmlformats.org/drawingml/2006/main">
              <a:ext uri="{FF2B5EF4-FFF2-40B4-BE49-F238E27FC236}">
                <a16:creationId xmlns:a16="http://schemas.microsoft.com/office/drawing/2014/main" id="{B663D7AE-7EC3-41A4-8DFF-6597C8671436}"/>
              </a:ext>
            </a:extLst>
          </p:cNvPr>
          <p:cNvSpPr>
            <a:spLocks xmlns:a="http://schemas.openxmlformats.org/drawingml/2006/main" noGrp="1"/>
          </p:cNvSpPr>
          <p:nvPr/>
        </p:nvSpPr>
        <p:spPr>
          <a:xfrm xmlns:a="http://schemas.openxmlformats.org/drawingml/2006/main">
            <a:off x="8334375" y="3314700"/>
            <a:ext cx="76200" cy="76200"/>
          </a:xfrm>
          <a:prstGeom xmlns:a="http://schemas.openxmlformats.org/drawingml/2006/main" prst="ellipse">
            <a:avLst/>
          </a:prstGeom>
          <a:solidFill xmlns:a="http://schemas.openxmlformats.org/drawingml/2006/main">
            <a:srgbClr val="8E569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DFE6EDC6-8E12-46D9-879A-DADB72C09AE8}"/>
              </a:ext>
            </a:extLst>
          </p:cNvPr>
          <p:cNvSpPr>
            <a:spLocks xmlns:a="http://schemas.openxmlformats.org/drawingml/2006/main" noGrp="1"/>
          </p:cNvSpPr>
          <p:nvPr/>
        </p:nvSpPr>
        <p:spPr>
          <a:xfrm xmlns:a="http://schemas.openxmlformats.org/drawingml/2006/main">
            <a:off x="8524875" y="32385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8E569C"/>
                </a:solidFill>
                <a:latin typeface="Arial"/>
                <a:ea typeface="Arial"/>
                <a:cs typeface="Arial"/>
              </a:defRPr>
            </a:pPr>
            <a:r>
              <a:rPr sz="1425" b="1" i="0">
                <a:solidFill>
                  <a:srgbClr val="8E569C"/>
                </a:solidFill>
                <a:latin typeface="Arial"/>
                <a:ea typeface="Arial"/>
                <a:cs typeface="Arial"/>
              </a:rPr>
              <a:t>5 vertices</a:t>
            </a:r>
          </a:p>
        </p:txBody>
      </p:sp>
      <p:sp>
        <p:nvSpPr>
          <p:cNvPr id="36" name="">
            <a:extLst xmlns:a="http://schemas.openxmlformats.org/drawingml/2006/main">
              <a:ext uri="{FF2B5EF4-FFF2-40B4-BE49-F238E27FC236}">
                <a16:creationId xmlns:a16="http://schemas.microsoft.com/office/drawing/2014/main" id="{BE4B1862-F4FE-4C37-ADD8-1C275E48A4B0}"/>
              </a:ext>
            </a:extLst>
          </p:cNvPr>
          <p:cNvSpPr>
            <a:spLocks xmlns:a="http://schemas.openxmlformats.org/drawingml/2006/main" noGrp="1"/>
          </p:cNvSpPr>
          <p:nvPr/>
        </p:nvSpPr>
        <p:spPr>
          <a:xfrm xmlns:a="http://schemas.openxmlformats.org/drawingml/2006/main">
            <a:off x="8524875" y="34956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36475"/>
                </a:solidFill>
                <a:latin typeface="Arial"/>
                <a:ea typeface="Arial"/>
                <a:cs typeface="Arial"/>
              </a:defRPr>
            </a:pPr>
            <a:r>
              <a:rPr sz="1275" b="0" i="0">
                <a:solidFill>
                  <a:srgbClr val="536475"/>
                </a:solidFill>
                <a:latin typeface="Arial"/>
                <a:ea typeface="Arial"/>
                <a:cs typeface="Arial"/>
              </a:rPr>
              <a:t>Area 26.76208 out of 126</a:t>
            </a:r>
          </a:p>
        </p:txBody>
      </p:sp>
      <p:sp>
        <p:nvSpPr>
          <p:cNvPr id="37" name="">
            <a:extLst xmlns:a="http://schemas.openxmlformats.org/drawingml/2006/main">
              <a:ext uri="{FF2B5EF4-FFF2-40B4-BE49-F238E27FC236}">
                <a16:creationId xmlns:a16="http://schemas.microsoft.com/office/drawing/2014/main" id="{42913493-99FF-4F69-B5F8-14B4D4E8B725}"/>
              </a:ext>
            </a:extLst>
          </p:cNvPr>
          <p:cNvSpPr>
            <a:spLocks xmlns:a="http://schemas.openxmlformats.org/drawingml/2006/main" noGrp="1"/>
          </p:cNvSpPr>
          <p:nvPr/>
        </p:nvSpPr>
        <p:spPr>
          <a:xfrm xmlns:a="http://schemas.openxmlformats.org/drawingml/2006/main">
            <a:off x="8334375" y="4410075"/>
            <a:ext cx="76200" cy="76200"/>
          </a:xfrm>
          <a:prstGeom xmlns:a="http://schemas.openxmlformats.org/drawingml/2006/main" prst="ellipse">
            <a:avLst/>
          </a:prstGeom>
          <a:solidFill xmlns:a="http://schemas.openxmlformats.org/drawingml/2006/main">
            <a:srgbClr val="8E569C"/>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A6CABAA-7412-46D2-8EA7-1F0DD61AE6F6}"/>
              </a:ext>
            </a:extLst>
          </p:cNvPr>
          <p:cNvSpPr>
            <a:spLocks xmlns:a="http://schemas.openxmlformats.org/drawingml/2006/main" noGrp="1"/>
          </p:cNvSpPr>
          <p:nvPr/>
        </p:nvSpPr>
        <p:spPr>
          <a:xfrm xmlns:a="http://schemas.openxmlformats.org/drawingml/2006/main">
            <a:off x="8524875" y="43338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8E569C"/>
                </a:solidFill>
                <a:latin typeface="Arial"/>
                <a:ea typeface="Arial"/>
                <a:cs typeface="Arial"/>
              </a:defRPr>
            </a:pPr>
            <a:r>
              <a:rPr sz="1425" b="1" i="0">
                <a:solidFill>
                  <a:srgbClr val="8E569C"/>
                </a:solidFill>
                <a:latin typeface="Arial"/>
                <a:ea typeface="Arial"/>
                <a:cs typeface="Arial"/>
              </a:rPr>
              <a:t>78.7603% removed</a:t>
            </a:r>
          </a:p>
        </p:txBody>
      </p:sp>
      <p:sp>
        <p:nvSpPr>
          <p:cNvPr id="39" name="">
            <a:extLst xmlns:a="http://schemas.openxmlformats.org/drawingml/2006/main">
              <a:ext uri="{FF2B5EF4-FFF2-40B4-BE49-F238E27FC236}">
                <a16:creationId xmlns:a16="http://schemas.microsoft.com/office/drawing/2014/main" id="{E96D860F-A597-4D5E-A4AE-3199B721C5AB}"/>
              </a:ext>
            </a:extLst>
          </p:cNvPr>
          <p:cNvSpPr>
            <a:spLocks xmlns:a="http://schemas.openxmlformats.org/drawingml/2006/main" noGrp="1"/>
          </p:cNvSpPr>
          <p:nvPr/>
        </p:nvSpPr>
        <p:spPr>
          <a:xfrm xmlns:a="http://schemas.openxmlformats.org/drawingml/2006/main">
            <a:off x="8524875" y="45910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36475"/>
                </a:solidFill>
                <a:latin typeface="Arial"/>
                <a:ea typeface="Arial"/>
                <a:cs typeface="Arial"/>
              </a:defRPr>
            </a:pPr>
            <a:r>
              <a:rPr sz="1275" b="0" i="0">
                <a:solidFill>
                  <a:srgbClr val="536475"/>
                </a:solidFill>
                <a:latin typeface="Arial"/>
                <a:ea typeface="Arial"/>
                <a:cs typeface="Arial"/>
              </a:rPr>
              <a:t>Rigorous and independent of the 2+2 strips</a:t>
            </a:r>
          </a:p>
        </p:txBody>
      </p:sp>
      <p:sp>
        <p:nvSpPr>
          <p:cNvPr id="40" name="">
            <a:extLst xmlns:a="http://schemas.openxmlformats.org/drawingml/2006/main">
              <a:ext uri="{FF2B5EF4-FFF2-40B4-BE49-F238E27FC236}">
                <a16:creationId xmlns:a16="http://schemas.microsoft.com/office/drawing/2014/main" id="{A4628EED-29A0-49C2-A260-BC103E193FC3}"/>
              </a:ext>
            </a:extLst>
          </p:cNvPr>
          <p:cNvSpPr>
            <a:spLocks xmlns:a="http://schemas.openxmlformats.org/drawingml/2006/main" noGrp="1"/>
          </p:cNvSpPr>
          <p:nvPr/>
        </p:nvSpPr>
        <p:spPr>
          <a:xfrm xmlns:a="http://schemas.openxmlformats.org/drawingml/2006/main">
            <a:off x="8239125" y="5543550"/>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The dashed lines show</a:t>
            </a:r>
          </a:p>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all six useful bisectors.</a:t>
            </a:r>
          </a:p>
        </p:txBody>
      </p:sp>
      <p:sp>
        <p:nvSpPr>
          <p:cNvPr id="41" name="">
            <a:extLst xmlns:a="http://schemas.openxmlformats.org/drawingml/2006/main">
              <a:ext uri="{FF2B5EF4-FFF2-40B4-BE49-F238E27FC236}">
                <a16:creationId xmlns:a16="http://schemas.microsoft.com/office/drawing/2014/main" id="{F1F88445-8C10-4FE9-9F3D-7FA115CBC1A1}"/>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30</a:t>
            </a:r>
          </a:p>
        </p:txBody>
      </p:sp>
    </p:spTree>
    <p:extLst>
      <p:ext uri="{BB962C8B-B14F-4D97-AF65-F5344CB8AC3E}">
        <p14:creationId xmlns:p14="http://schemas.microsoft.com/office/powerpoint/2010/main" val="38441584"/>
      </p:ext>
    </p:extLst>
  </p:cSld>
  <p:transition spd="slow" advClick="1">
    <p:fade/>
  </p:transition>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38B3315-0D90-46C2-A3DB-B7823A67E163}"/>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The network keeps the unknown intermediate center</a:t>
            </a:r>
          </a:p>
        </p:txBody>
      </p:sp>
      <p:sp>
        <p:nvSpPr>
          <p:cNvPr id="2" name="">
            <a:extLst xmlns:a="http://schemas.openxmlformats.org/drawingml/2006/main">
              <a:ext uri="{FF2B5EF4-FFF2-40B4-BE49-F238E27FC236}">
                <a16:creationId xmlns:a16="http://schemas.microsoft.com/office/drawing/2014/main" id="{45932C5C-C47B-44A3-9245-C7DB6ACF799D}"/>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Nonparallel motions cannot be collapsed into two independent endpoint inequalities</a:t>
            </a:r>
          </a:p>
        </p:txBody>
      </p:sp>
      <p:sp>
        <p:nvSpPr>
          <p:cNvPr id="3" name="">
            <a:extLst xmlns:a="http://schemas.openxmlformats.org/drawingml/2006/main">
              <a:ext uri="{FF2B5EF4-FFF2-40B4-BE49-F238E27FC236}">
                <a16:creationId xmlns:a16="http://schemas.microsoft.com/office/drawing/2014/main" id="{045007C0-97E4-4829-B914-1A145EE4F70F}"/>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50B28FB6-6B78-43E8-957A-2EA88BEC372D}"/>
              </a:ext>
            </a:extLst>
          </p:cNvPr>
          <p:cNvSpPr>
            <a:spLocks xmlns:a="http://schemas.openxmlformats.org/drawingml/2006/main" noGrp="1"/>
          </p:cNvSpPr>
          <p:nvPr/>
        </p:nvSpPr>
        <p:spPr>
          <a:xfrm xmlns:a="http://schemas.openxmlformats.org/drawingml/2006/main">
            <a:off x="762000" y="2905125"/>
            <a:ext cx="1428750" cy="628650"/>
          </a:xfrm>
          <a:prstGeom xmlns:a="http://schemas.openxmlformats.org/drawingml/2006/main" prst="roundRect">
            <a:avLst>
              <a:gd name="adj" fmla="val 12121"/>
            </a:avLst>
          </a:prstGeom>
          <a:solidFill xmlns:a="http://schemas.openxmlformats.org/drawingml/2006/main">
            <a:srgbClr val="F4F6F8"/>
          </a:solidFill>
          <a:ln xmlns:a="http://schemas.openxmlformats.org/drawingml/2006/main" w="19050">
            <a:solidFill>
              <a:srgbClr val="A87819"/>
            </a:solidFill>
          </a:ln>
        </p:spPr>
      </p:sp>
      <p:sp>
        <p:nvSpPr>
          <p:cNvPr id="5" name="">
            <a:extLst xmlns:a="http://schemas.openxmlformats.org/drawingml/2006/main">
              <a:ext uri="{FF2B5EF4-FFF2-40B4-BE49-F238E27FC236}">
                <a16:creationId xmlns:a16="http://schemas.microsoft.com/office/drawing/2014/main" id="{1DAB4D2D-0D3B-4A28-80DF-043DD1FB1DA0}"/>
              </a:ext>
            </a:extLst>
          </p:cNvPr>
          <p:cNvSpPr>
            <a:spLocks xmlns:a="http://schemas.openxmlformats.org/drawingml/2006/main" noGrp="1"/>
          </p:cNvSpPr>
          <p:nvPr/>
        </p:nvSpPr>
        <p:spPr>
          <a:xfrm xmlns:a="http://schemas.openxmlformats.org/drawingml/2006/main">
            <a:off x="857250" y="29813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A87819"/>
                </a:solidFill>
                <a:latin typeface="Arial"/>
                <a:ea typeface="Arial"/>
                <a:cs typeface="Arial"/>
              </a:defRPr>
            </a:pPr>
            <a:r>
              <a:rPr sz="1500" b="1" i="0">
                <a:solidFill>
                  <a:srgbClr val="A87819"/>
                </a:solidFill>
                <a:latin typeface="Arial"/>
                <a:ea typeface="Arial"/>
                <a:cs typeface="Arial"/>
              </a:rPr>
              <a:t>Q₀</a:t>
            </a:r>
          </a:p>
        </p:txBody>
      </p:sp>
      <p:sp>
        <p:nvSpPr>
          <p:cNvPr id="6" name="">
            <a:extLst xmlns:a="http://schemas.openxmlformats.org/drawingml/2006/main">
              <a:ext uri="{FF2B5EF4-FFF2-40B4-BE49-F238E27FC236}">
                <a16:creationId xmlns:a16="http://schemas.microsoft.com/office/drawing/2014/main" id="{296EEB9D-CD82-417E-B8EC-4CC022F34915}"/>
              </a:ext>
            </a:extLst>
          </p:cNvPr>
          <p:cNvSpPr>
            <a:spLocks xmlns:a="http://schemas.openxmlformats.org/drawingml/2006/main" noGrp="1"/>
          </p:cNvSpPr>
          <p:nvPr/>
        </p:nvSpPr>
        <p:spPr>
          <a:xfrm xmlns:a="http://schemas.openxmlformats.org/drawingml/2006/main">
            <a:off x="838200" y="3228975"/>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i="0">
                <a:solidFill>
                  <a:srgbClr val="536475"/>
                </a:solidFill>
                <a:latin typeface="Arial"/>
                <a:ea typeface="Arial"/>
                <a:cs typeface="Arial"/>
              </a:defRPr>
            </a:pPr>
            <a:r>
              <a:rPr sz="975" b="0" i="0">
                <a:solidFill>
                  <a:srgbClr val="536475"/>
                </a:solidFill>
                <a:latin typeface="Arial"/>
                <a:ea typeface="Arial"/>
                <a:cs typeface="Arial"/>
              </a:rPr>
              <a:t>equilateral anchor</a:t>
            </a:r>
          </a:p>
        </p:txBody>
      </p:sp>
      <p:sp>
        <p:nvSpPr>
          <p:cNvPr id="7" name="">
            <a:extLst xmlns:a="http://schemas.openxmlformats.org/drawingml/2006/main">
              <a:ext uri="{FF2B5EF4-FFF2-40B4-BE49-F238E27FC236}">
                <a16:creationId xmlns:a16="http://schemas.microsoft.com/office/drawing/2014/main" id="{4F02DCBD-6F76-4DB7-BAA8-F8B40C80EEF6}"/>
              </a:ext>
            </a:extLst>
          </p:cNvPr>
          <p:cNvSpPr>
            <a:spLocks xmlns:a="http://schemas.openxmlformats.org/drawingml/2006/main" noGrp="1"/>
          </p:cNvSpPr>
          <p:nvPr/>
        </p:nvSpPr>
        <p:spPr>
          <a:xfrm xmlns:a="http://schemas.openxmlformats.org/drawingml/2006/main">
            <a:off x="3238500" y="1952625"/>
            <a:ext cx="1428750" cy="628650"/>
          </a:xfrm>
          <a:prstGeom xmlns:a="http://schemas.openxmlformats.org/drawingml/2006/main" prst="roundRect">
            <a:avLst>
              <a:gd name="adj" fmla="val 12121"/>
            </a:avLst>
          </a:prstGeom>
          <a:solidFill xmlns:a="http://schemas.openxmlformats.org/drawingml/2006/main">
            <a:srgbClr val="F4F6F8"/>
          </a:solidFill>
          <a:ln xmlns:a="http://schemas.openxmlformats.org/drawingml/2006/main" w="19050">
            <a:solidFill>
              <a:srgbClr val="3979AD"/>
            </a:solidFill>
          </a:ln>
        </p:spPr>
      </p:sp>
      <p:sp>
        <p:nvSpPr>
          <p:cNvPr id="8" name="">
            <a:extLst xmlns:a="http://schemas.openxmlformats.org/drawingml/2006/main">
              <a:ext uri="{FF2B5EF4-FFF2-40B4-BE49-F238E27FC236}">
                <a16:creationId xmlns:a16="http://schemas.microsoft.com/office/drawing/2014/main" id="{233B4572-9A4A-49C4-95ED-23C8081E00DE}"/>
              </a:ext>
            </a:extLst>
          </p:cNvPr>
          <p:cNvSpPr>
            <a:spLocks xmlns:a="http://schemas.openxmlformats.org/drawingml/2006/main" noGrp="1"/>
          </p:cNvSpPr>
          <p:nvPr/>
        </p:nvSpPr>
        <p:spPr>
          <a:xfrm xmlns:a="http://schemas.openxmlformats.org/drawingml/2006/main">
            <a:off x="3333750" y="20288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3979AD"/>
                </a:solidFill>
                <a:latin typeface="Arial"/>
                <a:ea typeface="Arial"/>
                <a:cs typeface="Arial"/>
              </a:defRPr>
            </a:pPr>
            <a:r>
              <a:rPr sz="1500" b="1" i="0">
                <a:solidFill>
                  <a:srgbClr val="3979AD"/>
                </a:solidFill>
                <a:latin typeface="Arial"/>
                <a:ea typeface="Arial"/>
                <a:cs typeface="Arial"/>
              </a:rPr>
              <a:t>Q_C</a:t>
            </a:r>
          </a:p>
        </p:txBody>
      </p:sp>
      <p:sp>
        <p:nvSpPr>
          <p:cNvPr id="9" name="">
            <a:extLst xmlns:a="http://schemas.openxmlformats.org/drawingml/2006/main">
              <a:ext uri="{FF2B5EF4-FFF2-40B4-BE49-F238E27FC236}">
                <a16:creationId xmlns:a16="http://schemas.microsoft.com/office/drawing/2014/main" id="{B8FD95FA-0F15-4C3B-9F8F-A96CE6E78454}"/>
              </a:ext>
            </a:extLst>
          </p:cNvPr>
          <p:cNvSpPr>
            <a:spLocks xmlns:a="http://schemas.openxmlformats.org/drawingml/2006/main" noGrp="1"/>
          </p:cNvSpPr>
          <p:nvPr/>
        </p:nvSpPr>
        <p:spPr>
          <a:xfrm xmlns:a="http://schemas.openxmlformats.org/drawingml/2006/main">
            <a:off x="3314700" y="2276475"/>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i="0">
                <a:solidFill>
                  <a:srgbClr val="536475"/>
                </a:solidFill>
                <a:latin typeface="Arial"/>
                <a:ea typeface="Arial"/>
                <a:cs typeface="Arial"/>
              </a:defRPr>
            </a:pPr>
            <a:r>
              <a:rPr sz="975" b="0" i="0">
                <a:solidFill>
                  <a:srgbClr val="536475"/>
                </a:solidFill>
                <a:latin typeface="Arial"/>
                <a:ea typeface="Arial"/>
                <a:cs typeface="Arial"/>
              </a:rPr>
              <a:t>C moved first</a:t>
            </a:r>
          </a:p>
        </p:txBody>
      </p:sp>
      <p:sp>
        <p:nvSpPr>
          <p:cNvPr id="10" name="">
            <a:extLst xmlns:a="http://schemas.openxmlformats.org/drawingml/2006/main">
              <a:ext uri="{FF2B5EF4-FFF2-40B4-BE49-F238E27FC236}">
                <a16:creationId xmlns:a16="http://schemas.microsoft.com/office/drawing/2014/main" id="{68328F01-86CF-4287-9010-DB70DA0195C2}"/>
              </a:ext>
            </a:extLst>
          </p:cNvPr>
          <p:cNvSpPr>
            <a:spLocks xmlns:a="http://schemas.openxmlformats.org/drawingml/2006/main" noGrp="1"/>
          </p:cNvSpPr>
          <p:nvPr/>
        </p:nvSpPr>
        <p:spPr>
          <a:xfrm xmlns:a="http://schemas.openxmlformats.org/drawingml/2006/main">
            <a:off x="3238500" y="3857625"/>
            <a:ext cx="1428750" cy="628650"/>
          </a:xfrm>
          <a:prstGeom xmlns:a="http://schemas.openxmlformats.org/drawingml/2006/main" prst="roundRect">
            <a:avLst>
              <a:gd name="adj" fmla="val 12121"/>
            </a:avLst>
          </a:prstGeom>
          <a:solidFill xmlns:a="http://schemas.openxmlformats.org/drawingml/2006/main">
            <a:srgbClr val="F4F6F8"/>
          </a:solidFill>
          <a:ln xmlns:a="http://schemas.openxmlformats.org/drawingml/2006/main" w="19050">
            <a:solidFill>
              <a:srgbClr val="8E569C"/>
            </a:solidFill>
          </a:ln>
        </p:spPr>
      </p:sp>
      <p:sp>
        <p:nvSpPr>
          <p:cNvPr id="11" name="">
            <a:extLst xmlns:a="http://schemas.openxmlformats.org/drawingml/2006/main">
              <a:ext uri="{FF2B5EF4-FFF2-40B4-BE49-F238E27FC236}">
                <a16:creationId xmlns:a16="http://schemas.microsoft.com/office/drawing/2014/main" id="{F9B47EF5-1C3F-45DE-8CB1-405C5B8A501B}"/>
              </a:ext>
            </a:extLst>
          </p:cNvPr>
          <p:cNvSpPr>
            <a:spLocks xmlns:a="http://schemas.openxmlformats.org/drawingml/2006/main" noGrp="1"/>
          </p:cNvSpPr>
          <p:nvPr/>
        </p:nvSpPr>
        <p:spPr>
          <a:xfrm xmlns:a="http://schemas.openxmlformats.org/drawingml/2006/main">
            <a:off x="3333750" y="39338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8E569C"/>
                </a:solidFill>
                <a:latin typeface="Arial"/>
                <a:ea typeface="Arial"/>
                <a:cs typeface="Arial"/>
              </a:defRPr>
            </a:pPr>
            <a:r>
              <a:rPr sz="1500" b="1" i="0">
                <a:solidFill>
                  <a:srgbClr val="8E569C"/>
                </a:solidFill>
                <a:latin typeface="Arial"/>
                <a:ea typeface="Arial"/>
                <a:cs typeface="Arial"/>
              </a:rPr>
              <a:t>Q_D</a:t>
            </a:r>
          </a:p>
        </p:txBody>
      </p:sp>
      <p:sp>
        <p:nvSpPr>
          <p:cNvPr id="12" name="">
            <a:extLst xmlns:a="http://schemas.openxmlformats.org/drawingml/2006/main">
              <a:ext uri="{FF2B5EF4-FFF2-40B4-BE49-F238E27FC236}">
                <a16:creationId xmlns:a16="http://schemas.microsoft.com/office/drawing/2014/main" id="{586404B4-9233-4A23-8F10-E470A4A3132A}"/>
              </a:ext>
            </a:extLst>
          </p:cNvPr>
          <p:cNvSpPr>
            <a:spLocks xmlns:a="http://schemas.openxmlformats.org/drawingml/2006/main" noGrp="1"/>
          </p:cNvSpPr>
          <p:nvPr/>
        </p:nvSpPr>
        <p:spPr>
          <a:xfrm xmlns:a="http://schemas.openxmlformats.org/drawingml/2006/main">
            <a:off x="3314700" y="4181475"/>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i="0">
                <a:solidFill>
                  <a:srgbClr val="536475"/>
                </a:solidFill>
                <a:latin typeface="Arial"/>
                <a:ea typeface="Arial"/>
                <a:cs typeface="Arial"/>
              </a:defRPr>
            </a:pPr>
            <a:r>
              <a:rPr sz="975" b="0" i="0">
                <a:solidFill>
                  <a:srgbClr val="536475"/>
                </a:solidFill>
                <a:latin typeface="Arial"/>
                <a:ea typeface="Arial"/>
                <a:cs typeface="Arial"/>
              </a:rPr>
              <a:t>D moved first</a:t>
            </a:r>
          </a:p>
        </p:txBody>
      </p:sp>
      <p:sp>
        <p:nvSpPr>
          <p:cNvPr id="13" name="">
            <a:extLst xmlns:a="http://schemas.openxmlformats.org/drawingml/2006/main">
              <a:ext uri="{FF2B5EF4-FFF2-40B4-BE49-F238E27FC236}">
                <a16:creationId xmlns:a16="http://schemas.microsoft.com/office/drawing/2014/main" id="{62BC4A5F-3CC4-4738-B517-EE43EFB072FB}"/>
              </a:ext>
            </a:extLst>
          </p:cNvPr>
          <p:cNvSpPr>
            <a:spLocks xmlns:a="http://schemas.openxmlformats.org/drawingml/2006/main" noGrp="1"/>
          </p:cNvSpPr>
          <p:nvPr/>
        </p:nvSpPr>
        <p:spPr>
          <a:xfrm xmlns:a="http://schemas.openxmlformats.org/drawingml/2006/main">
            <a:off x="5905500" y="2905125"/>
            <a:ext cx="1428750" cy="628650"/>
          </a:xfrm>
          <a:prstGeom xmlns:a="http://schemas.openxmlformats.org/drawingml/2006/main" prst="roundRect">
            <a:avLst>
              <a:gd name="adj" fmla="val 12121"/>
            </a:avLst>
          </a:prstGeom>
          <a:solidFill xmlns:a="http://schemas.openxmlformats.org/drawingml/2006/main">
            <a:srgbClr val="F4F6F8"/>
          </a:solidFill>
          <a:ln xmlns:a="http://schemas.openxmlformats.org/drawingml/2006/main" w="19050">
            <a:solidFill>
              <a:srgbClr val="087B82"/>
            </a:solidFill>
          </a:ln>
        </p:spPr>
      </p:sp>
      <p:sp>
        <p:nvSpPr>
          <p:cNvPr id="14" name="">
            <a:extLst xmlns:a="http://schemas.openxmlformats.org/drawingml/2006/main">
              <a:ext uri="{FF2B5EF4-FFF2-40B4-BE49-F238E27FC236}">
                <a16:creationId xmlns:a16="http://schemas.microsoft.com/office/drawing/2014/main" id="{3BA1A3CF-789B-45BE-A739-3C57759FB0BE}"/>
              </a:ext>
            </a:extLst>
          </p:cNvPr>
          <p:cNvSpPr>
            <a:spLocks xmlns:a="http://schemas.openxmlformats.org/drawingml/2006/main" noGrp="1"/>
          </p:cNvSpPr>
          <p:nvPr/>
        </p:nvSpPr>
        <p:spPr>
          <a:xfrm xmlns:a="http://schemas.openxmlformats.org/drawingml/2006/main">
            <a:off x="6000750" y="29813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087B82"/>
                </a:solidFill>
                <a:latin typeface="Arial"/>
                <a:ea typeface="Arial"/>
                <a:cs typeface="Arial"/>
              </a:defRPr>
            </a:pPr>
            <a:r>
              <a:rPr sz="1500" b="1" i="0">
                <a:solidFill>
                  <a:srgbClr val="087B82"/>
                </a:solidFill>
                <a:latin typeface="Arial"/>
                <a:ea typeface="Arial"/>
                <a:cs typeface="Arial"/>
              </a:rPr>
              <a:t>P</a:t>
            </a:r>
          </a:p>
        </p:txBody>
      </p:sp>
      <p:sp>
        <p:nvSpPr>
          <p:cNvPr id="15" name="">
            <a:extLst xmlns:a="http://schemas.openxmlformats.org/drawingml/2006/main">
              <a:ext uri="{FF2B5EF4-FFF2-40B4-BE49-F238E27FC236}">
                <a16:creationId xmlns:a16="http://schemas.microsoft.com/office/drawing/2014/main" id="{7EA8B969-81C9-4EDA-B819-5DFE152BE193}"/>
              </a:ext>
            </a:extLst>
          </p:cNvPr>
          <p:cNvSpPr>
            <a:spLocks xmlns:a="http://schemas.openxmlformats.org/drawingml/2006/main" noGrp="1"/>
          </p:cNvSpPr>
          <p:nvPr/>
        </p:nvSpPr>
        <p:spPr>
          <a:xfrm xmlns:a="http://schemas.openxmlformats.org/drawingml/2006/main">
            <a:off x="5981700" y="3228975"/>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i="0">
                <a:solidFill>
                  <a:srgbClr val="536475"/>
                </a:solidFill>
                <a:latin typeface="Arial"/>
                <a:ea typeface="Arial"/>
                <a:cs typeface="Arial"/>
              </a:defRPr>
            </a:pPr>
            <a:r>
              <a:rPr sz="975" b="0" i="0">
                <a:solidFill>
                  <a:srgbClr val="536475"/>
                </a:solidFill>
                <a:latin typeface="Arial"/>
                <a:ea typeface="Arial"/>
                <a:cs typeface="Arial"/>
              </a:rPr>
              <a:t>target</a:t>
            </a:r>
          </a:p>
        </p:txBody>
      </p:sp>
      <p:sp>
        <p:nvSpPr>
          <p:cNvPr id="16" name="">
            <a:extLst xmlns:a="http://schemas.openxmlformats.org/drawingml/2006/main">
              <a:ext uri="{FF2B5EF4-FFF2-40B4-BE49-F238E27FC236}">
                <a16:creationId xmlns:a16="http://schemas.microsoft.com/office/drawing/2014/main" id="{92E52E7D-077F-4BCF-99A8-07C3299DE26E}"/>
              </a:ext>
            </a:extLst>
          </p:cNvPr>
          <p:cNvSpPr>
            <a:spLocks xmlns:a="http://schemas.openxmlformats.org/drawingml/2006/main" noGrp="1"/>
          </p:cNvSpPr>
          <p:nvPr/>
        </p:nvSpPr>
        <p:spPr>
          <a:xfrm xmlns:a="http://schemas.openxmlformats.org/drawingml/2006/main">
            <a:off x="2190750" y="2381250"/>
            <a:ext cx="1047750" cy="714375"/>
          </a:xfrm>
          <a:custGeom xmlns:a="http://schemas.openxmlformats.org/drawingml/2006/main">
            <a:pathLst>
              <a:path w="1047750" h="714375">
                <a:moveTo>
                  <a:pt x="0" y="714375"/>
                </a:moveTo>
                <a:lnTo>
                  <a:pt x="1047750" y="0"/>
                </a:lnTo>
              </a:path>
            </a:pathLst>
          </a:custGeom>
          <a:noFill xmlns:a="http://schemas.openxmlformats.org/drawingml/2006/main"/>
          <a:ln xmlns:a="http://schemas.openxmlformats.org/drawingml/2006/main" w="24765">
            <a:solidFill>
              <a:srgbClr val="3979AD"/>
            </a:solidFill>
          </a:ln>
        </p:spPr>
      </p:sp>
      <p:sp>
        <p:nvSpPr>
          <p:cNvPr id="17" name="">
            <a:extLst xmlns:a="http://schemas.openxmlformats.org/drawingml/2006/main">
              <a:ext uri="{FF2B5EF4-FFF2-40B4-BE49-F238E27FC236}">
                <a16:creationId xmlns:a16="http://schemas.microsoft.com/office/drawing/2014/main" id="{FFECE4BD-DB1D-4CFF-AFED-56A1078B9EFF}"/>
              </a:ext>
            </a:extLst>
          </p:cNvPr>
          <p:cNvSpPr>
            <a:spLocks xmlns:a="http://schemas.openxmlformats.org/drawingml/2006/main" noGrp="1"/>
          </p:cNvSpPr>
          <p:nvPr/>
        </p:nvSpPr>
        <p:spPr>
          <a:xfrm xmlns:a="http://schemas.openxmlformats.org/drawingml/2006/main">
            <a:off x="3116036" y="2381250"/>
            <a:ext cx="122464" cy="107311"/>
          </a:xfrm>
          <a:custGeom xmlns:a="http://schemas.openxmlformats.org/drawingml/2006/main">
            <a:pathLst>
              <a:path w="122464" h="107311">
                <a:moveTo>
                  <a:pt x="60682" y="107311"/>
                </a:moveTo>
                <a:lnTo>
                  <a:pt x="122464" y="0"/>
                </a:lnTo>
                <a:lnTo>
                  <a:pt x="0" y="18311"/>
                </a:lnTo>
              </a:path>
            </a:pathLst>
          </a:custGeom>
          <a:noFill xmlns:a="http://schemas.openxmlformats.org/drawingml/2006/main"/>
          <a:ln xmlns:a="http://schemas.openxmlformats.org/drawingml/2006/main" w="24765">
            <a:solidFill>
              <a:srgbClr val="3979AD"/>
            </a:solidFill>
          </a:ln>
        </p:spPr>
      </p:sp>
      <p:sp>
        <p:nvSpPr>
          <p:cNvPr id="18" name="">
            <a:extLst xmlns:a="http://schemas.openxmlformats.org/drawingml/2006/main">
              <a:ext uri="{FF2B5EF4-FFF2-40B4-BE49-F238E27FC236}">
                <a16:creationId xmlns:a16="http://schemas.microsoft.com/office/drawing/2014/main" id="{C79978FC-44B0-48AD-9C70-4D999B18168A}"/>
              </a:ext>
            </a:extLst>
          </p:cNvPr>
          <p:cNvSpPr>
            <a:spLocks xmlns:a="http://schemas.openxmlformats.org/drawingml/2006/main" noGrp="1"/>
          </p:cNvSpPr>
          <p:nvPr/>
        </p:nvSpPr>
        <p:spPr>
          <a:xfrm xmlns:a="http://schemas.openxmlformats.org/drawingml/2006/main">
            <a:off x="2190750" y="3333750"/>
            <a:ext cx="1047750" cy="762000"/>
          </a:xfrm>
          <a:custGeom xmlns:a="http://schemas.openxmlformats.org/drawingml/2006/main">
            <a:pathLst>
              <a:path w="1047750" h="762000">
                <a:moveTo>
                  <a:pt x="0" y="0"/>
                </a:moveTo>
                <a:lnTo>
                  <a:pt x="1047750" y="762000"/>
                </a:lnTo>
              </a:path>
            </a:pathLst>
          </a:custGeom>
          <a:noFill xmlns:a="http://schemas.openxmlformats.org/drawingml/2006/main"/>
          <a:ln xmlns:a="http://schemas.openxmlformats.org/drawingml/2006/main" w="24765">
            <a:solidFill>
              <a:srgbClr val="8E569C"/>
            </a:solidFill>
          </a:ln>
        </p:spPr>
      </p:sp>
      <p:sp>
        <p:nvSpPr>
          <p:cNvPr id="19" name="">
            <a:extLst xmlns:a="http://schemas.openxmlformats.org/drawingml/2006/main">
              <a:ext uri="{FF2B5EF4-FFF2-40B4-BE49-F238E27FC236}">
                <a16:creationId xmlns:a16="http://schemas.microsoft.com/office/drawing/2014/main" id="{981FEF79-8C6B-49DB-91FB-56406532AEFE}"/>
              </a:ext>
            </a:extLst>
          </p:cNvPr>
          <p:cNvSpPr>
            <a:spLocks xmlns:a="http://schemas.openxmlformats.org/drawingml/2006/main" noGrp="1"/>
          </p:cNvSpPr>
          <p:nvPr/>
        </p:nvSpPr>
        <p:spPr>
          <a:xfrm xmlns:a="http://schemas.openxmlformats.org/drawingml/2006/main">
            <a:off x="3116649" y="3986612"/>
            <a:ext cx="121851" cy="109138"/>
          </a:xfrm>
          <a:custGeom xmlns:a="http://schemas.openxmlformats.org/drawingml/2006/main">
            <a:pathLst>
              <a:path w="121851" h="109138">
                <a:moveTo>
                  <a:pt x="0" y="87116"/>
                </a:moveTo>
                <a:lnTo>
                  <a:pt x="121851" y="109138"/>
                </a:lnTo>
                <a:lnTo>
                  <a:pt x="63357" y="0"/>
                </a:lnTo>
              </a:path>
            </a:pathLst>
          </a:custGeom>
          <a:noFill xmlns:a="http://schemas.openxmlformats.org/drawingml/2006/main"/>
          <a:ln xmlns:a="http://schemas.openxmlformats.org/drawingml/2006/main" w="24765">
            <a:solidFill>
              <a:srgbClr val="8E569C"/>
            </a:solidFill>
          </a:ln>
        </p:spPr>
      </p:sp>
      <p:sp>
        <p:nvSpPr>
          <p:cNvPr id="20" name="">
            <a:extLst xmlns:a="http://schemas.openxmlformats.org/drawingml/2006/main">
              <a:ext uri="{FF2B5EF4-FFF2-40B4-BE49-F238E27FC236}">
                <a16:creationId xmlns:a16="http://schemas.microsoft.com/office/drawing/2014/main" id="{C1F8B99A-0E37-4440-8972-6F5F1A2F355F}"/>
              </a:ext>
            </a:extLst>
          </p:cNvPr>
          <p:cNvSpPr>
            <a:spLocks xmlns:a="http://schemas.openxmlformats.org/drawingml/2006/main" noGrp="1"/>
          </p:cNvSpPr>
          <p:nvPr/>
        </p:nvSpPr>
        <p:spPr>
          <a:xfrm xmlns:a="http://schemas.openxmlformats.org/drawingml/2006/main">
            <a:off x="4667250" y="2381250"/>
            <a:ext cx="1238250" cy="714375"/>
          </a:xfrm>
          <a:custGeom xmlns:a="http://schemas.openxmlformats.org/drawingml/2006/main">
            <a:pathLst>
              <a:path w="1238250" h="714375">
                <a:moveTo>
                  <a:pt x="0" y="0"/>
                </a:moveTo>
                <a:lnTo>
                  <a:pt x="1238250" y="714375"/>
                </a:lnTo>
              </a:path>
            </a:pathLst>
          </a:custGeom>
          <a:noFill xmlns:a="http://schemas.openxmlformats.org/drawingml/2006/main"/>
          <a:ln xmlns:a="http://schemas.openxmlformats.org/drawingml/2006/main" w="24765">
            <a:solidFill>
              <a:srgbClr val="3979AD"/>
            </a:solidFill>
          </a:ln>
        </p:spPr>
      </p:sp>
      <p:sp>
        <p:nvSpPr>
          <p:cNvPr id="21" name="">
            <a:extLst xmlns:a="http://schemas.openxmlformats.org/drawingml/2006/main">
              <a:ext uri="{FF2B5EF4-FFF2-40B4-BE49-F238E27FC236}">
                <a16:creationId xmlns:a16="http://schemas.microsoft.com/office/drawing/2014/main" id="{A04F1D45-0AE5-4A8B-8E68-E8785CC89DC0}"/>
              </a:ext>
            </a:extLst>
          </p:cNvPr>
          <p:cNvSpPr>
            <a:spLocks xmlns:a="http://schemas.openxmlformats.org/drawingml/2006/main" noGrp="1"/>
          </p:cNvSpPr>
          <p:nvPr/>
        </p:nvSpPr>
        <p:spPr>
          <a:xfrm xmlns:a="http://schemas.openxmlformats.org/drawingml/2006/main">
            <a:off x="5782007" y="2993255"/>
            <a:ext cx="123493" cy="102370"/>
          </a:xfrm>
          <a:custGeom xmlns:a="http://schemas.openxmlformats.org/drawingml/2006/main">
            <a:pathLst>
              <a:path w="123493" h="102370">
                <a:moveTo>
                  <a:pt x="0" y="93305"/>
                </a:moveTo>
                <a:lnTo>
                  <a:pt x="123493" y="102370"/>
                </a:lnTo>
                <a:lnTo>
                  <a:pt x="53830" y="0"/>
                </a:lnTo>
              </a:path>
            </a:pathLst>
          </a:custGeom>
          <a:noFill xmlns:a="http://schemas.openxmlformats.org/drawingml/2006/main"/>
          <a:ln xmlns:a="http://schemas.openxmlformats.org/drawingml/2006/main" w="24765">
            <a:solidFill>
              <a:srgbClr val="3979AD"/>
            </a:solidFill>
          </a:ln>
        </p:spPr>
      </p:sp>
      <p:sp>
        <p:nvSpPr>
          <p:cNvPr id="22" name="">
            <a:extLst xmlns:a="http://schemas.openxmlformats.org/drawingml/2006/main">
              <a:ext uri="{FF2B5EF4-FFF2-40B4-BE49-F238E27FC236}">
                <a16:creationId xmlns:a16="http://schemas.microsoft.com/office/drawing/2014/main" id="{B368927A-E878-45A5-B17B-6410EED9867C}"/>
              </a:ext>
            </a:extLst>
          </p:cNvPr>
          <p:cNvSpPr>
            <a:spLocks xmlns:a="http://schemas.openxmlformats.org/drawingml/2006/main" noGrp="1"/>
          </p:cNvSpPr>
          <p:nvPr/>
        </p:nvSpPr>
        <p:spPr>
          <a:xfrm xmlns:a="http://schemas.openxmlformats.org/drawingml/2006/main">
            <a:off x="4667250" y="3333750"/>
            <a:ext cx="1238250" cy="762000"/>
          </a:xfrm>
          <a:custGeom xmlns:a="http://schemas.openxmlformats.org/drawingml/2006/main">
            <a:pathLst>
              <a:path w="1238250" h="762000">
                <a:moveTo>
                  <a:pt x="0" y="762000"/>
                </a:moveTo>
                <a:lnTo>
                  <a:pt x="1238250" y="0"/>
                </a:lnTo>
              </a:path>
            </a:pathLst>
          </a:custGeom>
          <a:noFill xmlns:a="http://schemas.openxmlformats.org/drawingml/2006/main"/>
          <a:ln xmlns:a="http://schemas.openxmlformats.org/drawingml/2006/main" w="24765">
            <a:solidFill>
              <a:srgbClr val="8E569C"/>
            </a:solidFill>
          </a:ln>
        </p:spPr>
      </p:sp>
      <p:sp>
        <p:nvSpPr>
          <p:cNvPr id="23" name="">
            <a:extLst xmlns:a="http://schemas.openxmlformats.org/drawingml/2006/main">
              <a:ext uri="{FF2B5EF4-FFF2-40B4-BE49-F238E27FC236}">
                <a16:creationId xmlns:a16="http://schemas.microsoft.com/office/drawing/2014/main" id="{06056BAD-8E1C-48DE-83A2-40FFF7CA0329}"/>
              </a:ext>
            </a:extLst>
          </p:cNvPr>
          <p:cNvSpPr>
            <a:spLocks xmlns:a="http://schemas.openxmlformats.org/drawingml/2006/main" noGrp="1"/>
          </p:cNvSpPr>
          <p:nvPr/>
        </p:nvSpPr>
        <p:spPr>
          <a:xfrm xmlns:a="http://schemas.openxmlformats.org/drawingml/2006/main">
            <a:off x="5782314" y="3333750"/>
            <a:ext cx="123186" cy="104306"/>
          </a:xfrm>
          <a:custGeom xmlns:a="http://schemas.openxmlformats.org/drawingml/2006/main">
            <a:pathLst>
              <a:path w="123186" h="104306">
                <a:moveTo>
                  <a:pt x="56455" y="104306"/>
                </a:moveTo>
                <a:lnTo>
                  <a:pt x="123186" y="0"/>
                </a:lnTo>
                <a:lnTo>
                  <a:pt x="0" y="12566"/>
                </a:lnTo>
              </a:path>
            </a:pathLst>
          </a:custGeom>
          <a:noFill xmlns:a="http://schemas.openxmlformats.org/drawingml/2006/main"/>
          <a:ln xmlns:a="http://schemas.openxmlformats.org/drawingml/2006/main" w="24765">
            <a:solidFill>
              <a:srgbClr val="8E569C"/>
            </a:solidFill>
          </a:ln>
        </p:spPr>
      </p:sp>
      <p:sp>
        <p:nvSpPr>
          <p:cNvPr id="24" name="">
            <a:extLst xmlns:a="http://schemas.openxmlformats.org/drawingml/2006/main">
              <a:ext uri="{FF2B5EF4-FFF2-40B4-BE49-F238E27FC236}">
                <a16:creationId xmlns:a16="http://schemas.microsoft.com/office/drawing/2014/main" id="{11C36763-FA71-46FD-8C3F-96638BC24786}"/>
              </a:ext>
            </a:extLst>
          </p:cNvPr>
          <p:cNvSpPr>
            <a:spLocks xmlns:a="http://schemas.openxmlformats.org/drawingml/2006/main" noGrp="1"/>
          </p:cNvSpPr>
          <p:nvPr/>
        </p:nvSpPr>
        <p:spPr>
          <a:xfrm xmlns:a="http://schemas.openxmlformats.org/drawingml/2006/main">
            <a:off x="781050" y="3695700"/>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i="0">
                <a:solidFill>
                  <a:srgbClr val="A87819"/>
                </a:solidFill>
                <a:latin typeface="Arial"/>
                <a:ea typeface="Arial"/>
                <a:cs typeface="Arial"/>
              </a:defRPr>
            </a:pPr>
            <a:r>
              <a:rPr sz="1425" b="1" i="0">
                <a:solidFill>
                  <a:srgbClr val="A87819"/>
                </a:solidFill>
                <a:latin typeface="Arial"/>
                <a:ea typeface="Arial"/>
                <a:cs typeface="Arial"/>
              </a:rPr>
              <a:t>X(Q₀) = D₀</a:t>
            </a:r>
          </a:p>
        </p:txBody>
      </p:sp>
      <p:sp>
        <p:nvSpPr>
          <p:cNvPr id="25" name="">
            <a:extLst xmlns:a="http://schemas.openxmlformats.org/drawingml/2006/main">
              <a:ext uri="{FF2B5EF4-FFF2-40B4-BE49-F238E27FC236}">
                <a16:creationId xmlns:a16="http://schemas.microsoft.com/office/drawing/2014/main" id="{132CFC5D-6C85-4D7A-8B55-E2758383EBAF}"/>
              </a:ext>
            </a:extLst>
          </p:cNvPr>
          <p:cNvSpPr>
            <a:spLocks xmlns:a="http://schemas.openxmlformats.org/drawingml/2006/main" noGrp="1"/>
          </p:cNvSpPr>
          <p:nvPr/>
        </p:nvSpPr>
        <p:spPr>
          <a:xfrm xmlns:a="http://schemas.openxmlformats.org/drawingml/2006/main">
            <a:off x="7810500" y="1524000"/>
            <a:ext cx="0" cy="428625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26" name="">
            <a:extLst xmlns:a="http://schemas.openxmlformats.org/drawingml/2006/main">
              <a:ext uri="{FF2B5EF4-FFF2-40B4-BE49-F238E27FC236}">
                <a16:creationId xmlns:a16="http://schemas.microsoft.com/office/drawing/2014/main" id="{C7ED8D50-B61F-4198-861F-0FAF0B310D23}"/>
              </a:ext>
            </a:extLst>
          </p:cNvPr>
          <p:cNvSpPr>
            <a:spLocks xmlns:a="http://schemas.openxmlformats.org/drawingml/2006/main" noGrp="1"/>
          </p:cNvSpPr>
          <p:nvPr/>
        </p:nvSpPr>
        <p:spPr>
          <a:xfrm xmlns:a="http://schemas.openxmlformats.org/drawingml/2006/main">
            <a:off x="8334375" y="16954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3979AD"/>
                </a:solidFill>
                <a:latin typeface="Arial"/>
                <a:ea typeface="Arial"/>
                <a:cs typeface="Arial"/>
              </a:defRPr>
            </a:pPr>
            <a:r>
              <a:rPr sz="1425" b="1" i="0">
                <a:solidFill>
                  <a:srgbClr val="3979AD"/>
                </a:solidFill>
                <a:latin typeface="Arial"/>
                <a:ea typeface="Arial"/>
                <a:cs typeface="Arial"/>
              </a:rPr>
              <a:t>C first</a:t>
            </a:r>
          </a:p>
        </p:txBody>
      </p:sp>
      <p:sp>
        <p:nvSpPr>
          <p:cNvPr id="27" name="">
            <a:extLst xmlns:a="http://schemas.openxmlformats.org/drawingml/2006/main">
              <a:ext uri="{FF2B5EF4-FFF2-40B4-BE49-F238E27FC236}">
                <a16:creationId xmlns:a16="http://schemas.microsoft.com/office/drawing/2014/main" id="{5D47D5F4-905E-4222-B6E7-E800A8E202F6}"/>
              </a:ext>
            </a:extLst>
          </p:cNvPr>
          <p:cNvSpPr>
            <a:spLocks xmlns:a="http://schemas.openxmlformats.org/drawingml/2006/main" noGrp="1"/>
          </p:cNvSpPr>
          <p:nvPr/>
        </p:nvSpPr>
        <p:spPr>
          <a:xfrm xmlns:a="http://schemas.openxmlformats.org/drawingml/2006/main">
            <a:off x="8334375" y="20764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u·(y−D₀) ≥ 0</a:t>
            </a:r>
          </a:p>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v·(X−y) ≥ 0</a:t>
            </a:r>
          </a:p>
        </p:txBody>
      </p:sp>
      <p:sp>
        <p:nvSpPr>
          <p:cNvPr id="28" name="">
            <a:extLst xmlns:a="http://schemas.openxmlformats.org/drawingml/2006/main">
              <a:ext uri="{FF2B5EF4-FFF2-40B4-BE49-F238E27FC236}">
                <a16:creationId xmlns:a16="http://schemas.microsoft.com/office/drawing/2014/main" id="{E64F08E7-AFFB-4106-899B-1EF60A833AAB}"/>
              </a:ext>
            </a:extLst>
          </p:cNvPr>
          <p:cNvSpPr>
            <a:spLocks xmlns:a="http://schemas.openxmlformats.org/drawingml/2006/main" noGrp="1"/>
          </p:cNvSpPr>
          <p:nvPr/>
        </p:nvSpPr>
        <p:spPr>
          <a:xfrm xmlns:a="http://schemas.openxmlformats.org/drawingml/2006/main">
            <a:off x="8334375" y="31432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8E569C"/>
                </a:solidFill>
                <a:latin typeface="Arial"/>
                <a:ea typeface="Arial"/>
                <a:cs typeface="Arial"/>
              </a:defRPr>
            </a:pPr>
            <a:r>
              <a:rPr sz="1425" b="1" i="0">
                <a:solidFill>
                  <a:srgbClr val="8E569C"/>
                </a:solidFill>
                <a:latin typeface="Arial"/>
                <a:ea typeface="Arial"/>
                <a:cs typeface="Arial"/>
              </a:rPr>
              <a:t>D first</a:t>
            </a:r>
          </a:p>
        </p:txBody>
      </p:sp>
      <p:sp>
        <p:nvSpPr>
          <p:cNvPr id="29" name="">
            <a:extLst xmlns:a="http://schemas.openxmlformats.org/drawingml/2006/main">
              <a:ext uri="{FF2B5EF4-FFF2-40B4-BE49-F238E27FC236}">
                <a16:creationId xmlns:a16="http://schemas.microsoft.com/office/drawing/2014/main" id="{A9537C34-43C6-4850-8504-F49B5B69E3DB}"/>
              </a:ext>
            </a:extLst>
          </p:cNvPr>
          <p:cNvSpPr>
            <a:spLocks xmlns:a="http://schemas.openxmlformats.org/drawingml/2006/main" noGrp="1"/>
          </p:cNvSpPr>
          <p:nvPr/>
        </p:nvSpPr>
        <p:spPr>
          <a:xfrm xmlns:a="http://schemas.openxmlformats.org/drawingml/2006/main">
            <a:off x="8334375" y="35242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v·(z−D₀) ≥ 0</a:t>
            </a:r>
          </a:p>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u·(X−z) ≥ 0</a:t>
            </a:r>
          </a:p>
        </p:txBody>
      </p:sp>
      <p:sp>
        <p:nvSpPr>
          <p:cNvPr id="30" name="">
            <a:extLst xmlns:a="http://schemas.openxmlformats.org/drawingml/2006/main">
              <a:ext uri="{FF2B5EF4-FFF2-40B4-BE49-F238E27FC236}">
                <a16:creationId xmlns:a16="http://schemas.microsoft.com/office/drawing/2014/main" id="{86DAE43B-22BB-4981-AC19-021BCBFD6DB3}"/>
              </a:ext>
            </a:extLst>
          </p:cNvPr>
          <p:cNvSpPr>
            <a:spLocks xmlns:a="http://schemas.openxmlformats.org/drawingml/2006/main" noGrp="1"/>
          </p:cNvSpPr>
          <p:nvPr/>
        </p:nvSpPr>
        <p:spPr>
          <a:xfrm xmlns:a="http://schemas.openxmlformats.org/drawingml/2006/main">
            <a:off x="8239125" y="476250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536475"/>
                </a:solidFill>
                <a:latin typeface="Arial"/>
                <a:ea typeface="Arial"/>
                <a:cs typeface="Arial"/>
              </a:defRPr>
            </a:pPr>
            <a:r>
              <a:rPr sz="1500" b="0" i="0">
                <a:solidFill>
                  <a:srgbClr val="536475"/>
                </a:solidFill>
                <a:latin typeface="Arial"/>
                <a:ea typeface="Arial"/>
                <a:cs typeface="Arial"/>
              </a:rPr>
              <a:t>Bound y and z by proved intermediate chests, then eliminate them by linear programming.</a:t>
            </a:r>
          </a:p>
        </p:txBody>
      </p:sp>
      <p:sp>
        <p:nvSpPr>
          <p:cNvPr id="31" name="">
            <a:extLst xmlns:a="http://schemas.openxmlformats.org/drawingml/2006/main">
              <a:ext uri="{FF2B5EF4-FFF2-40B4-BE49-F238E27FC236}">
                <a16:creationId xmlns:a16="http://schemas.microsoft.com/office/drawing/2014/main" id="{E6795200-57F7-488C-A0EB-83B2F47CE219}"/>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31</a:t>
            </a:r>
          </a:p>
        </p:txBody>
      </p:sp>
    </p:spTree>
    <p:extLst>
      <p:ext uri="{BB962C8B-B14F-4D97-AF65-F5344CB8AC3E}">
        <p14:creationId xmlns:p14="http://schemas.microsoft.com/office/powerpoint/2010/main" val="1881459837"/>
      </p:ext>
    </p:extLst>
  </p:cSld>
  <p:transition spd="slow" advClick="1">
    <p:fade/>
  </p:transition>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2F1F498-0CBB-42D8-A5D1-E7DA08364D04}"/>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Two motion orders produce a different rigorous chest</a:t>
            </a:r>
          </a:p>
        </p:txBody>
      </p:sp>
      <p:sp>
        <p:nvSpPr>
          <p:cNvPr id="2" name="">
            <a:extLst xmlns:a="http://schemas.openxmlformats.org/drawingml/2006/main">
              <a:ext uri="{FF2B5EF4-FFF2-40B4-BE49-F238E27FC236}">
                <a16:creationId xmlns:a16="http://schemas.microsoft.com/office/drawing/2014/main" id="{67051351-CFAF-4D35-8922-12179DCEE339}"/>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Paper I reference implementation: both orientations and all vertex permutations</a:t>
            </a:r>
          </a:p>
        </p:txBody>
      </p:sp>
      <p:sp>
        <p:nvSpPr>
          <p:cNvPr id="3" name="">
            <a:extLst xmlns:a="http://schemas.openxmlformats.org/drawingml/2006/main">
              <a:ext uri="{FF2B5EF4-FFF2-40B4-BE49-F238E27FC236}">
                <a16:creationId xmlns:a16="http://schemas.microsoft.com/office/drawing/2014/main" id="{CEAB576E-DCEC-4970-A364-51EA679114FD}"/>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2AFB61F0-CCDC-44D4-B378-1794F8F2827C}"/>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09B1A221-6F65-472E-A72C-4EDA93AE8230}"/>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F6E7F224-44EE-4FEF-BDB8-652346553F70}"/>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707CA1CE-8D54-48A3-B97D-8955DF53E90E}"/>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E5775DB3-2D95-4AC1-BEB0-98893D5F60E1}"/>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2B432D61-7492-4F7C-B14C-0D92C899DCD5}"/>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B3EB896F-227A-4D62-866C-684B1F63D5B5}"/>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756BC347-5794-433B-85D0-C5C50DC279B1}"/>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A56945CF-66D3-4B35-B1EB-6A5AAF1DF01F}"/>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E186364E-F26A-46B6-BC23-AD211BF214F9}"/>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9AED3B70-BF01-474D-BA9A-E921521B86E7}"/>
              </a:ext>
            </a:extLst>
          </p:cNvPr>
          <p:cNvSpPr>
            <a:spLocks xmlns:a="http://schemas.openxmlformats.org/drawingml/2006/main" noGrp="1"/>
          </p:cNvSpPr>
          <p:nvPr/>
        </p:nvSpPr>
        <p:spPr>
          <a:xfrm xmlns:a="http://schemas.openxmlformats.org/drawingml/2006/main">
            <a:off x="1647795" y="2591346"/>
            <a:ext cx="3936225" cy="2868550"/>
          </a:xfrm>
          <a:custGeom xmlns:a="http://schemas.openxmlformats.org/drawingml/2006/main">
            <a:pathLst>
              <a:path w="3936225" h="2868550">
                <a:moveTo>
                  <a:pt x="880649" y="2868550"/>
                </a:moveTo>
                <a:lnTo>
                  <a:pt x="2552730" y="2868550"/>
                </a:lnTo>
                <a:lnTo>
                  <a:pt x="3932845" y="2235986"/>
                </a:lnTo>
                <a:lnTo>
                  <a:pt x="3936225" y="2225591"/>
                </a:lnTo>
                <a:lnTo>
                  <a:pt x="3349931" y="955267"/>
                </a:lnTo>
                <a:lnTo>
                  <a:pt x="2076243" y="0"/>
                </a:lnTo>
                <a:lnTo>
                  <a:pt x="3967" y="949792"/>
                </a:lnTo>
                <a:lnTo>
                  <a:pt x="1687" y="955267"/>
                </a:lnTo>
                <a:lnTo>
                  <a:pt x="0" y="960468"/>
                </a:lnTo>
                <a:close/>
              </a:path>
            </a:pathLst>
          </a:custGeom>
          <a:solidFill xmlns:a="http://schemas.openxmlformats.org/drawingml/2006/main">
            <a:srgbClr val="A87819">
              <a:alpha val="10000"/>
            </a:srgbClr>
          </a:solidFill>
          <a:ln xmlns:a="http://schemas.openxmlformats.org/drawingml/2006/main" w="19050">
            <a:solidFill>
              <a:srgbClr val="A87819">
                <a:alpha val="45000"/>
              </a:srgbClr>
            </a:solidFill>
            <a:prstDash val="solid"/>
          </a:ln>
        </p:spPr>
      </p:sp>
      <p:sp>
        <p:nvSpPr>
          <p:cNvPr id="15" name="">
            <a:extLst xmlns:a="http://schemas.openxmlformats.org/drawingml/2006/main">
              <a:ext uri="{FF2B5EF4-FFF2-40B4-BE49-F238E27FC236}">
                <a16:creationId xmlns:a16="http://schemas.microsoft.com/office/drawing/2014/main" id="{56DE665C-8826-4686-854F-97AE95A9D3BA}"/>
              </a:ext>
            </a:extLst>
          </p:cNvPr>
          <p:cNvSpPr>
            <a:spLocks xmlns:a="http://schemas.openxmlformats.org/drawingml/2006/main" noGrp="1"/>
          </p:cNvSpPr>
          <p:nvPr/>
        </p:nvSpPr>
        <p:spPr>
          <a:xfrm xmlns:a="http://schemas.openxmlformats.org/drawingml/2006/main">
            <a:off x="2477560" y="2765455"/>
            <a:ext cx="2861942" cy="2694441"/>
          </a:xfrm>
          <a:custGeom xmlns:a="http://schemas.openxmlformats.org/drawingml/2006/main">
            <a:pathLst>
              <a:path w="2861942" h="2694441">
                <a:moveTo>
                  <a:pt x="0" y="2584185"/>
                </a:moveTo>
                <a:lnTo>
                  <a:pt x="50887" y="2694441"/>
                </a:lnTo>
                <a:lnTo>
                  <a:pt x="88595" y="2694441"/>
                </a:lnTo>
                <a:lnTo>
                  <a:pt x="2861942" y="1773913"/>
                </a:lnTo>
                <a:lnTo>
                  <a:pt x="866602" y="0"/>
                </a:lnTo>
                <a:lnTo>
                  <a:pt x="497387" y="169223"/>
                </a:lnTo>
                <a:close/>
              </a:path>
            </a:pathLst>
          </a:custGeom>
          <a:solidFill xmlns:a="http://schemas.openxmlformats.org/drawingml/2006/main">
            <a:srgbClr val="3979AD">
              <a:alpha val="42000"/>
            </a:srgbClr>
          </a:solidFill>
          <a:ln xmlns:a="http://schemas.openxmlformats.org/drawingml/2006/main" w="28575">
            <a:solidFill>
              <a:srgbClr val="3979AD"/>
            </a:solidFill>
            <a:prstDash val="solid"/>
          </a:ln>
        </p:spPr>
      </p:sp>
      <p:sp>
        <p:nvSpPr>
          <p:cNvPr id="16" name="">
            <a:extLst xmlns:a="http://schemas.openxmlformats.org/drawingml/2006/main">
              <a:ext uri="{FF2B5EF4-FFF2-40B4-BE49-F238E27FC236}">
                <a16:creationId xmlns:a16="http://schemas.microsoft.com/office/drawing/2014/main" id="{2FA10A7A-29C1-44B4-8F6D-5F3D213ADFD8}"/>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7" name="">
            <a:extLst xmlns:a="http://schemas.openxmlformats.org/drawingml/2006/main">
              <a:ext uri="{FF2B5EF4-FFF2-40B4-BE49-F238E27FC236}">
                <a16:creationId xmlns:a16="http://schemas.microsoft.com/office/drawing/2014/main" id="{AB79ED6B-D7CF-45AD-ABFE-857AA253C2C8}"/>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ED64B301-9775-47D3-94C4-E73B3D2C888A}"/>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9" name="">
            <a:extLst xmlns:a="http://schemas.openxmlformats.org/drawingml/2006/main">
              <a:ext uri="{FF2B5EF4-FFF2-40B4-BE49-F238E27FC236}">
                <a16:creationId xmlns:a16="http://schemas.microsoft.com/office/drawing/2014/main" id="{3A40BC4C-B4F2-40EC-8B73-20AAB777DA31}"/>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4A3AE9CD-F1EC-4B58-93E8-F67B50770B15}"/>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1" name="">
            <a:extLst xmlns:a="http://schemas.openxmlformats.org/drawingml/2006/main">
              <a:ext uri="{FF2B5EF4-FFF2-40B4-BE49-F238E27FC236}">
                <a16:creationId xmlns:a16="http://schemas.microsoft.com/office/drawing/2014/main" id="{DAD77685-B508-4090-9FE9-D54706838851}"/>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956A3508-5F99-413F-AF53-4ED8C6FD03BA}"/>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3" name="">
            <a:extLst xmlns:a="http://schemas.openxmlformats.org/drawingml/2006/main">
              <a:ext uri="{FF2B5EF4-FFF2-40B4-BE49-F238E27FC236}">
                <a16:creationId xmlns:a16="http://schemas.microsoft.com/office/drawing/2014/main" id="{20A620AE-C437-43FE-BFC5-290E4CB75811}"/>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4" name="">
            <a:extLst xmlns:a="http://schemas.openxmlformats.org/drawingml/2006/main">
              <a:ext uri="{FF2B5EF4-FFF2-40B4-BE49-F238E27FC236}">
                <a16:creationId xmlns:a16="http://schemas.microsoft.com/office/drawing/2014/main" id="{82E78C39-9050-4A68-95E1-5A2C12F70170}"/>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5" name="">
            <a:extLst xmlns:a="http://schemas.openxmlformats.org/drawingml/2006/main">
              <a:ext uri="{FF2B5EF4-FFF2-40B4-BE49-F238E27FC236}">
                <a16:creationId xmlns:a16="http://schemas.microsoft.com/office/drawing/2014/main" id="{3BE19E35-8112-483D-B14A-60BB0EEECA45}"/>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6" name="">
            <a:extLst xmlns:a="http://schemas.openxmlformats.org/drawingml/2006/main">
              <a:ext uri="{FF2B5EF4-FFF2-40B4-BE49-F238E27FC236}">
                <a16:creationId xmlns:a16="http://schemas.microsoft.com/office/drawing/2014/main" id="{C266EA6F-819E-409D-BE66-0DC4010432D2}"/>
              </a:ext>
            </a:extLst>
          </p:cNvPr>
          <p:cNvSpPr>
            <a:spLocks xmlns:a="http://schemas.openxmlformats.org/drawingml/2006/main" noGrp="1"/>
          </p:cNvSpPr>
          <p:nvPr/>
        </p:nvSpPr>
        <p:spPr>
          <a:xfrm xmlns:a="http://schemas.openxmlformats.org/drawingml/2006/main">
            <a:off x="8382000" y="167640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3979AD"/>
                </a:solidFill>
                <a:latin typeface="Arial"/>
                <a:ea typeface="Arial"/>
                <a:cs typeface="Arial"/>
              </a:defRPr>
            </a:pPr>
            <a:r>
              <a:rPr sz="4050" b="1" i="0">
                <a:solidFill>
                  <a:srgbClr val="3979AD"/>
                </a:solidFill>
                <a:latin typeface="Arial"/>
                <a:ea typeface="Arial"/>
                <a:cs typeface="Arial"/>
              </a:rPr>
              <a:t>30.8008%</a:t>
            </a:r>
          </a:p>
        </p:txBody>
      </p:sp>
      <p:sp>
        <p:nvSpPr>
          <p:cNvPr id="27" name="">
            <a:extLst xmlns:a="http://schemas.openxmlformats.org/drawingml/2006/main">
              <a:ext uri="{FF2B5EF4-FFF2-40B4-BE49-F238E27FC236}">
                <a16:creationId xmlns:a16="http://schemas.microsoft.com/office/drawing/2014/main" id="{C055C92C-A73F-499D-930F-B5E2ADFD63CB}"/>
              </a:ext>
            </a:extLst>
          </p:cNvPr>
          <p:cNvSpPr>
            <a:spLocks xmlns:a="http://schemas.openxmlformats.org/drawingml/2006/main" noGrp="1"/>
          </p:cNvSpPr>
          <p:nvPr/>
        </p:nvSpPr>
        <p:spPr>
          <a:xfrm xmlns:a="http://schemas.openxmlformats.org/drawingml/2006/main">
            <a:off x="8572500" y="234315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of the hull remains</a:t>
            </a:r>
          </a:p>
        </p:txBody>
      </p:sp>
      <p:sp>
        <p:nvSpPr>
          <p:cNvPr id="28" name="">
            <a:extLst xmlns:a="http://schemas.openxmlformats.org/drawingml/2006/main">
              <a:ext uri="{FF2B5EF4-FFF2-40B4-BE49-F238E27FC236}">
                <a16:creationId xmlns:a16="http://schemas.microsoft.com/office/drawing/2014/main" id="{54882458-9A2F-4693-BC49-C27314D2A944}"/>
              </a:ext>
            </a:extLst>
          </p:cNvPr>
          <p:cNvSpPr>
            <a:spLocks xmlns:a="http://schemas.openxmlformats.org/drawingml/2006/main" noGrp="1"/>
          </p:cNvSpPr>
          <p:nvPr/>
        </p:nvSpPr>
        <p:spPr>
          <a:xfrm xmlns:a="http://schemas.openxmlformats.org/drawingml/2006/main">
            <a:off x="8334375" y="3314700"/>
            <a:ext cx="76200" cy="76200"/>
          </a:xfrm>
          <a:prstGeom xmlns:a="http://schemas.openxmlformats.org/drawingml/2006/main" prst="ellipse">
            <a:avLst/>
          </a:prstGeom>
          <a:solidFill xmlns:a="http://schemas.openxmlformats.org/drawingml/2006/main">
            <a:srgbClr val="3979A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66212EB-641F-48E8-B897-C6C170378B97}"/>
              </a:ext>
            </a:extLst>
          </p:cNvPr>
          <p:cNvSpPr>
            <a:spLocks xmlns:a="http://schemas.openxmlformats.org/drawingml/2006/main" noGrp="1"/>
          </p:cNvSpPr>
          <p:nvPr/>
        </p:nvSpPr>
        <p:spPr>
          <a:xfrm xmlns:a="http://schemas.openxmlformats.org/drawingml/2006/main">
            <a:off x="8524875" y="32385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3979AD"/>
                </a:solidFill>
                <a:latin typeface="Arial"/>
                <a:ea typeface="Arial"/>
                <a:cs typeface="Arial"/>
              </a:defRPr>
            </a:pPr>
            <a:r>
              <a:rPr sz="1425" b="1" i="0">
                <a:solidFill>
                  <a:srgbClr val="3979AD"/>
                </a:solidFill>
                <a:latin typeface="Arial"/>
                <a:ea typeface="Arial"/>
                <a:cs typeface="Arial"/>
              </a:rPr>
              <a:t>6 vertices</a:t>
            </a:r>
          </a:p>
        </p:txBody>
      </p:sp>
      <p:sp>
        <p:nvSpPr>
          <p:cNvPr id="30" name="">
            <a:extLst xmlns:a="http://schemas.openxmlformats.org/drawingml/2006/main">
              <a:ext uri="{FF2B5EF4-FFF2-40B4-BE49-F238E27FC236}">
                <a16:creationId xmlns:a16="http://schemas.microsoft.com/office/drawing/2014/main" id="{31070B89-3C73-4081-8D42-EDB4722842B5}"/>
              </a:ext>
            </a:extLst>
          </p:cNvPr>
          <p:cNvSpPr>
            <a:spLocks xmlns:a="http://schemas.openxmlformats.org/drawingml/2006/main" noGrp="1"/>
          </p:cNvSpPr>
          <p:nvPr/>
        </p:nvSpPr>
        <p:spPr>
          <a:xfrm xmlns:a="http://schemas.openxmlformats.org/drawingml/2006/main">
            <a:off x="8524875" y="34956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36475"/>
                </a:solidFill>
                <a:latin typeface="Arial"/>
                <a:ea typeface="Arial"/>
                <a:cs typeface="Arial"/>
              </a:defRPr>
            </a:pPr>
            <a:r>
              <a:rPr sz="1275" b="0" i="0">
                <a:solidFill>
                  <a:srgbClr val="536475"/>
                </a:solidFill>
                <a:latin typeface="Arial"/>
                <a:ea typeface="Arial"/>
                <a:cs typeface="Arial"/>
              </a:rPr>
              <a:t>Reference area: 38.80901 / 126</a:t>
            </a:r>
          </a:p>
        </p:txBody>
      </p:sp>
      <p:sp>
        <p:nvSpPr>
          <p:cNvPr id="31" name="">
            <a:extLst xmlns:a="http://schemas.openxmlformats.org/drawingml/2006/main">
              <a:ext uri="{FF2B5EF4-FFF2-40B4-BE49-F238E27FC236}">
                <a16:creationId xmlns:a16="http://schemas.microsoft.com/office/drawing/2014/main" id="{FD4B21A7-FC68-47AF-89DF-36118C2F8A2E}"/>
              </a:ext>
            </a:extLst>
          </p:cNvPr>
          <p:cNvSpPr>
            <a:spLocks xmlns:a="http://schemas.openxmlformats.org/drawingml/2006/main" noGrp="1"/>
          </p:cNvSpPr>
          <p:nvPr/>
        </p:nvSpPr>
        <p:spPr>
          <a:xfrm xmlns:a="http://schemas.openxmlformats.org/drawingml/2006/main">
            <a:off x="8334375" y="4410075"/>
            <a:ext cx="76200" cy="76200"/>
          </a:xfrm>
          <a:prstGeom xmlns:a="http://schemas.openxmlformats.org/drawingml/2006/main" prst="ellipse">
            <a:avLst/>
          </a:prstGeom>
          <a:solidFill xmlns:a="http://schemas.openxmlformats.org/drawingml/2006/main">
            <a:srgbClr val="3979A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5C9FECD-D9DA-4876-8E83-E9D804D091CE}"/>
              </a:ext>
            </a:extLst>
          </p:cNvPr>
          <p:cNvSpPr>
            <a:spLocks xmlns:a="http://schemas.openxmlformats.org/drawingml/2006/main" noGrp="1"/>
          </p:cNvSpPr>
          <p:nvPr/>
        </p:nvSpPr>
        <p:spPr>
          <a:xfrm xmlns:a="http://schemas.openxmlformats.org/drawingml/2006/main">
            <a:off x="8524875" y="43338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3979AD"/>
                </a:solidFill>
                <a:latin typeface="Arial"/>
                <a:ea typeface="Arial"/>
                <a:cs typeface="Arial"/>
              </a:defRPr>
            </a:pPr>
            <a:r>
              <a:rPr sz="1425" b="1" i="0">
                <a:solidFill>
                  <a:srgbClr val="3979AD"/>
                </a:solidFill>
                <a:latin typeface="Arial"/>
                <a:ea typeface="Arial"/>
                <a:cs typeface="Arial"/>
              </a:rPr>
              <a:t>69.1992% removed</a:t>
            </a:r>
          </a:p>
        </p:txBody>
      </p:sp>
      <p:sp>
        <p:nvSpPr>
          <p:cNvPr id="33" name="">
            <a:extLst xmlns:a="http://schemas.openxmlformats.org/drawingml/2006/main">
              <a:ext uri="{FF2B5EF4-FFF2-40B4-BE49-F238E27FC236}">
                <a16:creationId xmlns:a16="http://schemas.microsoft.com/office/drawing/2014/main" id="{904E2BC8-0EA8-440E-8128-2BBC6CB2C0DE}"/>
              </a:ext>
            </a:extLst>
          </p:cNvPr>
          <p:cNvSpPr>
            <a:spLocks xmlns:a="http://schemas.openxmlformats.org/drawingml/2006/main" noGrp="1"/>
          </p:cNvSpPr>
          <p:nvPr/>
        </p:nvSpPr>
        <p:spPr>
          <a:xfrm xmlns:a="http://schemas.openxmlformats.org/drawingml/2006/main">
            <a:off x="8524875" y="45910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36475"/>
                </a:solidFill>
                <a:latin typeface="Arial"/>
                <a:ea typeface="Arial"/>
                <a:cs typeface="Arial"/>
              </a:defRPr>
            </a:pPr>
            <a:r>
              <a:rPr sz="1275" b="0" i="0">
                <a:solidFill>
                  <a:srgbClr val="536475"/>
                </a:solidFill>
                <a:latin typeface="Arial"/>
                <a:ea typeface="Arial"/>
                <a:cs typeface="Arial"/>
              </a:rPr>
              <a:t>Rigorous, but neither stronger nor weaker than every bisector cut</a:t>
            </a:r>
          </a:p>
        </p:txBody>
      </p:sp>
      <p:sp>
        <p:nvSpPr>
          <p:cNvPr id="34" name="">
            <a:extLst xmlns:a="http://schemas.openxmlformats.org/drawingml/2006/main">
              <a:ext uri="{FF2B5EF4-FFF2-40B4-BE49-F238E27FC236}">
                <a16:creationId xmlns:a16="http://schemas.microsoft.com/office/drawing/2014/main" id="{F341E760-7226-4687-B534-32DFE3588DD4}"/>
              </a:ext>
            </a:extLst>
          </p:cNvPr>
          <p:cNvSpPr>
            <a:spLocks xmlns:a="http://schemas.openxmlformats.org/drawingml/2006/main" noGrp="1"/>
          </p:cNvSpPr>
          <p:nvPr/>
        </p:nvSpPr>
        <p:spPr>
          <a:xfrm xmlns:a="http://schemas.openxmlformats.org/drawingml/2006/main">
            <a:off x="8286750" y="554355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243849"/>
                </a:solidFill>
                <a:latin typeface="Arial"/>
                <a:ea typeface="Arial"/>
                <a:cs typeface="Arial"/>
              </a:defRPr>
            </a:pPr>
            <a:r>
              <a:rPr sz="1425" b="0" i="0">
                <a:solidFill>
                  <a:srgbClr val="243849"/>
                </a:solidFill>
                <a:latin typeface="Arial"/>
                <a:ea typeface="Arial"/>
                <a:cs typeface="Arial"/>
              </a:rPr>
              <a:t>Reference network convention.</a:t>
            </a:r>
          </a:p>
          <a:p xmlns:a="http://schemas.openxmlformats.org/drawingml/2006/main">
            <a:pPr algn="ctr">
              <a:defRPr sz="1425" b="0" i="0">
                <a:solidFill>
                  <a:srgbClr val="243849"/>
                </a:solidFill>
                <a:latin typeface="Arial"/>
                <a:ea typeface="Arial"/>
                <a:cs typeface="Arial"/>
              </a:defRPr>
            </a:pPr>
            <a:r>
              <a:rPr sz="1425" b="0" i="0">
                <a:solidFill>
                  <a:srgbClr val="243849"/>
                </a:solidFill>
                <a:latin typeface="Arial"/>
                <a:ea typeface="Arial"/>
                <a:cs typeface="Arial"/>
              </a:rPr>
              <a:t>Browser variant: 31.3696%.</a:t>
            </a:r>
          </a:p>
        </p:txBody>
      </p:sp>
      <p:sp>
        <p:nvSpPr>
          <p:cNvPr id="35" name="">
            <a:extLst xmlns:a="http://schemas.openxmlformats.org/drawingml/2006/main">
              <a:ext uri="{FF2B5EF4-FFF2-40B4-BE49-F238E27FC236}">
                <a16:creationId xmlns:a16="http://schemas.microsoft.com/office/drawing/2014/main" id="{63A66EA7-B602-4FC7-BD8A-3B6C03B83170}"/>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32</a:t>
            </a:r>
          </a:p>
        </p:txBody>
      </p:sp>
    </p:spTree>
    <p:extLst>
      <p:ext uri="{BB962C8B-B14F-4D97-AF65-F5344CB8AC3E}">
        <p14:creationId xmlns:p14="http://schemas.microsoft.com/office/powerpoint/2010/main" val="153047286"/>
      </p:ext>
    </p:extLst>
  </p:cSld>
  <p:transition spd="slow" advClick="1">
    <p:fade/>
  </p:transition>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816BB2A-2D8C-4F26-B1B4-3C8099D4206C}"/>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Edge-projection slabs improve the elementary chest</a:t>
            </a:r>
          </a:p>
        </p:txBody>
      </p:sp>
      <p:sp>
        <p:nvSpPr>
          <p:cNvPr id="2" name="">
            <a:extLst xmlns:a="http://schemas.openxmlformats.org/drawingml/2006/main">
              <a:ext uri="{FF2B5EF4-FFF2-40B4-BE49-F238E27FC236}">
                <a16:creationId xmlns:a16="http://schemas.microsoft.com/office/drawing/2014/main" id="{C657522D-1A7B-4C75-B3FB-B09EE8BF6880}"/>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Replace a one-sided bisector test by a two-sided projection bound</a:t>
            </a:r>
          </a:p>
        </p:txBody>
      </p:sp>
      <p:sp>
        <p:nvSpPr>
          <p:cNvPr id="3" name="">
            <a:extLst xmlns:a="http://schemas.openxmlformats.org/drawingml/2006/main">
              <a:ext uri="{FF2B5EF4-FFF2-40B4-BE49-F238E27FC236}">
                <a16:creationId xmlns:a16="http://schemas.microsoft.com/office/drawing/2014/main" id="{164EE2DE-04E7-446B-9594-3540E71D26B2}"/>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9B5FD806-6632-4883-BAD8-25866038C661}"/>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7D6BA8B7-D2B4-4824-9E9E-821741A393D1}"/>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EE805EE4-014C-48DC-A928-7721D28334B1}"/>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F35B0C50-E997-4B3F-B95A-9DD8C4941E6D}"/>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5B6B5DF5-6AAF-4FB2-AAE7-B9D2C899542D}"/>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DEA705C6-1C0E-4100-A988-CBB0A62CEE82}"/>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F7FFF5ED-5CF2-4983-AA24-29F82FF31271}"/>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B7CA40DB-AEFA-44B0-A9EB-0F2E51D21EF9}"/>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1F07717B-31BE-48A8-9A10-95B6B5F820D1}"/>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8458A2D7-1C0E-49E8-B352-ABE6B1E90B3B}"/>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2A656409-FAFB-429A-83D9-D802ADA6AF32}"/>
              </a:ext>
            </a:extLst>
          </p:cNvPr>
          <p:cNvSpPr>
            <a:spLocks xmlns:a="http://schemas.openxmlformats.org/drawingml/2006/main" noGrp="1"/>
          </p:cNvSpPr>
          <p:nvPr/>
        </p:nvSpPr>
        <p:spPr>
          <a:xfrm xmlns:a="http://schemas.openxmlformats.org/drawingml/2006/main">
            <a:off x="1649482" y="2591346"/>
            <a:ext cx="2551043" cy="2018201"/>
          </a:xfrm>
          <a:custGeom xmlns:a="http://schemas.openxmlformats.org/drawingml/2006/main">
            <a:pathLst>
              <a:path w="2551043" h="2018201">
                <a:moveTo>
                  <a:pt x="2280" y="949792"/>
                </a:moveTo>
                <a:lnTo>
                  <a:pt x="0" y="955267"/>
                </a:lnTo>
                <a:lnTo>
                  <a:pt x="2551043" y="2018201"/>
                </a:lnTo>
                <a:lnTo>
                  <a:pt x="2551043" y="357366"/>
                </a:lnTo>
                <a:lnTo>
                  <a:pt x="2074556" y="0"/>
                </a:lnTo>
                <a:close/>
              </a:path>
            </a:pathLst>
          </a:custGeom>
          <a:solidFill xmlns:a="http://schemas.openxmlformats.org/drawingml/2006/main">
            <a:srgbClr val="8E569C">
              <a:alpha val="12000"/>
            </a:srgbClr>
          </a:solidFill>
          <a:ln xmlns:a="http://schemas.openxmlformats.org/drawingml/2006/main" w="13335">
            <a:solidFill>
              <a:srgbClr val="8E569C"/>
            </a:solidFill>
            <a:prstDash val="solid"/>
          </a:ln>
        </p:spPr>
      </p:sp>
      <p:sp>
        <p:nvSpPr>
          <p:cNvPr id="15" name="">
            <a:extLst xmlns:a="http://schemas.openxmlformats.org/drawingml/2006/main">
              <a:ext uri="{FF2B5EF4-FFF2-40B4-BE49-F238E27FC236}">
                <a16:creationId xmlns:a16="http://schemas.microsoft.com/office/drawing/2014/main" id="{FC5511A0-7127-40D8-983E-AC38258FFE95}"/>
              </a:ext>
            </a:extLst>
          </p:cNvPr>
          <p:cNvSpPr>
            <a:spLocks xmlns:a="http://schemas.openxmlformats.org/drawingml/2006/main" noGrp="1"/>
          </p:cNvSpPr>
          <p:nvPr/>
        </p:nvSpPr>
        <p:spPr>
          <a:xfrm xmlns:a="http://schemas.openxmlformats.org/drawingml/2006/main">
            <a:off x="2446683" y="3334026"/>
            <a:ext cx="1753842" cy="1275522"/>
          </a:xfrm>
          <a:custGeom xmlns:a="http://schemas.openxmlformats.org/drawingml/2006/main">
            <a:pathLst>
              <a:path w="1753842" h="1275522">
                <a:moveTo>
                  <a:pt x="0" y="544754"/>
                </a:moveTo>
                <a:lnTo>
                  <a:pt x="1753842" y="1275522"/>
                </a:lnTo>
                <a:lnTo>
                  <a:pt x="1753842" y="730768"/>
                </a:lnTo>
                <a:lnTo>
                  <a:pt x="0" y="0"/>
                </a:lnTo>
                <a:close/>
              </a:path>
            </a:pathLst>
          </a:custGeom>
          <a:solidFill xmlns:a="http://schemas.openxmlformats.org/drawingml/2006/main">
            <a:srgbClr val="3979AD">
              <a:alpha val="32000"/>
            </a:srgbClr>
          </a:solidFill>
          <a:ln xmlns:a="http://schemas.openxmlformats.org/drawingml/2006/main" w="28575">
            <a:solidFill>
              <a:srgbClr val="3979AD"/>
            </a:solidFill>
            <a:prstDash val="solid"/>
          </a:ln>
        </p:spPr>
      </p:sp>
      <p:sp>
        <p:nvSpPr>
          <p:cNvPr id="16" name="">
            <a:extLst xmlns:a="http://schemas.openxmlformats.org/drawingml/2006/main">
              <a:ext uri="{FF2B5EF4-FFF2-40B4-BE49-F238E27FC236}">
                <a16:creationId xmlns:a16="http://schemas.microsoft.com/office/drawing/2014/main" id="{828E69BF-9F5A-4080-B068-0F60F5DBAAD3}"/>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7" name="">
            <a:extLst xmlns:a="http://schemas.openxmlformats.org/drawingml/2006/main">
              <a:ext uri="{FF2B5EF4-FFF2-40B4-BE49-F238E27FC236}">
                <a16:creationId xmlns:a16="http://schemas.microsoft.com/office/drawing/2014/main" id="{21E93AFD-CB76-4461-BF74-20E99F5EA177}"/>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907D7E83-D864-4714-8C0A-A5A0B9FA256B}"/>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9" name="">
            <a:extLst xmlns:a="http://schemas.openxmlformats.org/drawingml/2006/main">
              <a:ext uri="{FF2B5EF4-FFF2-40B4-BE49-F238E27FC236}">
                <a16:creationId xmlns:a16="http://schemas.microsoft.com/office/drawing/2014/main" id="{B8D17F2E-53AF-4346-9C28-73E815E5B5AF}"/>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ABA39532-AC98-4D0A-90E2-F680B46D5D6A}"/>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1" name="">
            <a:extLst xmlns:a="http://schemas.openxmlformats.org/drawingml/2006/main">
              <a:ext uri="{FF2B5EF4-FFF2-40B4-BE49-F238E27FC236}">
                <a16:creationId xmlns:a16="http://schemas.microsoft.com/office/drawing/2014/main" id="{79661964-0934-4C8B-8DEC-FF2C20C9615E}"/>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89E2118E-ACC2-46BE-9A15-33DBDC504077}"/>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3" name="">
            <a:extLst xmlns:a="http://schemas.openxmlformats.org/drawingml/2006/main">
              <a:ext uri="{FF2B5EF4-FFF2-40B4-BE49-F238E27FC236}">
                <a16:creationId xmlns:a16="http://schemas.microsoft.com/office/drawing/2014/main" id="{D4B12ADD-4CA2-4E99-88FB-D665DA9237AC}"/>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4" name="">
            <a:extLst xmlns:a="http://schemas.openxmlformats.org/drawingml/2006/main">
              <a:ext uri="{FF2B5EF4-FFF2-40B4-BE49-F238E27FC236}">
                <a16:creationId xmlns:a16="http://schemas.microsoft.com/office/drawing/2014/main" id="{742306BC-5697-4B78-AF65-40413326CEAE}"/>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5" name="">
            <a:extLst xmlns:a="http://schemas.openxmlformats.org/drawingml/2006/main">
              <a:ext uri="{FF2B5EF4-FFF2-40B4-BE49-F238E27FC236}">
                <a16:creationId xmlns:a16="http://schemas.microsoft.com/office/drawing/2014/main" id="{0D1CCC26-4342-4385-9CD1-D49835A326D3}"/>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6" name="">
            <a:extLst xmlns:a="http://schemas.openxmlformats.org/drawingml/2006/main">
              <a:ext uri="{FF2B5EF4-FFF2-40B4-BE49-F238E27FC236}">
                <a16:creationId xmlns:a16="http://schemas.microsoft.com/office/drawing/2014/main" id="{A85837C4-21AC-4C55-A238-F52BAF13776A}"/>
              </a:ext>
            </a:extLst>
          </p:cNvPr>
          <p:cNvSpPr>
            <a:spLocks xmlns:a="http://schemas.openxmlformats.org/drawingml/2006/main" noGrp="1"/>
          </p:cNvSpPr>
          <p:nvPr/>
        </p:nvSpPr>
        <p:spPr>
          <a:xfrm xmlns:a="http://schemas.openxmlformats.org/drawingml/2006/main">
            <a:off x="8382000" y="1571625"/>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3979AD"/>
                </a:solidFill>
                <a:latin typeface="Arial"/>
                <a:ea typeface="Arial"/>
                <a:cs typeface="Arial"/>
              </a:defRPr>
            </a:pPr>
            <a:r>
              <a:rPr sz="4050" b="1" i="0">
                <a:solidFill>
                  <a:srgbClr val="3979AD"/>
                </a:solidFill>
                <a:latin typeface="Arial"/>
                <a:ea typeface="Arial"/>
                <a:cs typeface="Arial"/>
              </a:rPr>
              <a:t>7.4570%</a:t>
            </a:r>
          </a:p>
        </p:txBody>
      </p:sp>
      <p:sp>
        <p:nvSpPr>
          <p:cNvPr id="27" name="">
            <a:extLst xmlns:a="http://schemas.openxmlformats.org/drawingml/2006/main">
              <a:ext uri="{FF2B5EF4-FFF2-40B4-BE49-F238E27FC236}">
                <a16:creationId xmlns:a16="http://schemas.microsoft.com/office/drawing/2014/main" id="{BF42E096-7119-450B-A15F-B50D670122B4}"/>
              </a:ext>
            </a:extLst>
          </p:cNvPr>
          <p:cNvSpPr>
            <a:spLocks xmlns:a="http://schemas.openxmlformats.org/drawingml/2006/main" noGrp="1"/>
          </p:cNvSpPr>
          <p:nvPr/>
        </p:nvSpPr>
        <p:spPr>
          <a:xfrm xmlns:a="http://schemas.openxmlformats.org/drawingml/2006/main">
            <a:off x="8572500" y="2238375"/>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of the hull remains</a:t>
            </a:r>
          </a:p>
        </p:txBody>
      </p:sp>
      <p:sp>
        <p:nvSpPr>
          <p:cNvPr id="28" name="">
            <a:extLst xmlns:a="http://schemas.openxmlformats.org/drawingml/2006/main">
              <a:ext uri="{FF2B5EF4-FFF2-40B4-BE49-F238E27FC236}">
                <a16:creationId xmlns:a16="http://schemas.microsoft.com/office/drawing/2014/main" id="{6E3E63EC-0FC3-413A-B20A-0C64B88EC68B}"/>
              </a:ext>
            </a:extLst>
          </p:cNvPr>
          <p:cNvSpPr>
            <a:spLocks xmlns:a="http://schemas.openxmlformats.org/drawingml/2006/main" noGrp="1"/>
          </p:cNvSpPr>
          <p:nvPr/>
        </p:nvSpPr>
        <p:spPr>
          <a:xfrm xmlns:a="http://schemas.openxmlformats.org/drawingml/2006/main">
            <a:off x="8115300" y="3200400"/>
            <a:ext cx="34956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i="0">
                <a:solidFill>
                  <a:srgbClr val="3979AD"/>
                </a:solidFill>
                <a:latin typeface="Arial"/>
                <a:ea typeface="Arial"/>
                <a:cs typeface="Arial"/>
              </a:defRPr>
            </a:pPr>
            <a:r>
              <a:rPr sz="1800" b="1" i="0">
                <a:solidFill>
                  <a:srgbClr val="3979AD"/>
                </a:solidFill>
                <a:latin typeface="Arial"/>
                <a:ea typeface="Arial"/>
                <a:cs typeface="Arial"/>
              </a:rPr>
              <a:t>5 ≤ x ≤ 21/2</a:t>
            </a:r>
          </a:p>
          <a:p xmlns:a="http://schemas.openxmlformats.org/drawingml/2006/main">
            <a:pPr algn="ctr">
              <a:defRPr sz="1800" b="1" i="0">
                <a:solidFill>
                  <a:srgbClr val="3979AD"/>
                </a:solidFill>
                <a:latin typeface="Arial"/>
                <a:ea typeface="Arial"/>
                <a:cs typeface="Arial"/>
              </a:defRPr>
            </a:pPr>
            <a:r>
              <a:rPr sz="1800" b="1" i="0">
                <a:solidFill>
                  <a:srgbClr val="3979AD"/>
                </a:solidFill>
                <a:latin typeface="Arial"/>
                <a:ea typeface="Arial"/>
                <a:cs typeface="Arial"/>
              </a:rPr>
              <a:t>169/10 ≤ x + 12y/5 ≤ 21</a:t>
            </a:r>
          </a:p>
        </p:txBody>
      </p:sp>
      <p:sp>
        <p:nvSpPr>
          <p:cNvPr id="29" name="">
            <a:extLst xmlns:a="http://schemas.openxmlformats.org/drawingml/2006/main">
              <a:ext uri="{FF2B5EF4-FFF2-40B4-BE49-F238E27FC236}">
                <a16:creationId xmlns:a16="http://schemas.microsoft.com/office/drawing/2014/main" id="{957E758F-7A2F-4BA9-BFD3-55CA1D9F6A65}"/>
              </a:ext>
            </a:extLst>
          </p:cNvPr>
          <p:cNvSpPr>
            <a:spLocks xmlns:a="http://schemas.openxmlformats.org/drawingml/2006/main" noGrp="1"/>
          </p:cNvSpPr>
          <p:nvPr/>
        </p:nvSpPr>
        <p:spPr>
          <a:xfrm xmlns:a="http://schemas.openxmlformats.org/drawingml/2006/main">
            <a:off x="8191500" y="4248150"/>
            <a:ext cx="33051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475"/>
                </a:solidFill>
                <a:latin typeface="Arial"/>
                <a:ea typeface="Arial"/>
                <a:cs typeface="Arial"/>
              </a:defRPr>
            </a:pPr>
            <a:r>
              <a:rPr sz="1500" b="0" i="0">
                <a:solidFill>
                  <a:srgbClr val="536475"/>
                </a:solidFill>
                <a:latin typeface="Arial"/>
                <a:ea typeface="Arial"/>
                <a:cs typeface="Arial"/>
              </a:rPr>
              <a:t>For each pair, project its midpoint and both remaining points onto the pair direction. Their smallest and largest projections bound the center.</a:t>
            </a:r>
          </a:p>
        </p:txBody>
      </p:sp>
      <p:sp>
        <p:nvSpPr>
          <p:cNvPr id="30" name="">
            <a:extLst xmlns:a="http://schemas.openxmlformats.org/drawingml/2006/main">
              <a:ext uri="{FF2B5EF4-FFF2-40B4-BE49-F238E27FC236}">
                <a16:creationId xmlns:a16="http://schemas.microsoft.com/office/drawing/2014/main" id="{EE3F607A-C137-4CD1-9CB6-7237F6131724}"/>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33</a:t>
            </a:r>
          </a:p>
        </p:txBody>
      </p:sp>
    </p:spTree>
    <p:extLst>
      <p:ext uri="{BB962C8B-B14F-4D97-AF65-F5344CB8AC3E}">
        <p14:creationId xmlns:p14="http://schemas.microsoft.com/office/powerpoint/2010/main" val="1083098994"/>
      </p:ext>
    </p:extLst>
  </p:cSld>
  <p:transition spd="slow" advClick="1">
    <p:fade/>
  </p:transition>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673825B-7DA8-484D-B9CC-AA1A9632CC6D}"/>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Centroid insertion transfers the whole triangle chest</a:t>
            </a:r>
          </a:p>
        </p:txBody>
      </p:sp>
      <p:sp>
        <p:nvSpPr>
          <p:cNvPr id="2" name="">
            <a:extLst xmlns:a="http://schemas.openxmlformats.org/drawingml/2006/main">
              <a:ext uri="{FF2B5EF4-FFF2-40B4-BE49-F238E27FC236}">
                <a16:creationId xmlns:a16="http://schemas.microsoft.com/office/drawing/2014/main" id="{9467F2DC-F25C-4482-861C-36B4D878F625}"/>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This special insertion theorem needs no absorption or stability axiom</a:t>
            </a:r>
          </a:p>
        </p:txBody>
      </p:sp>
      <p:sp>
        <p:nvSpPr>
          <p:cNvPr id="3" name="">
            <a:extLst xmlns:a="http://schemas.openxmlformats.org/drawingml/2006/main">
              <a:ext uri="{FF2B5EF4-FFF2-40B4-BE49-F238E27FC236}">
                <a16:creationId xmlns:a16="http://schemas.microsoft.com/office/drawing/2014/main" id="{49C50F7F-5D3F-4F96-9FFD-E862AEFD6799}"/>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0493684C-B402-4296-976D-01A2B56F7A21}"/>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45C29D6E-BB9C-4C48-946F-A3F86854CED0}"/>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1BA6DCEB-FAA4-444A-B7DE-82E92C19DF71}"/>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D1BB7C72-DADB-4DAB-A9FA-2AF4AD451BBD}"/>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D0132026-315F-4045-9DE5-71D460D64BDD}"/>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763F6521-8D2E-4A5B-95F1-81578A082B2B}"/>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188A05D7-5653-49A2-8B27-7F74D8DD1C78}"/>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568932A6-B749-4F19-924A-60A016CE8A25}"/>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AB43DF6E-6A12-41CA-820F-CEFA36E0E368}"/>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7D5850D9-8A9D-4B28-9B2F-B7B211D11E1A}"/>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DB83511B-0125-4A39-A995-FB8E48907D21}"/>
              </a:ext>
            </a:extLst>
          </p:cNvPr>
          <p:cNvSpPr>
            <a:spLocks xmlns:a="http://schemas.openxmlformats.org/drawingml/2006/main" noGrp="1"/>
          </p:cNvSpPr>
          <p:nvPr/>
        </p:nvSpPr>
        <p:spPr>
          <a:xfrm xmlns:a="http://schemas.openxmlformats.org/drawingml/2006/main">
            <a:off x="1647795" y="2591346"/>
            <a:ext cx="3936225" cy="2868550"/>
          </a:xfrm>
          <a:custGeom xmlns:a="http://schemas.openxmlformats.org/drawingml/2006/main">
            <a:pathLst>
              <a:path w="3936225" h="2868550">
                <a:moveTo>
                  <a:pt x="880649" y="2868550"/>
                </a:moveTo>
                <a:lnTo>
                  <a:pt x="2552730" y="2868550"/>
                </a:lnTo>
                <a:lnTo>
                  <a:pt x="3932845" y="2235986"/>
                </a:lnTo>
                <a:lnTo>
                  <a:pt x="3936225" y="2225591"/>
                </a:lnTo>
                <a:lnTo>
                  <a:pt x="3349931" y="955267"/>
                </a:lnTo>
                <a:lnTo>
                  <a:pt x="2076243" y="0"/>
                </a:lnTo>
                <a:lnTo>
                  <a:pt x="3967" y="949792"/>
                </a:lnTo>
                <a:lnTo>
                  <a:pt x="1687" y="955267"/>
                </a:lnTo>
                <a:lnTo>
                  <a:pt x="0" y="960468"/>
                </a:lnTo>
                <a:close/>
              </a:path>
            </a:pathLst>
          </a:custGeom>
          <a:solidFill xmlns:a="http://schemas.openxmlformats.org/drawingml/2006/main">
            <a:srgbClr val="A87819">
              <a:alpha val="10000"/>
            </a:srgbClr>
          </a:solidFill>
          <a:ln xmlns:a="http://schemas.openxmlformats.org/drawingml/2006/main" w="12383">
            <a:solidFill>
              <a:srgbClr val="A87819"/>
            </a:solidFill>
            <a:prstDash val="solid"/>
          </a:ln>
        </p:spPr>
      </p:sp>
      <p:sp>
        <p:nvSpPr>
          <p:cNvPr id="15" name="">
            <a:extLst xmlns:a="http://schemas.openxmlformats.org/drawingml/2006/main">
              <a:ext uri="{FF2B5EF4-FFF2-40B4-BE49-F238E27FC236}">
                <a16:creationId xmlns:a16="http://schemas.microsoft.com/office/drawing/2014/main" id="{330FB1FA-353C-4267-ADB3-73117A9C7621}"/>
              </a:ext>
            </a:extLst>
          </p:cNvPr>
          <p:cNvSpPr>
            <a:spLocks xmlns:a="http://schemas.openxmlformats.org/drawingml/2006/main" noGrp="1"/>
          </p:cNvSpPr>
          <p:nvPr/>
        </p:nvSpPr>
        <p:spPr>
          <a:xfrm xmlns:a="http://schemas.openxmlformats.org/drawingml/2006/main">
            <a:off x="2754115" y="3505178"/>
            <a:ext cx="1446410" cy="1104369"/>
          </a:xfrm>
          <a:custGeom xmlns:a="http://schemas.openxmlformats.org/drawingml/2006/main">
            <a:pathLst>
              <a:path w="1446410" h="1104369">
                <a:moveTo>
                  <a:pt x="1446410" y="1104369"/>
                </a:moveTo>
                <a:lnTo>
                  <a:pt x="1446410" y="559616"/>
                </a:lnTo>
                <a:lnTo>
                  <a:pt x="103330" y="0"/>
                </a:lnTo>
                <a:lnTo>
                  <a:pt x="0" y="501701"/>
                </a:lnTo>
                <a:close/>
              </a:path>
            </a:pathLst>
          </a:custGeom>
          <a:solidFill xmlns:a="http://schemas.openxmlformats.org/drawingml/2006/main">
            <a:srgbClr val="158368">
              <a:alpha val="35000"/>
            </a:srgbClr>
          </a:solidFill>
          <a:ln xmlns:a="http://schemas.openxmlformats.org/drawingml/2006/main" w="28575">
            <a:solidFill>
              <a:srgbClr val="158368"/>
            </a:solidFill>
            <a:prstDash val="solid"/>
          </a:ln>
        </p:spPr>
      </p:sp>
      <p:sp>
        <p:nvSpPr>
          <p:cNvPr id="16" name="">
            <a:extLst xmlns:a="http://schemas.openxmlformats.org/drawingml/2006/main">
              <a:ext uri="{FF2B5EF4-FFF2-40B4-BE49-F238E27FC236}">
                <a16:creationId xmlns:a16="http://schemas.microsoft.com/office/drawing/2014/main" id="{6295D31D-3B92-4FF8-8460-A0C612442AF2}"/>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7" name="">
            <a:extLst xmlns:a="http://schemas.openxmlformats.org/drawingml/2006/main">
              <a:ext uri="{FF2B5EF4-FFF2-40B4-BE49-F238E27FC236}">
                <a16:creationId xmlns:a16="http://schemas.microsoft.com/office/drawing/2014/main" id="{8DAFA473-D924-4847-98AB-BC03CFD0FD32}"/>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22B1AD32-4481-4BAF-BDDF-B2227B28C501}"/>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9" name="">
            <a:extLst xmlns:a="http://schemas.openxmlformats.org/drawingml/2006/main">
              <a:ext uri="{FF2B5EF4-FFF2-40B4-BE49-F238E27FC236}">
                <a16:creationId xmlns:a16="http://schemas.microsoft.com/office/drawing/2014/main" id="{DBED92B1-C3D1-4326-91E4-021FAB18D185}"/>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A586C3D3-1524-4955-AC2D-3BBB613292F6}"/>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1" name="">
            <a:extLst xmlns:a="http://schemas.openxmlformats.org/drawingml/2006/main">
              <a:ext uri="{FF2B5EF4-FFF2-40B4-BE49-F238E27FC236}">
                <a16:creationId xmlns:a16="http://schemas.microsoft.com/office/drawing/2014/main" id="{EE2CF410-F90B-4B6D-9846-4E58003100C7}"/>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92471AB0-CF31-4780-B1E1-A6A2CF2B59A2}"/>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3" name="">
            <a:extLst xmlns:a="http://schemas.openxmlformats.org/drawingml/2006/main">
              <a:ext uri="{FF2B5EF4-FFF2-40B4-BE49-F238E27FC236}">
                <a16:creationId xmlns:a16="http://schemas.microsoft.com/office/drawing/2014/main" id="{A1A75743-2A04-4598-83FD-39DB9B19CE30}"/>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4" name="">
            <a:extLst xmlns:a="http://schemas.openxmlformats.org/drawingml/2006/main">
              <a:ext uri="{FF2B5EF4-FFF2-40B4-BE49-F238E27FC236}">
                <a16:creationId xmlns:a16="http://schemas.microsoft.com/office/drawing/2014/main" id="{8C5D0DC0-5ABB-4FBD-829F-80A1BCB01547}"/>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5" name="">
            <a:extLst xmlns:a="http://schemas.openxmlformats.org/drawingml/2006/main">
              <a:ext uri="{FF2B5EF4-FFF2-40B4-BE49-F238E27FC236}">
                <a16:creationId xmlns:a16="http://schemas.microsoft.com/office/drawing/2014/main" id="{37052223-EC78-4C96-A32D-CCF5502A1BB0}"/>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6" name="">
            <a:extLst xmlns:a="http://schemas.openxmlformats.org/drawingml/2006/main">
              <a:ext uri="{FF2B5EF4-FFF2-40B4-BE49-F238E27FC236}">
                <a16:creationId xmlns:a16="http://schemas.microsoft.com/office/drawing/2014/main" id="{93B6B6DF-3F2E-4916-A5C1-8C4F2D21C732}"/>
              </a:ext>
            </a:extLst>
          </p:cNvPr>
          <p:cNvSpPr>
            <a:spLocks xmlns:a="http://schemas.openxmlformats.org/drawingml/2006/main" noGrp="1"/>
          </p:cNvSpPr>
          <p:nvPr/>
        </p:nvSpPr>
        <p:spPr>
          <a:xfrm xmlns:a="http://schemas.openxmlformats.org/drawingml/2006/main">
            <a:off x="8134350" y="1581150"/>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00" b="1" i="0">
                <a:solidFill>
                  <a:srgbClr val="158368"/>
                </a:solidFill>
                <a:latin typeface="Arial"/>
                <a:ea typeface="Arial"/>
                <a:cs typeface="Arial"/>
              </a:defRPr>
            </a:pPr>
            <a:r>
              <a:rPr sz="2100" b="1" i="0">
                <a:solidFill>
                  <a:srgbClr val="158368"/>
                </a:solidFill>
                <a:latin typeface="Arial"/>
                <a:ea typeface="Arial"/>
                <a:cs typeface="Arial"/>
              </a:rPr>
              <a:t>Y(P) = X₄(P, G₃(P))</a:t>
            </a:r>
          </a:p>
        </p:txBody>
      </p:sp>
      <p:sp>
        <p:nvSpPr>
          <p:cNvPr id="27" name="">
            <a:extLst xmlns:a="http://schemas.openxmlformats.org/drawingml/2006/main">
              <a:ext uri="{FF2B5EF4-FFF2-40B4-BE49-F238E27FC236}">
                <a16:creationId xmlns:a16="http://schemas.microsoft.com/office/drawing/2014/main" id="{66030A31-98BB-4077-819D-18206B637EDE}"/>
              </a:ext>
            </a:extLst>
          </p:cNvPr>
          <p:cNvSpPr>
            <a:spLocks xmlns:a="http://schemas.openxmlformats.org/drawingml/2006/main" noGrp="1"/>
          </p:cNvSpPr>
          <p:nvPr/>
        </p:nvSpPr>
        <p:spPr>
          <a:xfrm xmlns:a="http://schemas.openxmlformats.org/drawingml/2006/main">
            <a:off x="8191500" y="2428875"/>
            <a:ext cx="333375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Move one triangle vertex by h.</a:t>
            </a:r>
          </a:p>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Its centroid moves by h/3.</a:t>
            </a:r>
          </a:p>
          <a:p xmlns:a="http://schemas.openxmlformats.org/drawingml/2006/main">
            <a:r>
              <a:t/>
            </a:r>
          </a:p>
          <a:p xmlns:a="http://schemas.openxmlformats.org/drawingml/2006/main">
            <a:pPr algn="l">
              <a:defRPr sz="1575" b="0" i="0">
                <a:solidFill>
                  <a:srgbClr val="243849"/>
                </a:solidFill>
                <a:latin typeface="Arial"/>
                <a:ea typeface="Arial"/>
                <a:cs typeface="Arial"/>
              </a:defRPr>
            </a:pPr>
            <a:r>
              <a:rPr sz="1575" b="0" i="0">
                <a:solidFill>
                  <a:srgbClr val="243849"/>
                </a:solidFill>
                <a:latin typeface="Arial"/>
                <a:ea typeface="Arial"/>
                <a:cs typeface="Arial"/>
              </a:rPr>
              <a:t>Restore these two inputs one at a time. Their parallel responses add to a nonnegative h-projection.</a:t>
            </a:r>
          </a:p>
        </p:txBody>
      </p:sp>
      <p:sp>
        <p:nvSpPr>
          <p:cNvPr id="28" name="">
            <a:extLst xmlns:a="http://schemas.openxmlformats.org/drawingml/2006/main">
              <a:ext uri="{FF2B5EF4-FFF2-40B4-BE49-F238E27FC236}">
                <a16:creationId xmlns:a16="http://schemas.microsoft.com/office/drawing/2014/main" id="{9D40AA94-B112-4816-9DF3-EA2C3161359C}"/>
              </a:ext>
            </a:extLst>
          </p:cNvPr>
          <p:cNvSpPr>
            <a:spLocks xmlns:a="http://schemas.openxmlformats.org/drawingml/2006/main" noGrp="1"/>
          </p:cNvSpPr>
          <p:nvPr/>
        </p:nvSpPr>
        <p:spPr>
          <a:xfrm xmlns:a="http://schemas.openxmlformats.org/drawingml/2006/main">
            <a:off x="8191500" y="4667250"/>
            <a:ext cx="328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158368"/>
                </a:solidFill>
                <a:latin typeface="Arial"/>
                <a:ea typeface="Arial"/>
                <a:cs typeface="Arial"/>
              </a:defRPr>
            </a:pPr>
            <a:r>
              <a:rPr sz="1650" b="1" i="0">
                <a:solidFill>
                  <a:srgbClr val="158368"/>
                </a:solidFill>
                <a:latin typeface="Arial"/>
                <a:ea typeface="Arial"/>
                <a:cs typeface="Arial"/>
              </a:rPr>
              <a:t>Therefore Y is attractive.</a:t>
            </a:r>
          </a:p>
          <a:p xmlns:a="http://schemas.openxmlformats.org/drawingml/2006/main">
            <a:pPr algn="l">
              <a:defRPr sz="1650" b="1" i="0">
                <a:solidFill>
                  <a:srgbClr val="158368"/>
                </a:solidFill>
                <a:latin typeface="Arial"/>
                <a:ea typeface="Arial"/>
                <a:cs typeface="Arial"/>
              </a:defRPr>
            </a:pPr>
            <a:r>
              <a:rPr sz="1650" b="1" i="0">
                <a:solidFill>
                  <a:srgbClr val="158368"/>
                </a:solidFill>
                <a:latin typeface="Arial"/>
                <a:ea typeface="Arial"/>
                <a:cs typeface="Arial"/>
              </a:rPr>
              <a:t>At D = G₃(P), X₄(P,D) lies in the standard triangle chest.</a:t>
            </a:r>
          </a:p>
        </p:txBody>
      </p:sp>
      <p:sp>
        <p:nvSpPr>
          <p:cNvPr id="29" name="">
            <a:extLst xmlns:a="http://schemas.openxmlformats.org/drawingml/2006/main">
              <a:ext uri="{FF2B5EF4-FFF2-40B4-BE49-F238E27FC236}">
                <a16:creationId xmlns:a16="http://schemas.microsoft.com/office/drawing/2014/main" id="{DEEE6657-8D23-405E-B987-0A2ECB3D8EA4}"/>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34</a:t>
            </a:r>
          </a:p>
        </p:txBody>
      </p:sp>
    </p:spTree>
    <p:extLst>
      <p:ext uri="{BB962C8B-B14F-4D97-AF65-F5344CB8AC3E}">
        <p14:creationId xmlns:p14="http://schemas.microsoft.com/office/powerpoint/2010/main" val="1705503831"/>
      </p:ext>
    </p:extLst>
  </p:cSld>
  <p:transition spd="slow" advClick="1">
    <p:fade/>
  </p:transition>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BF2D7EB-DAA8-4CC6-AEB2-C2435754093A}"/>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What the successive certificates achieve</a:t>
            </a:r>
          </a:p>
        </p:txBody>
      </p:sp>
      <p:sp>
        <p:nvSpPr>
          <p:cNvPr id="2" name="">
            <a:extLst xmlns:a="http://schemas.openxmlformats.org/drawingml/2006/main">
              <a:ext uri="{FF2B5EF4-FFF2-40B4-BE49-F238E27FC236}">
                <a16:creationId xmlns:a16="http://schemas.microsoft.com/office/drawing/2014/main" id="{C1FA635F-CAB7-4ADA-9752-E767CEFDE30E}"/>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All retained percentages use the same hull area: 126</a:t>
            </a:r>
          </a:p>
        </p:txBody>
      </p:sp>
      <p:sp>
        <p:nvSpPr>
          <p:cNvPr id="3" name="">
            <a:extLst xmlns:a="http://schemas.openxmlformats.org/drawingml/2006/main">
              <a:ext uri="{FF2B5EF4-FFF2-40B4-BE49-F238E27FC236}">
                <a16:creationId xmlns:a16="http://schemas.microsoft.com/office/drawing/2014/main" id="{8F591DFB-4CE1-472C-BFAC-C28C32AA6E19}"/>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808A69B2-512E-40D5-BD00-E3DBE7339CB9}"/>
              </a:ext>
            </a:extLst>
          </p:cNvPr>
          <p:cNvSpPr>
            <a:spLocks xmlns:a="http://schemas.openxmlformats.org/drawingml/2006/main" noGrp="1"/>
          </p:cNvSpPr>
          <p:nvPr/>
        </p:nvSpPr>
        <p:spPr>
          <a:xfrm xmlns:a="http://schemas.openxmlformats.org/drawingml/2006/main">
            <a:off x="476250" y="154305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i="0">
                <a:solidFill>
                  <a:srgbClr val="243849"/>
                </a:solidFill>
                <a:latin typeface="Arial"/>
                <a:ea typeface="Arial"/>
                <a:cs typeface="Arial"/>
              </a:defRPr>
            </a:pPr>
            <a:r>
              <a:rPr sz="1350" b="0" i="0">
                <a:solidFill>
                  <a:srgbClr val="243849"/>
                </a:solidFill>
                <a:latin typeface="Arial"/>
                <a:ea typeface="Arial"/>
                <a:cs typeface="Arial"/>
              </a:rPr>
              <a:t>Convex hull</a:t>
            </a:r>
          </a:p>
        </p:txBody>
      </p:sp>
      <p:sp>
        <p:nvSpPr>
          <p:cNvPr id="5" name="">
            <a:extLst xmlns:a="http://schemas.openxmlformats.org/drawingml/2006/main">
              <a:ext uri="{FF2B5EF4-FFF2-40B4-BE49-F238E27FC236}">
                <a16:creationId xmlns:a16="http://schemas.microsoft.com/office/drawing/2014/main" id="{73FB08E0-C256-47EB-B0E4-64C5D1F4910F}"/>
              </a:ext>
            </a:extLst>
          </p:cNvPr>
          <p:cNvSpPr>
            <a:spLocks xmlns:a="http://schemas.openxmlformats.org/drawingml/2006/main" noGrp="1"/>
          </p:cNvSpPr>
          <p:nvPr/>
        </p:nvSpPr>
        <p:spPr>
          <a:xfrm xmlns:a="http://schemas.openxmlformats.org/drawingml/2006/main">
            <a:off x="3714750" y="1514475"/>
            <a:ext cx="6477000" cy="304800"/>
          </a:xfrm>
          <a:prstGeom xmlns:a="http://schemas.openxmlformats.org/drawingml/2006/main" prst="rect">
            <a:avLst/>
          </a:prstGeom>
          <a:solidFill xmlns:a="http://schemas.openxmlformats.org/drawingml/2006/main">
            <a:srgbClr val="F4F6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C4FB815-C698-4A30-B46B-2BD4332858FC}"/>
              </a:ext>
            </a:extLst>
          </p:cNvPr>
          <p:cNvSpPr>
            <a:spLocks xmlns:a="http://schemas.openxmlformats.org/drawingml/2006/main" noGrp="1"/>
          </p:cNvSpPr>
          <p:nvPr/>
        </p:nvSpPr>
        <p:spPr>
          <a:xfrm xmlns:a="http://schemas.openxmlformats.org/drawingml/2006/main">
            <a:off x="3714750" y="1514475"/>
            <a:ext cx="6477000" cy="304800"/>
          </a:xfrm>
          <a:prstGeom xmlns:a="http://schemas.openxmlformats.org/drawingml/2006/main" prst="rect">
            <a:avLst/>
          </a:prstGeom>
          <a:solidFill xmlns:a="http://schemas.openxmlformats.org/drawingml/2006/main">
            <a:srgbClr val="9AA9B6">
              <a:alpha val="55000"/>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0BB17D-BF3A-42B6-9914-1758BFD49862}"/>
              </a:ext>
            </a:extLst>
          </p:cNvPr>
          <p:cNvSpPr>
            <a:spLocks xmlns:a="http://schemas.openxmlformats.org/drawingml/2006/main" noGrp="1"/>
          </p:cNvSpPr>
          <p:nvPr/>
        </p:nvSpPr>
        <p:spPr>
          <a:xfrm xmlns:a="http://schemas.openxmlformats.org/drawingml/2006/main">
            <a:off x="10287000" y="151447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9AA9B6"/>
                </a:solidFill>
                <a:latin typeface="Arial"/>
                <a:ea typeface="Arial"/>
                <a:cs typeface="Arial"/>
              </a:defRPr>
            </a:pPr>
            <a:r>
              <a:rPr sz="1650" b="1" i="0">
                <a:solidFill>
                  <a:srgbClr val="9AA9B6"/>
                </a:solidFill>
                <a:latin typeface="Arial"/>
                <a:ea typeface="Arial"/>
                <a:cs typeface="Arial"/>
              </a:rPr>
              <a:t>100.0000%</a:t>
            </a:r>
          </a:p>
        </p:txBody>
      </p:sp>
      <p:sp>
        <p:nvSpPr>
          <p:cNvPr id="8" name="">
            <a:extLst xmlns:a="http://schemas.openxmlformats.org/drawingml/2006/main">
              <a:ext uri="{FF2B5EF4-FFF2-40B4-BE49-F238E27FC236}">
                <a16:creationId xmlns:a16="http://schemas.microsoft.com/office/drawing/2014/main" id="{EAF0A97D-2D00-43D6-AF2F-B35E0C8DCC9A}"/>
              </a:ext>
            </a:extLst>
          </p:cNvPr>
          <p:cNvSpPr>
            <a:spLocks xmlns:a="http://schemas.openxmlformats.org/drawingml/2006/main" noGrp="1"/>
          </p:cNvSpPr>
          <p:nvPr/>
        </p:nvSpPr>
        <p:spPr>
          <a:xfrm xmlns:a="http://schemas.openxmlformats.org/drawingml/2006/main">
            <a:off x="476250" y="219075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i="0">
                <a:solidFill>
                  <a:srgbClr val="243849"/>
                </a:solidFill>
                <a:latin typeface="Arial"/>
                <a:ea typeface="Arial"/>
                <a:cs typeface="Arial"/>
              </a:defRPr>
            </a:pPr>
            <a:r>
              <a:rPr sz="1350" b="0" i="0">
                <a:solidFill>
                  <a:srgbClr val="243849"/>
                </a:solidFill>
                <a:latin typeface="Arial"/>
                <a:ea typeface="Arial"/>
                <a:cs typeface="Arial"/>
              </a:rPr>
              <a:t>Midpoint strips</a:t>
            </a:r>
          </a:p>
        </p:txBody>
      </p:sp>
      <p:sp>
        <p:nvSpPr>
          <p:cNvPr id="9" name="">
            <a:extLst xmlns:a="http://schemas.openxmlformats.org/drawingml/2006/main">
              <a:ext uri="{FF2B5EF4-FFF2-40B4-BE49-F238E27FC236}">
                <a16:creationId xmlns:a16="http://schemas.microsoft.com/office/drawing/2014/main" id="{ACF1A840-10F7-4AC1-8F6F-216570AB22E2}"/>
              </a:ext>
            </a:extLst>
          </p:cNvPr>
          <p:cNvSpPr>
            <a:spLocks xmlns:a="http://schemas.openxmlformats.org/drawingml/2006/main" noGrp="1"/>
          </p:cNvSpPr>
          <p:nvPr/>
        </p:nvSpPr>
        <p:spPr>
          <a:xfrm xmlns:a="http://schemas.openxmlformats.org/drawingml/2006/main">
            <a:off x="3714750" y="2162175"/>
            <a:ext cx="6477000" cy="304800"/>
          </a:xfrm>
          <a:prstGeom xmlns:a="http://schemas.openxmlformats.org/drawingml/2006/main" prst="rect">
            <a:avLst/>
          </a:prstGeom>
          <a:solidFill xmlns:a="http://schemas.openxmlformats.org/drawingml/2006/main">
            <a:srgbClr val="F4F6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49AD25B-DA42-4BCE-A76E-80B0E3D89321}"/>
              </a:ext>
            </a:extLst>
          </p:cNvPr>
          <p:cNvSpPr>
            <a:spLocks xmlns:a="http://schemas.openxmlformats.org/drawingml/2006/main" noGrp="1"/>
          </p:cNvSpPr>
          <p:nvPr/>
        </p:nvSpPr>
        <p:spPr>
          <a:xfrm xmlns:a="http://schemas.openxmlformats.org/drawingml/2006/main">
            <a:off x="3714750" y="2162175"/>
            <a:ext cx="3783248" cy="304800"/>
          </a:xfrm>
          <a:prstGeom xmlns:a="http://schemas.openxmlformats.org/drawingml/2006/main" prst="rect">
            <a:avLst/>
          </a:prstGeom>
          <a:solidFill xmlns:a="http://schemas.openxmlformats.org/drawingml/2006/main">
            <a:srgbClr val="A87819">
              <a:alpha val="55000"/>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D133AF3-A723-4578-BDFF-A755A131F9A6}"/>
              </a:ext>
            </a:extLst>
          </p:cNvPr>
          <p:cNvSpPr>
            <a:spLocks xmlns:a="http://schemas.openxmlformats.org/drawingml/2006/main" noGrp="1"/>
          </p:cNvSpPr>
          <p:nvPr/>
        </p:nvSpPr>
        <p:spPr>
          <a:xfrm xmlns:a="http://schemas.openxmlformats.org/drawingml/2006/main">
            <a:off x="10287000" y="216217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A87819"/>
                </a:solidFill>
                <a:latin typeface="Arial"/>
                <a:ea typeface="Arial"/>
                <a:cs typeface="Arial"/>
              </a:defRPr>
            </a:pPr>
            <a:r>
              <a:rPr sz="1650" b="1" i="0">
                <a:solidFill>
                  <a:srgbClr val="A87819"/>
                </a:solidFill>
                <a:latin typeface="Arial"/>
                <a:ea typeface="Arial"/>
                <a:cs typeface="Arial"/>
              </a:rPr>
              <a:t>58.4105%</a:t>
            </a:r>
          </a:p>
        </p:txBody>
      </p:sp>
      <p:sp>
        <p:nvSpPr>
          <p:cNvPr id="12" name="">
            <a:extLst xmlns:a="http://schemas.openxmlformats.org/drawingml/2006/main">
              <a:ext uri="{FF2B5EF4-FFF2-40B4-BE49-F238E27FC236}">
                <a16:creationId xmlns:a16="http://schemas.microsoft.com/office/drawing/2014/main" id="{42BEE8D3-7274-4C64-AF6B-B64C7CADD200}"/>
              </a:ext>
            </a:extLst>
          </p:cNvPr>
          <p:cNvSpPr>
            <a:spLocks xmlns:a="http://schemas.openxmlformats.org/drawingml/2006/main" noGrp="1"/>
          </p:cNvSpPr>
          <p:nvPr/>
        </p:nvSpPr>
        <p:spPr>
          <a:xfrm xmlns:a="http://schemas.openxmlformats.org/drawingml/2006/main">
            <a:off x="476250" y="283845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i="0">
                <a:solidFill>
                  <a:srgbClr val="243849"/>
                </a:solidFill>
                <a:latin typeface="Arial"/>
                <a:ea typeface="Arial"/>
                <a:cs typeface="Arial"/>
              </a:defRPr>
            </a:pPr>
            <a:r>
              <a:rPr sz="1350" b="0" i="0">
                <a:solidFill>
                  <a:srgbClr val="243849"/>
                </a:solidFill>
                <a:latin typeface="Arial"/>
                <a:ea typeface="Arial"/>
                <a:cs typeface="Arial"/>
              </a:rPr>
              <a:t>Reference network alone</a:t>
            </a:r>
          </a:p>
        </p:txBody>
      </p:sp>
      <p:sp>
        <p:nvSpPr>
          <p:cNvPr id="13" name="">
            <a:extLst xmlns:a="http://schemas.openxmlformats.org/drawingml/2006/main">
              <a:ext uri="{FF2B5EF4-FFF2-40B4-BE49-F238E27FC236}">
                <a16:creationId xmlns:a16="http://schemas.microsoft.com/office/drawing/2014/main" id="{343D6299-F110-4C11-BD87-7E1C458B3CE9}"/>
              </a:ext>
            </a:extLst>
          </p:cNvPr>
          <p:cNvSpPr>
            <a:spLocks xmlns:a="http://schemas.openxmlformats.org/drawingml/2006/main" noGrp="1"/>
          </p:cNvSpPr>
          <p:nvPr/>
        </p:nvSpPr>
        <p:spPr>
          <a:xfrm xmlns:a="http://schemas.openxmlformats.org/drawingml/2006/main">
            <a:off x="3714750" y="2809875"/>
            <a:ext cx="6477000" cy="304800"/>
          </a:xfrm>
          <a:prstGeom xmlns:a="http://schemas.openxmlformats.org/drawingml/2006/main" prst="rect">
            <a:avLst/>
          </a:prstGeom>
          <a:solidFill xmlns:a="http://schemas.openxmlformats.org/drawingml/2006/main">
            <a:srgbClr val="F4F6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A786503-EF97-4702-B7BA-FC1172052FF1}"/>
              </a:ext>
            </a:extLst>
          </p:cNvPr>
          <p:cNvSpPr>
            <a:spLocks xmlns:a="http://schemas.openxmlformats.org/drawingml/2006/main" noGrp="1"/>
          </p:cNvSpPr>
          <p:nvPr/>
        </p:nvSpPr>
        <p:spPr>
          <a:xfrm xmlns:a="http://schemas.openxmlformats.org/drawingml/2006/main">
            <a:off x="3714750" y="2809875"/>
            <a:ext cx="1994968" cy="304800"/>
          </a:xfrm>
          <a:prstGeom xmlns:a="http://schemas.openxmlformats.org/drawingml/2006/main" prst="rect">
            <a:avLst/>
          </a:prstGeom>
          <a:solidFill xmlns:a="http://schemas.openxmlformats.org/drawingml/2006/main">
            <a:srgbClr val="3979AD">
              <a:alpha val="55000"/>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89E06C8-65CC-4A2B-A55A-5C6066881531}"/>
              </a:ext>
            </a:extLst>
          </p:cNvPr>
          <p:cNvSpPr>
            <a:spLocks xmlns:a="http://schemas.openxmlformats.org/drawingml/2006/main" noGrp="1"/>
          </p:cNvSpPr>
          <p:nvPr/>
        </p:nvSpPr>
        <p:spPr>
          <a:xfrm xmlns:a="http://schemas.openxmlformats.org/drawingml/2006/main">
            <a:off x="10287000" y="280987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3979AD"/>
                </a:solidFill>
                <a:latin typeface="Arial"/>
                <a:ea typeface="Arial"/>
                <a:cs typeface="Arial"/>
              </a:defRPr>
            </a:pPr>
            <a:r>
              <a:rPr sz="1650" b="1" i="0">
                <a:solidFill>
                  <a:srgbClr val="3979AD"/>
                </a:solidFill>
                <a:latin typeface="Arial"/>
                <a:ea typeface="Arial"/>
                <a:cs typeface="Arial"/>
              </a:rPr>
              <a:t>30.8008%</a:t>
            </a:r>
          </a:p>
        </p:txBody>
      </p:sp>
      <p:sp>
        <p:nvSpPr>
          <p:cNvPr id="16" name="">
            <a:extLst xmlns:a="http://schemas.openxmlformats.org/drawingml/2006/main">
              <a:ext uri="{FF2B5EF4-FFF2-40B4-BE49-F238E27FC236}">
                <a16:creationId xmlns:a16="http://schemas.microsoft.com/office/drawing/2014/main" id="{531A0D9F-A8DB-401F-A028-7C02623967E4}"/>
              </a:ext>
            </a:extLst>
          </p:cNvPr>
          <p:cNvSpPr>
            <a:spLocks xmlns:a="http://schemas.openxmlformats.org/drawingml/2006/main" noGrp="1"/>
          </p:cNvSpPr>
          <p:nvPr/>
        </p:nvSpPr>
        <p:spPr>
          <a:xfrm xmlns:a="http://schemas.openxmlformats.org/drawingml/2006/main">
            <a:off x="476250" y="348615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i="0">
                <a:solidFill>
                  <a:srgbClr val="243849"/>
                </a:solidFill>
                <a:latin typeface="Arial"/>
                <a:ea typeface="Arial"/>
                <a:cs typeface="Arial"/>
              </a:defRPr>
            </a:pPr>
            <a:r>
              <a:rPr sz="1350" b="0" i="0">
                <a:solidFill>
                  <a:srgbClr val="243849"/>
                </a:solidFill>
                <a:latin typeface="Arial"/>
                <a:ea typeface="Arial"/>
                <a:cs typeface="Arial"/>
              </a:rPr>
              <a:t>Strips + useful bisectors</a:t>
            </a:r>
          </a:p>
        </p:txBody>
      </p:sp>
      <p:sp>
        <p:nvSpPr>
          <p:cNvPr id="17" name="">
            <a:extLst xmlns:a="http://schemas.openxmlformats.org/drawingml/2006/main">
              <a:ext uri="{FF2B5EF4-FFF2-40B4-BE49-F238E27FC236}">
                <a16:creationId xmlns:a16="http://schemas.microsoft.com/office/drawing/2014/main" id="{21544587-4C90-4F2A-BEC3-3E5BF8C54008}"/>
              </a:ext>
            </a:extLst>
          </p:cNvPr>
          <p:cNvSpPr>
            <a:spLocks xmlns:a="http://schemas.openxmlformats.org/drawingml/2006/main" noGrp="1"/>
          </p:cNvSpPr>
          <p:nvPr/>
        </p:nvSpPr>
        <p:spPr>
          <a:xfrm xmlns:a="http://schemas.openxmlformats.org/drawingml/2006/main">
            <a:off x="3714750" y="3457575"/>
            <a:ext cx="6477000" cy="304800"/>
          </a:xfrm>
          <a:prstGeom xmlns:a="http://schemas.openxmlformats.org/drawingml/2006/main" prst="rect">
            <a:avLst/>
          </a:prstGeom>
          <a:solidFill xmlns:a="http://schemas.openxmlformats.org/drawingml/2006/main">
            <a:srgbClr val="F4F6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364C5E3-72BF-4A1A-A1A2-5AB8F17EF689}"/>
              </a:ext>
            </a:extLst>
          </p:cNvPr>
          <p:cNvSpPr>
            <a:spLocks xmlns:a="http://schemas.openxmlformats.org/drawingml/2006/main" noGrp="1"/>
          </p:cNvSpPr>
          <p:nvPr/>
        </p:nvSpPr>
        <p:spPr>
          <a:xfrm xmlns:a="http://schemas.openxmlformats.org/drawingml/2006/main">
            <a:off x="3714750" y="3457575"/>
            <a:ext cx="1375695" cy="304800"/>
          </a:xfrm>
          <a:prstGeom xmlns:a="http://schemas.openxmlformats.org/drawingml/2006/main" prst="rect">
            <a:avLst/>
          </a:prstGeom>
          <a:solidFill xmlns:a="http://schemas.openxmlformats.org/drawingml/2006/main">
            <a:srgbClr val="8E569C">
              <a:alpha val="55000"/>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39E61E2-7880-4065-9767-7ABA16CBE5C2}"/>
              </a:ext>
            </a:extLst>
          </p:cNvPr>
          <p:cNvSpPr>
            <a:spLocks xmlns:a="http://schemas.openxmlformats.org/drawingml/2006/main" noGrp="1"/>
          </p:cNvSpPr>
          <p:nvPr/>
        </p:nvSpPr>
        <p:spPr>
          <a:xfrm xmlns:a="http://schemas.openxmlformats.org/drawingml/2006/main">
            <a:off x="10287000" y="345757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8E569C"/>
                </a:solidFill>
                <a:latin typeface="Arial"/>
                <a:ea typeface="Arial"/>
                <a:cs typeface="Arial"/>
              </a:defRPr>
            </a:pPr>
            <a:r>
              <a:rPr sz="1650" b="1" i="0">
                <a:solidFill>
                  <a:srgbClr val="8E569C"/>
                </a:solidFill>
                <a:latin typeface="Arial"/>
                <a:ea typeface="Arial"/>
                <a:cs typeface="Arial"/>
              </a:rPr>
              <a:t>21.2397%</a:t>
            </a:r>
          </a:p>
        </p:txBody>
      </p:sp>
      <p:sp>
        <p:nvSpPr>
          <p:cNvPr id="20" name="">
            <a:extLst xmlns:a="http://schemas.openxmlformats.org/drawingml/2006/main">
              <a:ext uri="{FF2B5EF4-FFF2-40B4-BE49-F238E27FC236}">
                <a16:creationId xmlns:a16="http://schemas.microsoft.com/office/drawing/2014/main" id="{BB1D0F97-8F9E-4362-88BE-B68810DE4A82}"/>
              </a:ext>
            </a:extLst>
          </p:cNvPr>
          <p:cNvSpPr>
            <a:spLocks xmlns:a="http://schemas.openxmlformats.org/drawingml/2006/main" noGrp="1"/>
          </p:cNvSpPr>
          <p:nvPr/>
        </p:nvSpPr>
        <p:spPr>
          <a:xfrm xmlns:a="http://schemas.openxmlformats.org/drawingml/2006/main">
            <a:off x="476250" y="413385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i="0">
                <a:solidFill>
                  <a:srgbClr val="243849"/>
                </a:solidFill>
                <a:latin typeface="Arial"/>
                <a:ea typeface="Arial"/>
                <a:cs typeface="Arial"/>
              </a:defRPr>
            </a:pPr>
            <a:r>
              <a:rPr sz="1350" b="0" i="0">
                <a:solidFill>
                  <a:srgbClr val="243849"/>
                </a:solidFill>
                <a:latin typeface="Arial"/>
                <a:ea typeface="Arial"/>
                <a:cs typeface="Arial"/>
              </a:rPr>
              <a:t>Previous combined chest</a:t>
            </a:r>
          </a:p>
        </p:txBody>
      </p:sp>
      <p:sp>
        <p:nvSpPr>
          <p:cNvPr id="21" name="">
            <a:extLst xmlns:a="http://schemas.openxmlformats.org/drawingml/2006/main">
              <a:ext uri="{FF2B5EF4-FFF2-40B4-BE49-F238E27FC236}">
                <a16:creationId xmlns:a16="http://schemas.microsoft.com/office/drawing/2014/main" id="{87F0E004-EF64-42ED-91BA-A96665A32D6F}"/>
              </a:ext>
            </a:extLst>
          </p:cNvPr>
          <p:cNvSpPr>
            <a:spLocks xmlns:a="http://schemas.openxmlformats.org/drawingml/2006/main" noGrp="1"/>
          </p:cNvSpPr>
          <p:nvPr/>
        </p:nvSpPr>
        <p:spPr>
          <a:xfrm xmlns:a="http://schemas.openxmlformats.org/drawingml/2006/main">
            <a:off x="3714750" y="4105275"/>
            <a:ext cx="6477000" cy="304800"/>
          </a:xfrm>
          <a:prstGeom xmlns:a="http://schemas.openxmlformats.org/drawingml/2006/main" prst="rect">
            <a:avLst/>
          </a:prstGeom>
          <a:solidFill xmlns:a="http://schemas.openxmlformats.org/drawingml/2006/main">
            <a:srgbClr val="F4F6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256B633-FE11-49EF-9E58-18CAB984D396}"/>
              </a:ext>
            </a:extLst>
          </p:cNvPr>
          <p:cNvSpPr>
            <a:spLocks xmlns:a="http://schemas.openxmlformats.org/drawingml/2006/main" noGrp="1"/>
          </p:cNvSpPr>
          <p:nvPr/>
        </p:nvSpPr>
        <p:spPr>
          <a:xfrm xmlns:a="http://schemas.openxmlformats.org/drawingml/2006/main">
            <a:off x="3714750" y="4105275"/>
            <a:ext cx="868741" cy="304800"/>
          </a:xfrm>
          <a:prstGeom xmlns:a="http://schemas.openxmlformats.org/drawingml/2006/main" prst="rect">
            <a:avLst/>
          </a:prstGeom>
          <a:solidFill xmlns:a="http://schemas.openxmlformats.org/drawingml/2006/main">
            <a:srgbClr val="087B82">
              <a:alpha val="55000"/>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B54345F-7C95-434B-9443-FB60273531DF}"/>
              </a:ext>
            </a:extLst>
          </p:cNvPr>
          <p:cNvSpPr>
            <a:spLocks xmlns:a="http://schemas.openxmlformats.org/drawingml/2006/main" noGrp="1"/>
          </p:cNvSpPr>
          <p:nvPr/>
        </p:nvSpPr>
        <p:spPr>
          <a:xfrm xmlns:a="http://schemas.openxmlformats.org/drawingml/2006/main">
            <a:off x="10287000" y="410527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087B82"/>
                </a:solidFill>
                <a:latin typeface="Arial"/>
                <a:ea typeface="Arial"/>
                <a:cs typeface="Arial"/>
              </a:defRPr>
            </a:pPr>
            <a:r>
              <a:rPr sz="1650" b="1" i="0">
                <a:solidFill>
                  <a:srgbClr val="087B82"/>
                </a:solidFill>
                <a:latin typeface="Arial"/>
                <a:ea typeface="Arial"/>
                <a:cs typeface="Arial"/>
              </a:rPr>
              <a:t>13.4127%</a:t>
            </a:r>
          </a:p>
        </p:txBody>
      </p:sp>
      <p:sp>
        <p:nvSpPr>
          <p:cNvPr id="24" name="">
            <a:extLst xmlns:a="http://schemas.openxmlformats.org/drawingml/2006/main">
              <a:ext uri="{FF2B5EF4-FFF2-40B4-BE49-F238E27FC236}">
                <a16:creationId xmlns:a16="http://schemas.microsoft.com/office/drawing/2014/main" id="{7C0F9537-EC01-45AE-94D9-88D65F379FEC}"/>
              </a:ext>
            </a:extLst>
          </p:cNvPr>
          <p:cNvSpPr>
            <a:spLocks xmlns:a="http://schemas.openxmlformats.org/drawingml/2006/main" noGrp="1"/>
          </p:cNvSpPr>
          <p:nvPr/>
        </p:nvSpPr>
        <p:spPr>
          <a:xfrm xmlns:a="http://schemas.openxmlformats.org/drawingml/2006/main">
            <a:off x="476250" y="478155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i="0">
                <a:solidFill>
                  <a:srgbClr val="243849"/>
                </a:solidFill>
                <a:latin typeface="Arial"/>
                <a:ea typeface="Arial"/>
                <a:cs typeface="Arial"/>
              </a:defRPr>
            </a:pPr>
            <a:r>
              <a:rPr sz="1350" b="0" i="0">
                <a:solidFill>
                  <a:srgbClr val="243849"/>
                </a:solidFill>
                <a:latin typeface="Arial"/>
                <a:ea typeface="Arial"/>
                <a:cs typeface="Arial"/>
              </a:rPr>
              <a:t>Full edge slabs + strips</a:t>
            </a:r>
          </a:p>
        </p:txBody>
      </p:sp>
      <p:sp>
        <p:nvSpPr>
          <p:cNvPr id="25" name="">
            <a:extLst xmlns:a="http://schemas.openxmlformats.org/drawingml/2006/main">
              <a:ext uri="{FF2B5EF4-FFF2-40B4-BE49-F238E27FC236}">
                <a16:creationId xmlns:a16="http://schemas.microsoft.com/office/drawing/2014/main" id="{9AF6EA8B-B2EB-4190-A124-F27044490974}"/>
              </a:ext>
            </a:extLst>
          </p:cNvPr>
          <p:cNvSpPr>
            <a:spLocks xmlns:a="http://schemas.openxmlformats.org/drawingml/2006/main" noGrp="1"/>
          </p:cNvSpPr>
          <p:nvPr/>
        </p:nvSpPr>
        <p:spPr>
          <a:xfrm xmlns:a="http://schemas.openxmlformats.org/drawingml/2006/main">
            <a:off x="3714750" y="4752975"/>
            <a:ext cx="6477000" cy="304800"/>
          </a:xfrm>
          <a:prstGeom xmlns:a="http://schemas.openxmlformats.org/drawingml/2006/main" prst="rect">
            <a:avLst/>
          </a:prstGeom>
          <a:solidFill xmlns:a="http://schemas.openxmlformats.org/drawingml/2006/main">
            <a:srgbClr val="F4F6F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653BF98-EBB4-4896-AD23-8BF32DC2B39B}"/>
              </a:ext>
            </a:extLst>
          </p:cNvPr>
          <p:cNvSpPr>
            <a:spLocks xmlns:a="http://schemas.openxmlformats.org/drawingml/2006/main" noGrp="1"/>
          </p:cNvSpPr>
          <p:nvPr/>
        </p:nvSpPr>
        <p:spPr>
          <a:xfrm xmlns:a="http://schemas.openxmlformats.org/drawingml/2006/main">
            <a:off x="3714750" y="4752975"/>
            <a:ext cx="482990" cy="304800"/>
          </a:xfrm>
          <a:prstGeom xmlns:a="http://schemas.openxmlformats.org/drawingml/2006/main" prst="rect">
            <a:avLst/>
          </a:prstGeom>
          <a:solidFill xmlns:a="http://schemas.openxmlformats.org/drawingml/2006/main">
            <a:srgbClr val="3979AD">
              <a:alpha val="55000"/>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15C6DAA-2597-4C67-863A-8AF2A3775268}"/>
              </a:ext>
            </a:extLst>
          </p:cNvPr>
          <p:cNvSpPr>
            <a:spLocks xmlns:a="http://schemas.openxmlformats.org/drawingml/2006/main" noGrp="1"/>
          </p:cNvSpPr>
          <p:nvPr/>
        </p:nvSpPr>
        <p:spPr>
          <a:xfrm xmlns:a="http://schemas.openxmlformats.org/drawingml/2006/main">
            <a:off x="10287000" y="475297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3979AD"/>
                </a:solidFill>
                <a:latin typeface="Arial"/>
                <a:ea typeface="Arial"/>
                <a:cs typeface="Arial"/>
              </a:defRPr>
            </a:pPr>
            <a:r>
              <a:rPr sz="1650" b="1" i="0">
                <a:solidFill>
                  <a:srgbClr val="3979AD"/>
                </a:solidFill>
                <a:latin typeface="Arial"/>
                <a:ea typeface="Arial"/>
                <a:cs typeface="Arial"/>
              </a:rPr>
              <a:t>7.4570%</a:t>
            </a:r>
          </a:p>
        </p:txBody>
      </p:sp>
      <p:sp>
        <p:nvSpPr>
          <p:cNvPr id="28" name="">
            <a:extLst xmlns:a="http://schemas.openxmlformats.org/drawingml/2006/main">
              <a:ext uri="{FF2B5EF4-FFF2-40B4-BE49-F238E27FC236}">
                <a16:creationId xmlns:a16="http://schemas.microsoft.com/office/drawing/2014/main" id="{CB4785E9-0E8E-41D6-81BC-CF9E6DBD51CA}"/>
              </a:ext>
            </a:extLst>
          </p:cNvPr>
          <p:cNvSpPr>
            <a:spLocks xmlns:a="http://schemas.openxmlformats.org/drawingml/2006/main" noGrp="1"/>
          </p:cNvSpPr>
          <p:nvPr/>
        </p:nvSpPr>
        <p:spPr>
          <a:xfrm xmlns:a="http://schemas.openxmlformats.org/drawingml/2006/main">
            <a:off x="476250" y="542925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i="0">
                <a:solidFill>
                  <a:srgbClr val="243849"/>
                </a:solidFill>
                <a:latin typeface="Arial"/>
                <a:ea typeface="Arial"/>
                <a:cs typeface="Arial"/>
              </a:defRPr>
            </a:pPr>
            <a:r>
              <a:rPr sz="1350" b="0" i="0">
                <a:solidFill>
                  <a:srgbClr val="243849"/>
                </a:solidFill>
                <a:latin typeface="Arial"/>
                <a:ea typeface="Arial"/>
                <a:cs typeface="Arial"/>
              </a:rPr>
              <a:t>Centroid transfer / new combo</a:t>
            </a:r>
          </a:p>
        </p:txBody>
      </p:sp>
      <p:sp>
        <p:nvSpPr>
          <p:cNvPr id="29" name="">
            <a:extLst xmlns:a="http://schemas.openxmlformats.org/drawingml/2006/main">
              <a:ext uri="{FF2B5EF4-FFF2-40B4-BE49-F238E27FC236}">
                <a16:creationId xmlns:a16="http://schemas.microsoft.com/office/drawing/2014/main" id="{1AA46E01-95B6-408E-A9A0-7FFB799F696C}"/>
              </a:ext>
            </a:extLst>
          </p:cNvPr>
          <p:cNvSpPr>
            <a:spLocks xmlns:a="http://schemas.openxmlformats.org/drawingml/2006/main" noGrp="1"/>
          </p:cNvSpPr>
          <p:nvPr/>
        </p:nvSpPr>
        <p:spPr>
          <a:xfrm xmlns:a="http://schemas.openxmlformats.org/drawingml/2006/main">
            <a:off x="3714750" y="5400675"/>
            <a:ext cx="6477000" cy="304800"/>
          </a:xfrm>
          <a:prstGeom xmlns:a="http://schemas.openxmlformats.org/drawingml/2006/main" prst="rect">
            <a:avLst/>
          </a:prstGeom>
          <a:solidFill xmlns:a="http://schemas.openxmlformats.org/drawingml/2006/main">
            <a:srgbClr val="F4F6F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F96D600-C3A0-4C0E-BBBB-7EECDD3E1175}"/>
              </a:ext>
            </a:extLst>
          </p:cNvPr>
          <p:cNvSpPr>
            <a:spLocks xmlns:a="http://schemas.openxmlformats.org/drawingml/2006/main" noGrp="1"/>
          </p:cNvSpPr>
          <p:nvPr/>
        </p:nvSpPr>
        <p:spPr>
          <a:xfrm xmlns:a="http://schemas.openxmlformats.org/drawingml/2006/main">
            <a:off x="3714750" y="5400675"/>
            <a:ext cx="384099" cy="304800"/>
          </a:xfrm>
          <a:prstGeom xmlns:a="http://schemas.openxmlformats.org/drawingml/2006/main" prst="rect">
            <a:avLst/>
          </a:prstGeom>
          <a:solidFill xmlns:a="http://schemas.openxmlformats.org/drawingml/2006/main">
            <a:srgbClr val="158368">
              <a:alpha val="55000"/>
            </a:srgbClr>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A689DE0-F27E-491D-A414-0006F2DA2CAB}"/>
              </a:ext>
            </a:extLst>
          </p:cNvPr>
          <p:cNvSpPr>
            <a:spLocks xmlns:a="http://schemas.openxmlformats.org/drawingml/2006/main" noGrp="1"/>
          </p:cNvSpPr>
          <p:nvPr/>
        </p:nvSpPr>
        <p:spPr>
          <a:xfrm xmlns:a="http://schemas.openxmlformats.org/drawingml/2006/main">
            <a:off x="10287000" y="540067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158368"/>
                </a:solidFill>
                <a:latin typeface="Arial"/>
                <a:ea typeface="Arial"/>
                <a:cs typeface="Arial"/>
              </a:defRPr>
            </a:pPr>
            <a:r>
              <a:rPr sz="1650" b="1" i="0">
                <a:solidFill>
                  <a:srgbClr val="158368"/>
                </a:solidFill>
                <a:latin typeface="Arial"/>
                <a:ea typeface="Arial"/>
                <a:cs typeface="Arial"/>
              </a:rPr>
              <a:t>5.9302%</a:t>
            </a:r>
          </a:p>
        </p:txBody>
      </p:sp>
      <p:sp>
        <p:nvSpPr>
          <p:cNvPr id="32" name="">
            <a:extLst xmlns:a="http://schemas.openxmlformats.org/drawingml/2006/main">
              <a:ext uri="{FF2B5EF4-FFF2-40B4-BE49-F238E27FC236}">
                <a16:creationId xmlns:a16="http://schemas.microsoft.com/office/drawing/2014/main" id="{3AB6736C-0A80-40DB-B8CC-8B9B6E19EAC5}"/>
              </a:ext>
            </a:extLst>
          </p:cNvPr>
          <p:cNvSpPr>
            <a:spLocks xmlns:a="http://schemas.openxmlformats.org/drawingml/2006/main" noGrp="1"/>
          </p:cNvSpPr>
          <p:nvPr/>
        </p:nvSpPr>
        <p:spPr>
          <a:xfrm xmlns:a="http://schemas.openxmlformats.org/drawingml/2006/main">
            <a:off x="1524000" y="625792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Unconditional geometric bounds. These results do not prove a smallest possible chest.</a:t>
            </a:r>
          </a:p>
        </p:txBody>
      </p:sp>
      <p:sp>
        <p:nvSpPr>
          <p:cNvPr id="33" name="">
            <a:extLst xmlns:a="http://schemas.openxmlformats.org/drawingml/2006/main">
              <a:ext uri="{FF2B5EF4-FFF2-40B4-BE49-F238E27FC236}">
                <a16:creationId xmlns:a16="http://schemas.microsoft.com/office/drawing/2014/main" id="{1F030798-196D-493D-A3A4-3EF654B9F69B}"/>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35</a:t>
            </a:r>
          </a:p>
        </p:txBody>
      </p:sp>
    </p:spTree>
    <p:extLst>
      <p:ext uri="{BB962C8B-B14F-4D97-AF65-F5344CB8AC3E}">
        <p14:creationId xmlns:p14="http://schemas.microsoft.com/office/powerpoint/2010/main" val="1568224751"/>
      </p:ext>
    </p:extLst>
  </p:cSld>
  <p:transition spd="slow" advClick="1">
    <p:fade/>
  </p:transition>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F092E3C-CFE6-453D-8F92-33F7352FBF08}"/>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A four-vertex chest replaces the old five-vertex chest</a:t>
            </a:r>
          </a:p>
        </p:txBody>
      </p:sp>
      <p:sp>
        <p:nvSpPr>
          <p:cNvPr id="2" name="">
            <a:extLst xmlns:a="http://schemas.openxmlformats.org/drawingml/2006/main">
              <a:ext uri="{FF2B5EF4-FFF2-40B4-BE49-F238E27FC236}">
                <a16:creationId xmlns:a16="http://schemas.microsoft.com/office/drawing/2014/main" id="{6A803D0A-4793-47DE-938E-CB54139C35A6}"/>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Two routes agree: edge slabs + reference network, or centroid insertion</a:t>
            </a:r>
          </a:p>
        </p:txBody>
      </p:sp>
      <p:sp>
        <p:nvSpPr>
          <p:cNvPr id="3" name="">
            <a:extLst xmlns:a="http://schemas.openxmlformats.org/drawingml/2006/main">
              <a:ext uri="{FF2B5EF4-FFF2-40B4-BE49-F238E27FC236}">
                <a16:creationId xmlns:a16="http://schemas.microsoft.com/office/drawing/2014/main" id="{C5467E12-0E4C-4340-B097-86FC85C6FA92}"/>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D3744A09-25B1-44F6-AAAA-49CDF1FAE1D5}"/>
              </a:ext>
            </a:extLst>
          </p:cNvPr>
          <p:cNvSpPr>
            <a:spLocks xmlns:a="http://schemas.openxmlformats.org/drawingml/2006/main" noGrp="1"/>
          </p:cNvSpPr>
          <p:nvPr/>
        </p:nvSpPr>
        <p:spPr>
          <a:xfrm xmlns:a="http://schemas.openxmlformats.org/drawingml/2006/main">
            <a:off x="533400" y="1314450"/>
            <a:ext cx="7334250" cy="4464326"/>
          </a:xfrm>
          <a:prstGeom xmlns:a="http://schemas.openxmlformats.org/drawingml/2006/main" prst="rect">
            <a:avLst/>
          </a:prstGeom>
          <a:solidFill xmlns:a="http://schemas.openxmlformats.org/drawingml/2006/main">
            <a:srgbClr val="F4F6F8"/>
          </a:solidFill>
          <a:ln xmlns:a="http://schemas.openxmlformats.org/drawingml/2006/main" w="9525">
            <a:solidFill>
              <a:srgbClr val="9AA9B6"/>
            </a:solidFill>
          </a:ln>
        </p:spPr>
      </p:sp>
      <p:sp>
        <p:nvSpPr>
          <p:cNvPr id="5" name="">
            <a:extLst xmlns:a="http://schemas.openxmlformats.org/drawingml/2006/main">
              <a:ext uri="{FF2B5EF4-FFF2-40B4-BE49-F238E27FC236}">
                <a16:creationId xmlns:a16="http://schemas.microsoft.com/office/drawing/2014/main" id="{531EDC4A-26A6-4A91-9A0C-54C5A207D47B}"/>
              </a:ext>
            </a:extLst>
          </p:cNvPr>
          <p:cNvSpPr>
            <a:spLocks xmlns:a="http://schemas.openxmlformats.org/drawingml/2006/main" noGrp="1"/>
          </p:cNvSpPr>
          <p:nvPr/>
        </p:nvSpPr>
        <p:spPr>
          <a:xfrm xmlns:a="http://schemas.openxmlformats.org/drawingml/2006/main">
            <a:off x="852280"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6" name="">
            <a:extLst xmlns:a="http://schemas.openxmlformats.org/drawingml/2006/main">
              <a:ext uri="{FF2B5EF4-FFF2-40B4-BE49-F238E27FC236}">
                <a16:creationId xmlns:a16="http://schemas.microsoft.com/office/drawing/2014/main" id="{E91BE114-A28E-4274-A058-08EBCE7F193B}"/>
              </a:ext>
            </a:extLst>
          </p:cNvPr>
          <p:cNvSpPr>
            <a:spLocks xmlns:a="http://schemas.openxmlformats.org/drawingml/2006/main" noGrp="1"/>
          </p:cNvSpPr>
          <p:nvPr/>
        </p:nvSpPr>
        <p:spPr>
          <a:xfrm xmlns:a="http://schemas.openxmlformats.org/drawingml/2006/main">
            <a:off x="2446683"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7" name="">
            <a:extLst xmlns:a="http://schemas.openxmlformats.org/drawingml/2006/main">
              <a:ext uri="{FF2B5EF4-FFF2-40B4-BE49-F238E27FC236}">
                <a16:creationId xmlns:a16="http://schemas.microsoft.com/office/drawing/2014/main" id="{B90300E0-5B22-4D5B-8C39-7817BF5DCAFD}"/>
              </a:ext>
            </a:extLst>
          </p:cNvPr>
          <p:cNvSpPr>
            <a:spLocks xmlns:a="http://schemas.openxmlformats.org/drawingml/2006/main" noGrp="1"/>
          </p:cNvSpPr>
          <p:nvPr/>
        </p:nvSpPr>
        <p:spPr>
          <a:xfrm xmlns:a="http://schemas.openxmlformats.org/drawingml/2006/main">
            <a:off x="4041085"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8" name="">
            <a:extLst xmlns:a="http://schemas.openxmlformats.org/drawingml/2006/main">
              <a:ext uri="{FF2B5EF4-FFF2-40B4-BE49-F238E27FC236}">
                <a16:creationId xmlns:a16="http://schemas.microsoft.com/office/drawing/2014/main" id="{6F7099E4-107C-4741-9D3F-EECD524A6CC6}"/>
              </a:ext>
            </a:extLst>
          </p:cNvPr>
          <p:cNvSpPr>
            <a:spLocks xmlns:a="http://schemas.openxmlformats.org/drawingml/2006/main" noGrp="1"/>
          </p:cNvSpPr>
          <p:nvPr/>
        </p:nvSpPr>
        <p:spPr>
          <a:xfrm xmlns:a="http://schemas.openxmlformats.org/drawingml/2006/main">
            <a:off x="5635487"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9" name="">
            <a:extLst xmlns:a="http://schemas.openxmlformats.org/drawingml/2006/main">
              <a:ext uri="{FF2B5EF4-FFF2-40B4-BE49-F238E27FC236}">
                <a16:creationId xmlns:a16="http://schemas.microsoft.com/office/drawing/2014/main" id="{64F517FF-8833-45A3-94D8-612F67490C30}"/>
              </a:ext>
            </a:extLst>
          </p:cNvPr>
          <p:cNvSpPr>
            <a:spLocks xmlns:a="http://schemas.openxmlformats.org/drawingml/2006/main" noGrp="1"/>
          </p:cNvSpPr>
          <p:nvPr/>
        </p:nvSpPr>
        <p:spPr>
          <a:xfrm xmlns:a="http://schemas.openxmlformats.org/drawingml/2006/main">
            <a:off x="7229889" y="1314450"/>
            <a:ext cx="9525" cy="4464326"/>
          </a:xfrm>
          <a:custGeom xmlns:a="http://schemas.openxmlformats.org/drawingml/2006/main">
            <a:pathLst>
              <a:path w="9525" h="4464326">
                <a:moveTo>
                  <a:pt x="0" y="4464326"/>
                </a:moveTo>
                <a:lnTo>
                  <a:pt x="0" y="0"/>
                </a:lnTo>
              </a:path>
            </a:pathLst>
          </a:custGeom>
          <a:noFill xmlns:a="http://schemas.openxmlformats.org/drawingml/2006/main"/>
          <a:ln xmlns:a="http://schemas.openxmlformats.org/drawingml/2006/main" w="6668">
            <a:solidFill>
              <a:srgbClr val="9AA9B6">
                <a:alpha val="22000"/>
              </a:srgbClr>
            </a:solidFill>
            <a:prstDash val="solid"/>
          </a:ln>
        </p:spPr>
      </p:sp>
      <p:sp>
        <p:nvSpPr>
          <p:cNvPr id="10" name="">
            <a:extLst xmlns:a="http://schemas.openxmlformats.org/drawingml/2006/main">
              <a:ext uri="{FF2B5EF4-FFF2-40B4-BE49-F238E27FC236}">
                <a16:creationId xmlns:a16="http://schemas.microsoft.com/office/drawing/2014/main" id="{E314D34D-8325-4BEA-8513-78E6DB4D564B}"/>
              </a:ext>
            </a:extLst>
          </p:cNvPr>
          <p:cNvSpPr>
            <a:spLocks xmlns:a="http://schemas.openxmlformats.org/drawingml/2006/main" noGrp="1"/>
          </p:cNvSpPr>
          <p:nvPr/>
        </p:nvSpPr>
        <p:spPr>
          <a:xfrm xmlns:a="http://schemas.openxmlformats.org/drawingml/2006/main">
            <a:off x="533400" y="5459896"/>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1" name="">
            <a:extLst xmlns:a="http://schemas.openxmlformats.org/drawingml/2006/main">
              <a:ext uri="{FF2B5EF4-FFF2-40B4-BE49-F238E27FC236}">
                <a16:creationId xmlns:a16="http://schemas.microsoft.com/office/drawing/2014/main" id="{D29C286F-8D0F-4D7C-B3D8-B86C60947FAE}"/>
              </a:ext>
            </a:extLst>
          </p:cNvPr>
          <p:cNvSpPr>
            <a:spLocks xmlns:a="http://schemas.openxmlformats.org/drawingml/2006/main" noGrp="1"/>
          </p:cNvSpPr>
          <p:nvPr/>
        </p:nvSpPr>
        <p:spPr>
          <a:xfrm xmlns:a="http://schemas.openxmlformats.org/drawingml/2006/main">
            <a:off x="533400" y="4184374"/>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2" name="">
            <a:extLst xmlns:a="http://schemas.openxmlformats.org/drawingml/2006/main">
              <a:ext uri="{FF2B5EF4-FFF2-40B4-BE49-F238E27FC236}">
                <a16:creationId xmlns:a16="http://schemas.microsoft.com/office/drawing/2014/main" id="{313BC3CD-E547-40EA-B1CB-D6BFD16999C2}"/>
              </a:ext>
            </a:extLst>
          </p:cNvPr>
          <p:cNvSpPr>
            <a:spLocks xmlns:a="http://schemas.openxmlformats.org/drawingml/2006/main" noGrp="1"/>
          </p:cNvSpPr>
          <p:nvPr/>
        </p:nvSpPr>
        <p:spPr>
          <a:xfrm xmlns:a="http://schemas.openxmlformats.org/drawingml/2006/main">
            <a:off x="533400" y="2908852"/>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3" name="">
            <a:extLst xmlns:a="http://schemas.openxmlformats.org/drawingml/2006/main">
              <a:ext uri="{FF2B5EF4-FFF2-40B4-BE49-F238E27FC236}">
                <a16:creationId xmlns:a16="http://schemas.microsoft.com/office/drawing/2014/main" id="{8BE9EFFD-1786-451A-AD54-D1822523125D}"/>
              </a:ext>
            </a:extLst>
          </p:cNvPr>
          <p:cNvSpPr>
            <a:spLocks xmlns:a="http://schemas.openxmlformats.org/drawingml/2006/main" noGrp="1"/>
          </p:cNvSpPr>
          <p:nvPr/>
        </p:nvSpPr>
        <p:spPr>
          <a:xfrm xmlns:a="http://schemas.openxmlformats.org/drawingml/2006/main">
            <a:off x="533400" y="1633330"/>
            <a:ext cx="7334250" cy="9525"/>
          </a:xfrm>
          <a:custGeom xmlns:a="http://schemas.openxmlformats.org/drawingml/2006/main">
            <a:pathLst>
              <a:path w="7334250" h="9525">
                <a:moveTo>
                  <a:pt x="0" y="0"/>
                </a:moveTo>
                <a:lnTo>
                  <a:pt x="7334250" y="0"/>
                </a:lnTo>
              </a:path>
            </a:pathLst>
          </a:custGeom>
          <a:noFill xmlns:a="http://schemas.openxmlformats.org/drawingml/2006/main"/>
          <a:ln xmlns:a="http://schemas.openxmlformats.org/drawingml/2006/main" w="6668">
            <a:solidFill>
              <a:srgbClr val="9AA9B6">
                <a:alpha val="22000"/>
              </a:srgbClr>
            </a:solidFill>
            <a:prstDash val="solid"/>
          </a:ln>
        </p:spPr>
      </p:sp>
      <p:sp>
        <p:nvSpPr>
          <p:cNvPr id="14" name="">
            <a:extLst xmlns:a="http://schemas.openxmlformats.org/drawingml/2006/main">
              <a:ext uri="{FF2B5EF4-FFF2-40B4-BE49-F238E27FC236}">
                <a16:creationId xmlns:a16="http://schemas.microsoft.com/office/drawing/2014/main" id="{387E1F0F-C323-4CE1-83F6-15FE982DE015}"/>
              </a:ext>
            </a:extLst>
          </p:cNvPr>
          <p:cNvSpPr>
            <a:spLocks xmlns:a="http://schemas.openxmlformats.org/drawingml/2006/main" noGrp="1"/>
          </p:cNvSpPr>
          <p:nvPr/>
        </p:nvSpPr>
        <p:spPr>
          <a:xfrm xmlns:a="http://schemas.openxmlformats.org/drawingml/2006/main">
            <a:off x="2754115" y="2765455"/>
            <a:ext cx="1446410" cy="1844092"/>
          </a:xfrm>
          <a:custGeom xmlns:a="http://schemas.openxmlformats.org/drawingml/2006/main">
            <a:pathLst>
              <a:path w="1446410" h="1844092">
                <a:moveTo>
                  <a:pt x="0" y="1241424"/>
                </a:moveTo>
                <a:lnTo>
                  <a:pt x="1446410" y="1844092"/>
                </a:lnTo>
                <a:lnTo>
                  <a:pt x="1446410" y="761330"/>
                </a:lnTo>
                <a:lnTo>
                  <a:pt x="590047" y="0"/>
                </a:lnTo>
                <a:lnTo>
                  <a:pt x="220831" y="169223"/>
                </a:lnTo>
                <a:close/>
              </a:path>
            </a:pathLst>
          </a:custGeom>
          <a:solidFill xmlns:a="http://schemas.openxmlformats.org/drawingml/2006/main">
            <a:srgbClr val="3979AD">
              <a:alpha val="13000"/>
            </a:srgbClr>
          </a:solidFill>
          <a:ln xmlns:a="http://schemas.openxmlformats.org/drawingml/2006/main" w="19050">
            <a:solidFill>
              <a:srgbClr val="3979AD"/>
            </a:solidFill>
            <a:prstDash val="solid"/>
          </a:ln>
        </p:spPr>
      </p:sp>
      <p:sp>
        <p:nvSpPr>
          <p:cNvPr id="15" name="">
            <a:extLst xmlns:a="http://schemas.openxmlformats.org/drawingml/2006/main">
              <a:ext uri="{FF2B5EF4-FFF2-40B4-BE49-F238E27FC236}">
                <a16:creationId xmlns:a16="http://schemas.microsoft.com/office/drawing/2014/main" id="{EBE3F841-71ED-4CE0-B65B-9D666CDCA1FF}"/>
              </a:ext>
            </a:extLst>
          </p:cNvPr>
          <p:cNvSpPr>
            <a:spLocks xmlns:a="http://schemas.openxmlformats.org/drawingml/2006/main" noGrp="1"/>
          </p:cNvSpPr>
          <p:nvPr/>
        </p:nvSpPr>
        <p:spPr>
          <a:xfrm xmlns:a="http://schemas.openxmlformats.org/drawingml/2006/main">
            <a:off x="2754115" y="3505178"/>
            <a:ext cx="1446410" cy="1104369"/>
          </a:xfrm>
          <a:custGeom xmlns:a="http://schemas.openxmlformats.org/drawingml/2006/main">
            <a:pathLst>
              <a:path w="1446410" h="1104369">
                <a:moveTo>
                  <a:pt x="1446410" y="1104369"/>
                </a:moveTo>
                <a:lnTo>
                  <a:pt x="1446410" y="559616"/>
                </a:lnTo>
                <a:lnTo>
                  <a:pt x="103330" y="0"/>
                </a:lnTo>
                <a:lnTo>
                  <a:pt x="0" y="501701"/>
                </a:lnTo>
                <a:close/>
              </a:path>
            </a:pathLst>
          </a:custGeom>
          <a:solidFill xmlns:a="http://schemas.openxmlformats.org/drawingml/2006/main">
            <a:srgbClr val="158368">
              <a:alpha val="40000"/>
            </a:srgbClr>
          </a:solidFill>
          <a:ln xmlns:a="http://schemas.openxmlformats.org/drawingml/2006/main" w="28575">
            <a:solidFill>
              <a:srgbClr val="158368"/>
            </a:solidFill>
            <a:prstDash val="solid"/>
          </a:ln>
        </p:spPr>
      </p:sp>
      <p:sp>
        <p:nvSpPr>
          <p:cNvPr id="16" name="">
            <a:extLst xmlns:a="http://schemas.openxmlformats.org/drawingml/2006/main">
              <a:ext uri="{FF2B5EF4-FFF2-40B4-BE49-F238E27FC236}">
                <a16:creationId xmlns:a16="http://schemas.microsoft.com/office/drawing/2014/main" id="{BA937219-F15F-4F00-A49E-B26CCCE0E22E}"/>
              </a:ext>
            </a:extLst>
          </p:cNvPr>
          <p:cNvSpPr>
            <a:spLocks xmlns:a="http://schemas.openxmlformats.org/drawingml/2006/main" noGrp="1"/>
          </p:cNvSpPr>
          <p:nvPr/>
        </p:nvSpPr>
        <p:spPr>
          <a:xfrm xmlns:a="http://schemas.openxmlformats.org/drawingml/2006/main">
            <a:off x="852280" y="1633330"/>
            <a:ext cx="6696489" cy="3826565"/>
          </a:xfrm>
          <a:custGeom xmlns:a="http://schemas.openxmlformats.org/drawingml/2006/main">
            <a:pathLst>
              <a:path w="6696489" h="3826565">
                <a:moveTo>
                  <a:pt x="0" y="3826565"/>
                </a:moveTo>
                <a:lnTo>
                  <a:pt x="6696489" y="3826565"/>
                </a:lnTo>
                <a:lnTo>
                  <a:pt x="1594402" y="0"/>
                </a:lnTo>
                <a:close/>
              </a:path>
            </a:pathLst>
          </a:custGeom>
          <a:noFill xmlns:a="http://schemas.openxmlformats.org/drawingml/2006/main"/>
          <a:ln xmlns:a="http://schemas.openxmlformats.org/drawingml/2006/main" w="26670">
            <a:solidFill>
              <a:srgbClr val="243849"/>
            </a:solidFill>
          </a:ln>
        </p:spPr>
      </p:sp>
      <p:sp>
        <p:nvSpPr>
          <p:cNvPr id="17" name="">
            <a:extLst xmlns:a="http://schemas.openxmlformats.org/drawingml/2006/main">
              <a:ext uri="{FF2B5EF4-FFF2-40B4-BE49-F238E27FC236}">
                <a16:creationId xmlns:a16="http://schemas.microsoft.com/office/drawing/2014/main" id="{01E39793-F0F6-4C0A-AA6F-DE3B66539BF6}"/>
              </a:ext>
            </a:extLst>
          </p:cNvPr>
          <p:cNvSpPr>
            <a:spLocks xmlns:a="http://schemas.openxmlformats.org/drawingml/2006/main" noGrp="1"/>
          </p:cNvSpPr>
          <p:nvPr/>
        </p:nvSpPr>
        <p:spPr>
          <a:xfrm xmlns:a="http://schemas.openxmlformats.org/drawingml/2006/main">
            <a:off x="79513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18" name="">
            <a:extLst xmlns:a="http://schemas.openxmlformats.org/drawingml/2006/main">
              <a:ext uri="{FF2B5EF4-FFF2-40B4-BE49-F238E27FC236}">
                <a16:creationId xmlns:a16="http://schemas.microsoft.com/office/drawing/2014/main" id="{C8306D69-7312-4224-B998-DC373950D827}"/>
              </a:ext>
            </a:extLst>
          </p:cNvPr>
          <p:cNvSpPr>
            <a:spLocks xmlns:a="http://schemas.openxmlformats.org/drawingml/2006/main" noGrp="1"/>
          </p:cNvSpPr>
          <p:nvPr/>
        </p:nvSpPr>
        <p:spPr>
          <a:xfrm xmlns:a="http://schemas.openxmlformats.org/drawingml/2006/main">
            <a:off x="64273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A</a:t>
            </a:r>
          </a:p>
        </p:txBody>
      </p:sp>
      <p:sp>
        <p:nvSpPr>
          <p:cNvPr id="19" name="">
            <a:extLst xmlns:a="http://schemas.openxmlformats.org/drawingml/2006/main">
              <a:ext uri="{FF2B5EF4-FFF2-40B4-BE49-F238E27FC236}">
                <a16:creationId xmlns:a16="http://schemas.microsoft.com/office/drawing/2014/main" id="{9A370F98-6883-4A64-B868-FB3BB98BDC0A}"/>
              </a:ext>
            </a:extLst>
          </p:cNvPr>
          <p:cNvSpPr>
            <a:spLocks xmlns:a="http://schemas.openxmlformats.org/drawingml/2006/main" noGrp="1"/>
          </p:cNvSpPr>
          <p:nvPr/>
        </p:nvSpPr>
        <p:spPr>
          <a:xfrm xmlns:a="http://schemas.openxmlformats.org/drawingml/2006/main">
            <a:off x="7491620" y="5402746"/>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0" name="">
            <a:extLst xmlns:a="http://schemas.openxmlformats.org/drawingml/2006/main">
              <a:ext uri="{FF2B5EF4-FFF2-40B4-BE49-F238E27FC236}">
                <a16:creationId xmlns:a16="http://schemas.microsoft.com/office/drawing/2014/main" id="{3F7CEA64-F83B-419C-83B9-567C2DF4467E}"/>
              </a:ext>
            </a:extLst>
          </p:cNvPr>
          <p:cNvSpPr>
            <a:spLocks xmlns:a="http://schemas.openxmlformats.org/drawingml/2006/main" noGrp="1"/>
          </p:cNvSpPr>
          <p:nvPr/>
        </p:nvSpPr>
        <p:spPr>
          <a:xfrm xmlns:a="http://schemas.openxmlformats.org/drawingml/2006/main">
            <a:off x="7624970" y="5555146"/>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B</a:t>
            </a:r>
          </a:p>
        </p:txBody>
      </p:sp>
      <p:sp>
        <p:nvSpPr>
          <p:cNvPr id="21" name="">
            <a:extLst xmlns:a="http://schemas.openxmlformats.org/drawingml/2006/main">
              <a:ext uri="{FF2B5EF4-FFF2-40B4-BE49-F238E27FC236}">
                <a16:creationId xmlns:a16="http://schemas.microsoft.com/office/drawing/2014/main" id="{D87F576C-C687-40F3-A21C-E7562E68D81F}"/>
              </a:ext>
            </a:extLst>
          </p:cNvPr>
          <p:cNvSpPr>
            <a:spLocks xmlns:a="http://schemas.openxmlformats.org/drawingml/2006/main" noGrp="1"/>
          </p:cNvSpPr>
          <p:nvPr/>
        </p:nvSpPr>
        <p:spPr>
          <a:xfrm xmlns:a="http://schemas.openxmlformats.org/drawingml/2006/main">
            <a:off x="2389533" y="1576180"/>
            <a:ext cx="114300" cy="114300"/>
          </a:xfrm>
          <a:prstGeom xmlns:a="http://schemas.openxmlformats.org/drawingml/2006/main" prst="ellipse">
            <a:avLst/>
          </a:prstGeom>
          <a:solidFill xmlns:a="http://schemas.openxmlformats.org/drawingml/2006/main">
            <a:srgbClr val="243849"/>
          </a:solidFill>
          <a:ln xmlns:a="http://schemas.openxmlformats.org/drawingml/2006/main" w="11430">
            <a:solidFill>
              <a:srgbClr val="FFFFFF"/>
            </a:solidFill>
          </a:ln>
        </p:spPr>
      </p:sp>
      <p:sp>
        <p:nvSpPr>
          <p:cNvPr id="22" name="">
            <a:extLst xmlns:a="http://schemas.openxmlformats.org/drawingml/2006/main">
              <a:ext uri="{FF2B5EF4-FFF2-40B4-BE49-F238E27FC236}">
                <a16:creationId xmlns:a16="http://schemas.microsoft.com/office/drawing/2014/main" id="{2FB54B6D-95D6-487E-9D5C-BE64F1B812E5}"/>
              </a:ext>
            </a:extLst>
          </p:cNvPr>
          <p:cNvSpPr>
            <a:spLocks xmlns:a="http://schemas.openxmlformats.org/drawingml/2006/main" noGrp="1"/>
          </p:cNvSpPr>
          <p:nvPr/>
        </p:nvSpPr>
        <p:spPr>
          <a:xfrm xmlns:a="http://schemas.openxmlformats.org/drawingml/2006/main">
            <a:off x="2370483" y="136663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243849"/>
                </a:solidFill>
                <a:latin typeface="Arial"/>
                <a:ea typeface="Arial"/>
                <a:cs typeface="Arial"/>
              </a:defRPr>
            </a:pPr>
            <a:r>
              <a:rPr sz="1350" b="1" i="0">
                <a:solidFill>
                  <a:srgbClr val="243849"/>
                </a:solidFill>
                <a:latin typeface="Arial"/>
                <a:ea typeface="Arial"/>
                <a:cs typeface="Arial"/>
              </a:rPr>
              <a:t>C</a:t>
            </a:r>
          </a:p>
        </p:txBody>
      </p:sp>
      <p:sp>
        <p:nvSpPr>
          <p:cNvPr id="23" name="">
            <a:extLst xmlns:a="http://schemas.openxmlformats.org/drawingml/2006/main">
              <a:ext uri="{FF2B5EF4-FFF2-40B4-BE49-F238E27FC236}">
                <a16:creationId xmlns:a16="http://schemas.microsoft.com/office/drawing/2014/main" id="{756796B7-2854-4AF7-B084-94ABEEAC987F}"/>
              </a:ext>
            </a:extLst>
          </p:cNvPr>
          <p:cNvSpPr>
            <a:spLocks xmlns:a="http://schemas.openxmlformats.org/drawingml/2006/main" noGrp="1"/>
          </p:cNvSpPr>
          <p:nvPr/>
        </p:nvSpPr>
        <p:spPr>
          <a:xfrm xmlns:a="http://schemas.openxmlformats.org/drawingml/2006/main">
            <a:off x="3558761" y="4127224"/>
            <a:ext cx="114300" cy="114300"/>
          </a:xfrm>
          <a:prstGeom xmlns:a="http://schemas.openxmlformats.org/drawingml/2006/main" prst="ellipse">
            <a:avLst/>
          </a:prstGeom>
          <a:solidFill xmlns:a="http://schemas.openxmlformats.org/drawingml/2006/main">
            <a:srgbClr val="8E569C"/>
          </a:solidFill>
          <a:ln xmlns:a="http://schemas.openxmlformats.org/drawingml/2006/main" w="11430">
            <a:solidFill>
              <a:srgbClr val="FFFFFF"/>
            </a:solidFill>
          </a:ln>
        </p:spPr>
      </p:sp>
      <p:sp>
        <p:nvSpPr>
          <p:cNvPr id="24" name="">
            <a:extLst xmlns:a="http://schemas.openxmlformats.org/drawingml/2006/main">
              <a:ext uri="{FF2B5EF4-FFF2-40B4-BE49-F238E27FC236}">
                <a16:creationId xmlns:a16="http://schemas.microsoft.com/office/drawing/2014/main" id="{81096658-104D-4B29-9893-C2BB431A48EA}"/>
              </a:ext>
            </a:extLst>
          </p:cNvPr>
          <p:cNvSpPr>
            <a:spLocks xmlns:a="http://schemas.openxmlformats.org/drawingml/2006/main" noGrp="1"/>
          </p:cNvSpPr>
          <p:nvPr/>
        </p:nvSpPr>
        <p:spPr>
          <a:xfrm xmlns:a="http://schemas.openxmlformats.org/drawingml/2006/main">
            <a:off x="3692111" y="4051024"/>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D</a:t>
            </a:r>
          </a:p>
        </p:txBody>
      </p:sp>
      <p:sp>
        <p:nvSpPr>
          <p:cNvPr id="25" name="">
            <a:extLst xmlns:a="http://schemas.openxmlformats.org/drawingml/2006/main">
              <a:ext uri="{FF2B5EF4-FFF2-40B4-BE49-F238E27FC236}">
                <a16:creationId xmlns:a16="http://schemas.microsoft.com/office/drawing/2014/main" id="{D28C047B-361D-49A7-A70C-DCAD74C8775F}"/>
              </a:ext>
            </a:extLst>
          </p:cNvPr>
          <p:cNvSpPr>
            <a:spLocks xmlns:a="http://schemas.openxmlformats.org/drawingml/2006/main" noGrp="1"/>
          </p:cNvSpPr>
          <p:nvPr/>
        </p:nvSpPr>
        <p:spPr>
          <a:xfrm xmlns:a="http://schemas.openxmlformats.org/drawingml/2006/main">
            <a:off x="647700" y="5512076"/>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i="0">
                <a:solidFill>
                  <a:srgbClr val="9AA9B6"/>
                </a:solidFill>
                <a:latin typeface="Arial"/>
                <a:ea typeface="Arial"/>
                <a:cs typeface="Arial"/>
              </a:defRPr>
            </a:pPr>
            <a:r>
              <a:rPr sz="900" b="0" i="0">
                <a:solidFill>
                  <a:srgbClr val="9AA9B6"/>
                </a:solidFill>
                <a:latin typeface="Arial"/>
                <a:ea typeface="Arial"/>
                <a:cs typeface="Arial"/>
              </a:rPr>
              <a:t>equal x and y scale</a:t>
            </a:r>
          </a:p>
        </p:txBody>
      </p:sp>
      <p:sp>
        <p:nvSpPr>
          <p:cNvPr id="26" name="">
            <a:extLst xmlns:a="http://schemas.openxmlformats.org/drawingml/2006/main">
              <a:ext uri="{FF2B5EF4-FFF2-40B4-BE49-F238E27FC236}">
                <a16:creationId xmlns:a16="http://schemas.microsoft.com/office/drawing/2014/main" id="{BF6AC100-191E-4BC0-8AC1-0076654EA41F}"/>
              </a:ext>
            </a:extLst>
          </p:cNvPr>
          <p:cNvSpPr>
            <a:spLocks xmlns:a="http://schemas.openxmlformats.org/drawingml/2006/main" noGrp="1"/>
          </p:cNvSpPr>
          <p:nvPr/>
        </p:nvSpPr>
        <p:spPr>
          <a:xfrm xmlns:a="http://schemas.openxmlformats.org/drawingml/2006/main">
            <a:off x="8382000" y="1524000"/>
            <a:ext cx="300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050" b="1" i="0">
                <a:solidFill>
                  <a:srgbClr val="158368"/>
                </a:solidFill>
                <a:latin typeface="Arial"/>
                <a:ea typeface="Arial"/>
                <a:cs typeface="Arial"/>
              </a:defRPr>
            </a:pPr>
            <a:r>
              <a:rPr sz="4050" b="1" i="0">
                <a:solidFill>
                  <a:srgbClr val="158368"/>
                </a:solidFill>
                <a:latin typeface="Arial"/>
                <a:ea typeface="Arial"/>
                <a:cs typeface="Arial"/>
              </a:rPr>
              <a:t>5.9302%</a:t>
            </a:r>
          </a:p>
        </p:txBody>
      </p:sp>
      <p:sp>
        <p:nvSpPr>
          <p:cNvPr id="27" name="">
            <a:extLst xmlns:a="http://schemas.openxmlformats.org/drawingml/2006/main">
              <a:ext uri="{FF2B5EF4-FFF2-40B4-BE49-F238E27FC236}">
                <a16:creationId xmlns:a16="http://schemas.microsoft.com/office/drawing/2014/main" id="{54A9ABD4-BBF7-44F1-BA08-406490C003A3}"/>
              </a:ext>
            </a:extLst>
          </p:cNvPr>
          <p:cNvSpPr>
            <a:spLocks xmlns:a="http://schemas.openxmlformats.org/drawingml/2006/main" noGrp="1"/>
          </p:cNvSpPr>
          <p:nvPr/>
        </p:nvSpPr>
        <p:spPr>
          <a:xfrm xmlns:a="http://schemas.openxmlformats.org/drawingml/2006/main">
            <a:off x="8572500" y="219075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536475"/>
                </a:solidFill>
                <a:latin typeface="Arial"/>
                <a:ea typeface="Arial"/>
                <a:cs typeface="Arial"/>
              </a:defRPr>
            </a:pPr>
            <a:r>
              <a:rPr sz="1350" b="0" i="0">
                <a:solidFill>
                  <a:srgbClr val="536475"/>
                </a:solidFill>
                <a:latin typeface="Arial"/>
                <a:ea typeface="Arial"/>
                <a:cs typeface="Arial"/>
              </a:rPr>
              <a:t>of the hull remains</a:t>
            </a:r>
          </a:p>
        </p:txBody>
      </p:sp>
      <p:sp>
        <p:nvSpPr>
          <p:cNvPr id="28" name="">
            <a:extLst xmlns:a="http://schemas.openxmlformats.org/drawingml/2006/main">
              <a:ext uri="{FF2B5EF4-FFF2-40B4-BE49-F238E27FC236}">
                <a16:creationId xmlns:a16="http://schemas.microsoft.com/office/drawing/2014/main" id="{375323F7-AA05-4E3A-900D-2185CAC598D1}"/>
              </a:ext>
            </a:extLst>
          </p:cNvPr>
          <p:cNvSpPr>
            <a:spLocks xmlns:a="http://schemas.openxmlformats.org/drawingml/2006/main" noGrp="1"/>
          </p:cNvSpPr>
          <p:nvPr/>
        </p:nvSpPr>
        <p:spPr>
          <a:xfrm xmlns:a="http://schemas.openxmlformats.org/drawingml/2006/main">
            <a:off x="8334375" y="3162300"/>
            <a:ext cx="76200" cy="76200"/>
          </a:xfrm>
          <a:prstGeom xmlns:a="http://schemas.openxmlformats.org/drawingml/2006/main" prst="ellipse">
            <a:avLst/>
          </a:prstGeom>
          <a:solidFill xmlns:a="http://schemas.openxmlformats.org/drawingml/2006/main">
            <a:srgbClr val="15836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D52243C-8734-4918-AF52-0000B6B58831}"/>
              </a:ext>
            </a:extLst>
          </p:cNvPr>
          <p:cNvSpPr>
            <a:spLocks xmlns:a="http://schemas.openxmlformats.org/drawingml/2006/main" noGrp="1"/>
          </p:cNvSpPr>
          <p:nvPr/>
        </p:nvSpPr>
        <p:spPr>
          <a:xfrm xmlns:a="http://schemas.openxmlformats.org/drawingml/2006/main">
            <a:off x="8524875" y="30861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158368"/>
                </a:solidFill>
                <a:latin typeface="Arial"/>
                <a:ea typeface="Arial"/>
                <a:cs typeface="Arial"/>
              </a:defRPr>
            </a:pPr>
            <a:r>
              <a:rPr sz="1425" b="1" i="0">
                <a:solidFill>
                  <a:srgbClr val="158368"/>
                </a:solidFill>
                <a:latin typeface="Arial"/>
                <a:ea typeface="Arial"/>
                <a:cs typeface="Arial"/>
              </a:rPr>
              <a:t>Area 7.4720401592</a:t>
            </a:r>
          </a:p>
        </p:txBody>
      </p:sp>
      <p:sp>
        <p:nvSpPr>
          <p:cNvPr id="30" name="">
            <a:extLst xmlns:a="http://schemas.openxmlformats.org/drawingml/2006/main">
              <a:ext uri="{FF2B5EF4-FFF2-40B4-BE49-F238E27FC236}">
                <a16:creationId xmlns:a16="http://schemas.microsoft.com/office/drawing/2014/main" id="{8803CEC7-DAF6-45C9-A44D-F5ADC8190C61}"/>
              </a:ext>
            </a:extLst>
          </p:cNvPr>
          <p:cNvSpPr>
            <a:spLocks xmlns:a="http://schemas.openxmlformats.org/drawingml/2006/main" noGrp="1"/>
          </p:cNvSpPr>
          <p:nvPr/>
        </p:nvSpPr>
        <p:spPr>
          <a:xfrm xmlns:a="http://schemas.openxmlformats.org/drawingml/2006/main">
            <a:off x="8524875" y="33432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36475"/>
                </a:solidFill>
                <a:latin typeface="Arial"/>
                <a:ea typeface="Arial"/>
                <a:cs typeface="Arial"/>
              </a:defRPr>
            </a:pPr>
            <a:r>
              <a:rPr sz="1275" b="0" i="0">
                <a:solidFill>
                  <a:srgbClr val="536475"/>
                </a:solidFill>
                <a:latin typeface="Arial"/>
                <a:ea typeface="Arial"/>
                <a:cs typeface="Arial"/>
              </a:rPr>
              <a:t>Four vertices; 94.0698% of the hull is excluded</a:t>
            </a:r>
          </a:p>
        </p:txBody>
      </p:sp>
      <p:sp>
        <p:nvSpPr>
          <p:cNvPr id="31" name="">
            <a:extLst xmlns:a="http://schemas.openxmlformats.org/drawingml/2006/main">
              <a:ext uri="{FF2B5EF4-FFF2-40B4-BE49-F238E27FC236}">
                <a16:creationId xmlns:a16="http://schemas.microsoft.com/office/drawing/2014/main" id="{E7B2BD0E-A14C-4DBB-9DB9-86EC891631CF}"/>
              </a:ext>
            </a:extLst>
          </p:cNvPr>
          <p:cNvSpPr>
            <a:spLocks xmlns:a="http://schemas.openxmlformats.org/drawingml/2006/main" noGrp="1"/>
          </p:cNvSpPr>
          <p:nvPr/>
        </p:nvSpPr>
        <p:spPr>
          <a:xfrm xmlns:a="http://schemas.openxmlformats.org/drawingml/2006/main">
            <a:off x="8334375" y="4314825"/>
            <a:ext cx="76200" cy="76200"/>
          </a:xfrm>
          <a:prstGeom xmlns:a="http://schemas.openxmlformats.org/drawingml/2006/main" prst="ellipse">
            <a:avLst/>
          </a:prstGeom>
          <a:solidFill xmlns:a="http://schemas.openxmlformats.org/drawingml/2006/main">
            <a:srgbClr val="3979A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49D30FC-E7E9-4B2A-8BC0-1E79963F70E1}"/>
              </a:ext>
            </a:extLst>
          </p:cNvPr>
          <p:cNvSpPr>
            <a:spLocks xmlns:a="http://schemas.openxmlformats.org/drawingml/2006/main" noGrp="1"/>
          </p:cNvSpPr>
          <p:nvPr/>
        </p:nvSpPr>
        <p:spPr>
          <a:xfrm xmlns:a="http://schemas.openxmlformats.org/drawingml/2006/main">
            <a:off x="8524875" y="4238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3979AD"/>
                </a:solidFill>
                <a:latin typeface="Arial"/>
                <a:ea typeface="Arial"/>
                <a:cs typeface="Arial"/>
              </a:defRPr>
            </a:pPr>
            <a:r>
              <a:rPr sz="1425" b="1" i="0">
                <a:solidFill>
                  <a:srgbClr val="3979AD"/>
                </a:solidFill>
                <a:latin typeface="Arial"/>
                <a:ea typeface="Arial"/>
                <a:cs typeface="Arial"/>
              </a:rPr>
              <a:t>55.7868% smaller</a:t>
            </a:r>
          </a:p>
        </p:txBody>
      </p:sp>
      <p:sp>
        <p:nvSpPr>
          <p:cNvPr id="33" name="">
            <a:extLst xmlns:a="http://schemas.openxmlformats.org/drawingml/2006/main">
              <a:ext uri="{FF2B5EF4-FFF2-40B4-BE49-F238E27FC236}">
                <a16:creationId xmlns:a16="http://schemas.microsoft.com/office/drawing/2014/main" id="{CA9A603A-F9F1-4D7F-B5EA-A514690186DD}"/>
              </a:ext>
            </a:extLst>
          </p:cNvPr>
          <p:cNvSpPr>
            <a:spLocks xmlns:a="http://schemas.openxmlformats.org/drawingml/2006/main" noGrp="1"/>
          </p:cNvSpPr>
          <p:nvPr/>
        </p:nvSpPr>
        <p:spPr>
          <a:xfrm xmlns:a="http://schemas.openxmlformats.org/drawingml/2006/main">
            <a:off x="8524875" y="44958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36475"/>
                </a:solidFill>
                <a:latin typeface="Arial"/>
                <a:ea typeface="Arial"/>
                <a:cs typeface="Arial"/>
              </a:defRPr>
            </a:pPr>
            <a:r>
              <a:rPr sz="1275" b="0" i="0">
                <a:solidFill>
                  <a:srgbClr val="536475"/>
                </a:solidFill>
                <a:latin typeface="Arial"/>
                <a:ea typeface="Arial"/>
                <a:cs typeface="Arial"/>
              </a:rPr>
              <a:t>Relative to the old area 16.9000125109</a:t>
            </a:r>
          </a:p>
        </p:txBody>
      </p:sp>
      <p:sp>
        <p:nvSpPr>
          <p:cNvPr id="34" name="">
            <a:extLst xmlns:a="http://schemas.openxmlformats.org/drawingml/2006/main">
              <a:ext uri="{FF2B5EF4-FFF2-40B4-BE49-F238E27FC236}">
                <a16:creationId xmlns:a16="http://schemas.microsoft.com/office/drawing/2014/main" id="{B3C2395F-3751-4317-9D33-46CDD375C5DB}"/>
              </a:ext>
            </a:extLst>
          </p:cNvPr>
          <p:cNvSpPr>
            <a:spLocks xmlns:a="http://schemas.openxmlformats.org/drawingml/2006/main" noGrp="1"/>
          </p:cNvSpPr>
          <p:nvPr/>
        </p:nvSpPr>
        <p:spPr>
          <a:xfrm xmlns:a="http://schemas.openxmlformats.org/drawingml/2006/main">
            <a:off x="8191500" y="5295900"/>
            <a:ext cx="328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475"/>
                </a:solidFill>
                <a:latin typeface="Arial"/>
                <a:ea typeface="Arial"/>
                <a:cs typeface="Arial"/>
              </a:defRPr>
            </a:pPr>
            <a:r>
              <a:rPr sz="1575" b="0" i="0">
                <a:solidFill>
                  <a:srgbClr val="536475"/>
                </a:solidFill>
                <a:latin typeface="Arial"/>
                <a:ea typeface="Arial"/>
                <a:cs typeface="Arial"/>
              </a:rPr>
              <a:t>The triangle chest is now a proved four-input chest here — not merely a comparison overlay.</a:t>
            </a:r>
          </a:p>
        </p:txBody>
      </p:sp>
      <p:sp>
        <p:nvSpPr>
          <p:cNvPr id="35" name="">
            <a:extLst xmlns:a="http://schemas.openxmlformats.org/drawingml/2006/main">
              <a:ext uri="{FF2B5EF4-FFF2-40B4-BE49-F238E27FC236}">
                <a16:creationId xmlns:a16="http://schemas.microsoft.com/office/drawing/2014/main" id="{779159C0-2B5A-45F2-87A4-7A0581605F00}"/>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36</a:t>
            </a:r>
          </a:p>
        </p:txBody>
      </p:sp>
    </p:spTree>
    <p:extLst>
      <p:ext uri="{BB962C8B-B14F-4D97-AF65-F5344CB8AC3E}">
        <p14:creationId xmlns:p14="http://schemas.microsoft.com/office/powerpoint/2010/main" val="940180481"/>
      </p:ext>
    </p:extLst>
  </p:cSld>
  <p:transition spd="slow" advClick="1">
    <p:fade/>
  </p:transition>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7B50905-D66B-407D-96EB-AD78D7F8F966}"/>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Three insertion statements must not be confused</a:t>
            </a:r>
          </a:p>
        </p:txBody>
      </p:sp>
      <p:sp>
        <p:nvSpPr>
          <p:cNvPr id="2" name="">
            <a:extLst xmlns:a="http://schemas.openxmlformats.org/drawingml/2006/main">
              <a:ext uri="{FF2B5EF4-FFF2-40B4-BE49-F238E27FC236}">
                <a16:creationId xmlns:a16="http://schemas.microsoft.com/office/drawing/2014/main" id="{6997D5E1-11E6-41A5-B2B5-DC45B499DDAB}"/>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Only the first applies to every attractive map in the broad finite-response class</a:t>
            </a:r>
          </a:p>
        </p:txBody>
      </p:sp>
      <p:sp>
        <p:nvSpPr>
          <p:cNvPr id="3" name="">
            <a:extLst xmlns:a="http://schemas.openxmlformats.org/drawingml/2006/main">
              <a:ext uri="{FF2B5EF4-FFF2-40B4-BE49-F238E27FC236}">
                <a16:creationId xmlns:a16="http://schemas.microsoft.com/office/drawing/2014/main" id="{3EFB58B6-EC75-4BF9-AF24-684B29246A44}"/>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A6CD30D0-25C5-4566-9179-223B3D0F756B}"/>
              </a:ext>
            </a:extLst>
          </p:cNvPr>
          <p:cNvSpPr>
            <a:spLocks xmlns:a="http://schemas.openxmlformats.org/drawingml/2006/main" noGrp="1"/>
          </p:cNvSpPr>
          <p:nvPr/>
        </p:nvSpPr>
        <p:spPr>
          <a:xfrm xmlns:a="http://schemas.openxmlformats.org/drawingml/2006/main">
            <a:off x="619125" y="1562100"/>
            <a:ext cx="10906125" cy="1276350"/>
          </a:xfrm>
          <a:prstGeom xmlns:a="http://schemas.openxmlformats.org/drawingml/2006/main" prst="rect">
            <a:avLst/>
          </a:prstGeom>
          <a:solidFill xmlns:a="http://schemas.openxmlformats.org/drawingml/2006/main">
            <a:srgbClr val="F4F6F8"/>
          </a:solidFill>
          <a:ln xmlns:a="http://schemas.openxmlformats.org/drawingml/2006/main" w="9525">
            <a:solidFill>
              <a:srgbClr val="158368">
                <a:alpha val="50000"/>
              </a:srgbClr>
            </a:solidFill>
          </a:ln>
        </p:spPr>
      </p:sp>
      <p:sp>
        <p:nvSpPr>
          <p:cNvPr id="5" name="">
            <a:extLst xmlns:a="http://schemas.openxmlformats.org/drawingml/2006/main">
              <a:ext uri="{FF2B5EF4-FFF2-40B4-BE49-F238E27FC236}">
                <a16:creationId xmlns:a16="http://schemas.microsoft.com/office/drawing/2014/main" id="{0FAB097E-E7B7-47B3-8B05-BD89E9BD78E9}"/>
              </a:ext>
            </a:extLst>
          </p:cNvPr>
          <p:cNvSpPr>
            <a:spLocks xmlns:a="http://schemas.openxmlformats.org/drawingml/2006/main" noGrp="1"/>
          </p:cNvSpPr>
          <p:nvPr/>
        </p:nvSpPr>
        <p:spPr>
          <a:xfrm xmlns:a="http://schemas.openxmlformats.org/drawingml/2006/main">
            <a:off x="838200" y="172402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58368"/>
                </a:solidFill>
                <a:latin typeface="Arial"/>
                <a:ea typeface="Arial"/>
                <a:cs typeface="Arial"/>
              </a:defRPr>
            </a:pPr>
            <a:r>
              <a:rPr sz="1875" b="1" i="0">
                <a:solidFill>
                  <a:srgbClr val="158368"/>
                </a:solidFill>
                <a:latin typeface="Arial"/>
                <a:ea typeface="Arial"/>
                <a:cs typeface="Arial"/>
              </a:rPr>
              <a:t>Centroid transfer</a:t>
            </a:r>
          </a:p>
        </p:txBody>
      </p:sp>
      <p:sp>
        <p:nvSpPr>
          <p:cNvPr id="6" name="">
            <a:extLst xmlns:a="http://schemas.openxmlformats.org/drawingml/2006/main">
              <a:ext uri="{FF2B5EF4-FFF2-40B4-BE49-F238E27FC236}">
                <a16:creationId xmlns:a16="http://schemas.microsoft.com/office/drawing/2014/main" id="{54DE15C0-E2A6-409F-B170-CCAC5F9CD2C9}"/>
              </a:ext>
            </a:extLst>
          </p:cNvPr>
          <p:cNvSpPr>
            <a:spLocks xmlns:a="http://schemas.openxmlformats.org/drawingml/2006/main" noGrp="1"/>
          </p:cNvSpPr>
          <p:nvPr/>
        </p:nvSpPr>
        <p:spPr>
          <a:xfrm xmlns:a="http://schemas.openxmlformats.org/drawingml/2006/main">
            <a:off x="3476625" y="1724025"/>
            <a:ext cx="762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243849"/>
                </a:solidFill>
                <a:latin typeface="Arial"/>
                <a:ea typeface="Arial"/>
                <a:cs typeface="Arial"/>
              </a:defRPr>
            </a:pPr>
            <a:r>
              <a:rPr sz="1650" b="0" i="0">
                <a:solidFill>
                  <a:srgbClr val="243849"/>
                </a:solidFill>
                <a:latin typeface="Arial"/>
                <a:ea typeface="Arial"/>
                <a:cs typeface="Arial"/>
              </a:rPr>
              <a:t>Insert G(P). The induced map is attractive; every broad chest transfers.</a:t>
            </a:r>
          </a:p>
        </p:txBody>
      </p:sp>
      <p:sp>
        <p:nvSpPr>
          <p:cNvPr id="7" name="">
            <a:extLst xmlns:a="http://schemas.openxmlformats.org/drawingml/2006/main">
              <a:ext uri="{FF2B5EF4-FFF2-40B4-BE49-F238E27FC236}">
                <a16:creationId xmlns:a16="http://schemas.microsoft.com/office/drawing/2014/main" id="{0D6FB909-036F-412D-8B39-35D84E8D4281}"/>
              </a:ext>
            </a:extLst>
          </p:cNvPr>
          <p:cNvSpPr>
            <a:spLocks xmlns:a="http://schemas.openxmlformats.org/drawingml/2006/main" noGrp="1"/>
          </p:cNvSpPr>
          <p:nvPr/>
        </p:nvSpPr>
        <p:spPr>
          <a:xfrm xmlns:a="http://schemas.openxmlformats.org/drawingml/2006/main">
            <a:off x="3476625" y="2457450"/>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158368"/>
                </a:solidFill>
                <a:latin typeface="Arial"/>
                <a:ea typeface="Arial"/>
                <a:cs typeface="Arial"/>
              </a:defRPr>
            </a:pPr>
            <a:r>
              <a:rPr sz="1350" b="1" i="0">
                <a:solidFill>
                  <a:srgbClr val="158368"/>
                </a:solidFill>
                <a:latin typeface="Arial"/>
                <a:ea typeface="Arial"/>
                <a:cs typeface="Arial"/>
              </a:rPr>
              <a:t>Unconditional</a:t>
            </a:r>
          </a:p>
        </p:txBody>
      </p:sp>
      <p:sp>
        <p:nvSpPr>
          <p:cNvPr id="8" name="">
            <a:extLst xmlns:a="http://schemas.openxmlformats.org/drawingml/2006/main">
              <a:ext uri="{FF2B5EF4-FFF2-40B4-BE49-F238E27FC236}">
                <a16:creationId xmlns:a16="http://schemas.microsoft.com/office/drawing/2014/main" id="{4952E3A5-FE73-447E-AC6D-9A20BF3B5995}"/>
              </a:ext>
            </a:extLst>
          </p:cNvPr>
          <p:cNvSpPr>
            <a:spLocks xmlns:a="http://schemas.openxmlformats.org/drawingml/2006/main" noGrp="1"/>
          </p:cNvSpPr>
          <p:nvPr/>
        </p:nvSpPr>
        <p:spPr>
          <a:xfrm xmlns:a="http://schemas.openxmlformats.org/drawingml/2006/main">
            <a:off x="619125" y="3038475"/>
            <a:ext cx="10906125" cy="1276350"/>
          </a:xfrm>
          <a:prstGeom xmlns:a="http://schemas.openxmlformats.org/drawingml/2006/main" prst="rect">
            <a:avLst/>
          </a:prstGeom>
          <a:solidFill xmlns:a="http://schemas.openxmlformats.org/drawingml/2006/main">
            <a:srgbClr val="F4F6F8"/>
          </a:solidFill>
          <a:ln xmlns:a="http://schemas.openxmlformats.org/drawingml/2006/main" w="9525">
            <a:solidFill>
              <a:srgbClr val="8E569C">
                <a:alpha val="50000"/>
              </a:srgbClr>
            </a:solidFill>
          </a:ln>
        </p:spPr>
      </p:sp>
      <p:sp>
        <p:nvSpPr>
          <p:cNvPr id="9" name="">
            <a:extLst xmlns:a="http://schemas.openxmlformats.org/drawingml/2006/main">
              <a:ext uri="{FF2B5EF4-FFF2-40B4-BE49-F238E27FC236}">
                <a16:creationId xmlns:a16="http://schemas.microsoft.com/office/drawing/2014/main" id="{97FD768E-EBBB-4438-B39A-6D98A5D88D16}"/>
              </a:ext>
            </a:extLst>
          </p:cNvPr>
          <p:cNvSpPr>
            <a:spLocks xmlns:a="http://schemas.openxmlformats.org/drawingml/2006/main" noGrp="1"/>
          </p:cNvSpPr>
          <p:nvPr/>
        </p:nvSpPr>
        <p:spPr>
          <a:xfrm xmlns:a="http://schemas.openxmlformats.org/drawingml/2006/main">
            <a:off x="838200" y="32004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8E569C"/>
                </a:solidFill>
                <a:latin typeface="Arial"/>
                <a:ea typeface="Arial"/>
                <a:cs typeface="Arial"/>
              </a:defRPr>
            </a:pPr>
            <a:r>
              <a:rPr sz="1875" b="1" i="0">
                <a:solidFill>
                  <a:srgbClr val="8E569C"/>
                </a:solidFill>
                <a:latin typeface="Arial"/>
                <a:ea typeface="Arial"/>
                <a:cs typeface="Arial"/>
              </a:rPr>
              <a:t>Absorption</a:t>
            </a:r>
          </a:p>
        </p:txBody>
      </p:sp>
      <p:sp>
        <p:nvSpPr>
          <p:cNvPr id="10" name="">
            <a:extLst xmlns:a="http://schemas.openxmlformats.org/drawingml/2006/main">
              <a:ext uri="{FF2B5EF4-FFF2-40B4-BE49-F238E27FC236}">
                <a16:creationId xmlns:a16="http://schemas.microsoft.com/office/drawing/2014/main" id="{170C29D4-4475-45E3-8BC8-53920EF79E13}"/>
              </a:ext>
            </a:extLst>
          </p:cNvPr>
          <p:cNvSpPr>
            <a:spLocks xmlns:a="http://schemas.openxmlformats.org/drawingml/2006/main" noGrp="1"/>
          </p:cNvSpPr>
          <p:nvPr/>
        </p:nvSpPr>
        <p:spPr>
          <a:xfrm xmlns:a="http://schemas.openxmlformats.org/drawingml/2006/main">
            <a:off x="3476625" y="3200400"/>
            <a:ext cx="762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243849"/>
                </a:solidFill>
                <a:latin typeface="Arial"/>
                <a:ea typeface="Arial"/>
                <a:cs typeface="Arial"/>
              </a:defRPr>
            </a:pPr>
            <a:r>
              <a:rPr sz="1650" b="0" i="0">
                <a:solidFill>
                  <a:srgbClr val="243849"/>
                </a:solidFill>
                <a:latin typeface="Arial"/>
                <a:ea typeface="Arial"/>
                <a:cs typeface="Arial"/>
              </a:rPr>
              <a:t>X(P,X(P)) = X(P). This compares a coherent family across arities.</a:t>
            </a:r>
          </a:p>
        </p:txBody>
      </p:sp>
      <p:sp>
        <p:nvSpPr>
          <p:cNvPr id="11" name="">
            <a:extLst xmlns:a="http://schemas.openxmlformats.org/drawingml/2006/main">
              <a:ext uri="{FF2B5EF4-FFF2-40B4-BE49-F238E27FC236}">
                <a16:creationId xmlns:a16="http://schemas.microsoft.com/office/drawing/2014/main" id="{02C6E954-FF77-49BA-8E12-80C49F6B9059}"/>
              </a:ext>
            </a:extLst>
          </p:cNvPr>
          <p:cNvSpPr>
            <a:spLocks xmlns:a="http://schemas.openxmlformats.org/drawingml/2006/main" noGrp="1"/>
          </p:cNvSpPr>
          <p:nvPr/>
        </p:nvSpPr>
        <p:spPr>
          <a:xfrm xmlns:a="http://schemas.openxmlformats.org/drawingml/2006/main">
            <a:off x="3476625" y="393382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E569C"/>
                </a:solidFill>
                <a:latin typeface="Arial"/>
                <a:ea typeface="Arial"/>
                <a:cs typeface="Arial"/>
              </a:defRPr>
            </a:pPr>
            <a:r>
              <a:rPr sz="1350" b="1" i="0">
                <a:solidFill>
                  <a:srgbClr val="8E569C"/>
                </a:solidFill>
                <a:latin typeface="Arial"/>
                <a:ea typeface="Arial"/>
                <a:cs typeface="Arial"/>
              </a:rPr>
              <a:t>Extra hypothesis</a:t>
            </a:r>
          </a:p>
        </p:txBody>
      </p:sp>
      <p:sp>
        <p:nvSpPr>
          <p:cNvPr id="12" name="">
            <a:extLst xmlns:a="http://schemas.openxmlformats.org/drawingml/2006/main">
              <a:ext uri="{FF2B5EF4-FFF2-40B4-BE49-F238E27FC236}">
                <a16:creationId xmlns:a16="http://schemas.microsoft.com/office/drawing/2014/main" id="{799ACB47-4FD4-4A7C-B672-9139365F7D83}"/>
              </a:ext>
            </a:extLst>
          </p:cNvPr>
          <p:cNvSpPr>
            <a:spLocks xmlns:a="http://schemas.openxmlformats.org/drawingml/2006/main" noGrp="1"/>
          </p:cNvSpPr>
          <p:nvPr/>
        </p:nvSpPr>
        <p:spPr>
          <a:xfrm xmlns:a="http://schemas.openxmlformats.org/drawingml/2006/main">
            <a:off x="619125" y="4514850"/>
            <a:ext cx="10906125" cy="1276350"/>
          </a:xfrm>
          <a:prstGeom xmlns:a="http://schemas.openxmlformats.org/drawingml/2006/main" prst="rect">
            <a:avLst/>
          </a:prstGeom>
          <a:solidFill xmlns:a="http://schemas.openxmlformats.org/drawingml/2006/main">
            <a:srgbClr val="F4F6F8"/>
          </a:solidFill>
          <a:ln xmlns:a="http://schemas.openxmlformats.org/drawingml/2006/main" w="9525">
            <a:solidFill>
              <a:srgbClr val="3979AD">
                <a:alpha val="50000"/>
              </a:srgbClr>
            </a:solidFill>
          </a:ln>
        </p:spPr>
      </p:sp>
      <p:sp>
        <p:nvSpPr>
          <p:cNvPr id="13" name="">
            <a:extLst xmlns:a="http://schemas.openxmlformats.org/drawingml/2006/main">
              <a:ext uri="{FF2B5EF4-FFF2-40B4-BE49-F238E27FC236}">
                <a16:creationId xmlns:a16="http://schemas.microsoft.com/office/drawing/2014/main" id="{31C4D890-0D9C-444F-91BF-697C48A23971}"/>
              </a:ext>
            </a:extLst>
          </p:cNvPr>
          <p:cNvSpPr>
            <a:spLocks xmlns:a="http://schemas.openxmlformats.org/drawingml/2006/main" noGrp="1"/>
          </p:cNvSpPr>
          <p:nvPr/>
        </p:nvSpPr>
        <p:spPr>
          <a:xfrm xmlns:a="http://schemas.openxmlformats.org/drawingml/2006/main">
            <a:off x="838200" y="467677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979AD"/>
                </a:solidFill>
                <a:latin typeface="Arial"/>
                <a:ea typeface="Arial"/>
                <a:cs typeface="Arial"/>
              </a:defRPr>
            </a:pPr>
            <a:r>
              <a:rPr sz="1875" b="1" i="0">
                <a:solidFill>
                  <a:srgbClr val="3979AD"/>
                </a:solidFill>
                <a:latin typeface="Arial"/>
                <a:ea typeface="Arial"/>
                <a:cs typeface="Arial"/>
              </a:rPr>
              <a:t>Diameter-ball insertion</a:t>
            </a:r>
          </a:p>
        </p:txBody>
      </p:sp>
      <p:sp>
        <p:nvSpPr>
          <p:cNvPr id="14" name="">
            <a:extLst xmlns:a="http://schemas.openxmlformats.org/drawingml/2006/main">
              <a:ext uri="{FF2B5EF4-FFF2-40B4-BE49-F238E27FC236}">
                <a16:creationId xmlns:a16="http://schemas.microsoft.com/office/drawing/2014/main" id="{08AABB4F-27CB-49BD-9234-8B5902C0C85A}"/>
              </a:ext>
            </a:extLst>
          </p:cNvPr>
          <p:cNvSpPr>
            <a:spLocks xmlns:a="http://schemas.openxmlformats.org/drawingml/2006/main" noGrp="1"/>
          </p:cNvSpPr>
          <p:nvPr/>
        </p:nvSpPr>
        <p:spPr>
          <a:xfrm xmlns:a="http://schemas.openxmlformats.org/drawingml/2006/main">
            <a:off x="3476625" y="4676775"/>
            <a:ext cx="762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243849"/>
                </a:solidFill>
                <a:latin typeface="Arial"/>
                <a:ea typeface="Arial"/>
                <a:cs typeface="Arial"/>
              </a:defRPr>
            </a:pPr>
            <a:r>
              <a:rPr sz="1650" b="0" i="0">
                <a:solidFill>
                  <a:srgbClr val="243849"/>
                </a:solidFill>
                <a:latin typeface="Arial"/>
                <a:ea typeface="Arial"/>
                <a:cs typeface="Arial"/>
              </a:rPr>
              <a:t>For convex power means: (y−x)·(y−z) ≤ 0. The new mean y lies in the ball with diameter [x,z].</a:t>
            </a:r>
          </a:p>
        </p:txBody>
      </p:sp>
      <p:sp>
        <p:nvSpPr>
          <p:cNvPr id="15" name="">
            <a:extLst xmlns:a="http://schemas.openxmlformats.org/drawingml/2006/main">
              <a:ext uri="{FF2B5EF4-FFF2-40B4-BE49-F238E27FC236}">
                <a16:creationId xmlns:a16="http://schemas.microsoft.com/office/drawing/2014/main" id="{B13FC039-6B24-408D-9BEF-EE77DABBBE2F}"/>
              </a:ext>
            </a:extLst>
          </p:cNvPr>
          <p:cNvSpPr>
            <a:spLocks xmlns:a="http://schemas.openxmlformats.org/drawingml/2006/main" noGrp="1"/>
          </p:cNvSpPr>
          <p:nvPr/>
        </p:nvSpPr>
        <p:spPr>
          <a:xfrm xmlns:a="http://schemas.openxmlformats.org/drawingml/2006/main">
            <a:off x="3476625" y="5410200"/>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3979AD"/>
                </a:solidFill>
                <a:latin typeface="Arial"/>
                <a:ea typeface="Arial"/>
                <a:cs typeface="Arial"/>
              </a:defRPr>
            </a:pPr>
            <a:r>
              <a:rPr sz="1350" b="1" i="0">
                <a:solidFill>
                  <a:srgbClr val="3979AD"/>
                </a:solidFill>
                <a:latin typeface="Arial"/>
                <a:ea typeface="Arial"/>
                <a:cs typeface="Arial"/>
              </a:rPr>
              <a:t>Proved for the power family</a:t>
            </a:r>
          </a:p>
        </p:txBody>
      </p:sp>
      <p:sp>
        <p:nvSpPr>
          <p:cNvPr id="16" name="">
            <a:extLst xmlns:a="http://schemas.openxmlformats.org/drawingml/2006/main">
              <a:ext uri="{FF2B5EF4-FFF2-40B4-BE49-F238E27FC236}">
                <a16:creationId xmlns:a16="http://schemas.microsoft.com/office/drawing/2014/main" id="{82F91A27-CA5C-44BA-AD50-BF72D790ED74}"/>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37</a:t>
            </a:r>
          </a:p>
        </p:txBody>
      </p:sp>
    </p:spTree>
    <p:extLst>
      <p:ext uri="{BB962C8B-B14F-4D97-AF65-F5344CB8AC3E}">
        <p14:creationId xmlns:p14="http://schemas.microsoft.com/office/powerpoint/2010/main" val="352231394"/>
      </p:ext>
    </p:extLst>
  </p:cSld>
  <p:transition spd="slow" advClick="1">
    <p:fade/>
  </p:transition>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96059C-E8F6-46E5-8478-A1A26C0478BB}"/>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In space: valid bounds, but no face-pyramid rule</a:t>
            </a:r>
          </a:p>
        </p:txBody>
      </p:sp>
      <p:sp>
        <p:nvSpPr>
          <p:cNvPr id="2" name="">
            <a:extLst xmlns:a="http://schemas.openxmlformats.org/drawingml/2006/main">
              <a:ext uri="{FF2B5EF4-FFF2-40B4-BE49-F238E27FC236}">
                <a16:creationId xmlns:a16="http://schemas.microsoft.com/office/drawing/2014/main" id="{E9F12722-6E6B-4769-81C1-E2FB6E7EEC74}"/>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A concrete attractive M₄ center disproves the tempting face-cone insertion rule</a:t>
            </a:r>
          </a:p>
        </p:txBody>
      </p:sp>
      <p:sp>
        <p:nvSpPr>
          <p:cNvPr id="3" name="">
            <a:extLst xmlns:a="http://schemas.openxmlformats.org/drawingml/2006/main">
              <a:ext uri="{FF2B5EF4-FFF2-40B4-BE49-F238E27FC236}">
                <a16:creationId xmlns:a16="http://schemas.microsoft.com/office/drawing/2014/main" id="{EDF6FB8A-47B7-476A-AD42-3123599E9DF7}"/>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1ECE4E8A-17AF-4FC7-A49A-67E60101BB1A}"/>
              </a:ext>
            </a:extLst>
          </p:cNvPr>
          <p:cNvSpPr>
            <a:spLocks xmlns:a="http://schemas.openxmlformats.org/drawingml/2006/main" noGrp="1"/>
          </p:cNvSpPr>
          <p:nvPr/>
        </p:nvSpPr>
        <p:spPr>
          <a:xfrm xmlns:a="http://schemas.openxmlformats.org/drawingml/2006/main">
            <a:off x="714375" y="1638300"/>
            <a:ext cx="4857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i="0">
                <a:solidFill>
                  <a:srgbClr val="243849"/>
                </a:solidFill>
                <a:latin typeface="Arial"/>
                <a:ea typeface="Arial"/>
                <a:cs typeface="Arial"/>
              </a:defRPr>
            </a:pPr>
            <a:r>
              <a:rPr sz="2025" b="0" i="0">
                <a:solidFill>
                  <a:srgbClr val="243849"/>
                </a:solidFill>
                <a:latin typeface="Arial"/>
                <a:ea typeface="Arial"/>
                <a:cs typeface="Arial"/>
              </a:rPr>
              <a:t>A = (1,0,0)</a:t>
            </a:r>
          </a:p>
          <a:p xmlns:a="http://schemas.openxmlformats.org/drawingml/2006/main">
            <a:pPr algn="l">
              <a:defRPr sz="2025" b="0" i="0">
                <a:solidFill>
                  <a:srgbClr val="243849"/>
                </a:solidFill>
                <a:latin typeface="Arial"/>
                <a:ea typeface="Arial"/>
                <a:cs typeface="Arial"/>
              </a:defRPr>
            </a:pPr>
            <a:r>
              <a:rPr sz="2025" b="0" i="0">
                <a:solidFill>
                  <a:srgbClr val="243849"/>
                </a:solidFill>
                <a:latin typeface="Arial"/>
                <a:ea typeface="Arial"/>
                <a:cs typeface="Arial"/>
              </a:rPr>
              <a:t>B = (−1/2, √3/2, 0)</a:t>
            </a:r>
          </a:p>
          <a:p xmlns:a="http://schemas.openxmlformats.org/drawingml/2006/main">
            <a:pPr algn="l">
              <a:defRPr sz="2025" b="0" i="0">
                <a:solidFill>
                  <a:srgbClr val="243849"/>
                </a:solidFill>
                <a:latin typeface="Arial"/>
                <a:ea typeface="Arial"/>
                <a:cs typeface="Arial"/>
              </a:defRPr>
            </a:pPr>
            <a:r>
              <a:rPr sz="2025" b="0" i="0">
                <a:solidFill>
                  <a:srgbClr val="243849"/>
                </a:solidFill>
                <a:latin typeface="Arial"/>
                <a:ea typeface="Arial"/>
                <a:cs typeface="Arial"/>
              </a:rPr>
              <a:t>C = (−1/2, −√3/2, 0)</a:t>
            </a:r>
          </a:p>
          <a:p xmlns:a="http://schemas.openxmlformats.org/drawingml/2006/main">
            <a:pPr algn="l">
              <a:defRPr sz="2025" b="0" i="0">
                <a:solidFill>
                  <a:srgbClr val="243849"/>
                </a:solidFill>
                <a:latin typeface="Arial"/>
                <a:ea typeface="Arial"/>
                <a:cs typeface="Arial"/>
              </a:defRPr>
            </a:pPr>
            <a:r>
              <a:rPr sz="2025" b="0" i="0">
                <a:solidFill>
                  <a:srgbClr val="243849"/>
                </a:solidFill>
                <a:latin typeface="Arial"/>
                <a:ea typeface="Arial"/>
                <a:cs typeface="Arial"/>
              </a:rPr>
              <a:t>D = (1,0,1)</a:t>
            </a:r>
          </a:p>
        </p:txBody>
      </p:sp>
      <p:sp>
        <p:nvSpPr>
          <p:cNvPr id="5" name="">
            <a:extLst xmlns:a="http://schemas.openxmlformats.org/drawingml/2006/main">
              <a:ext uri="{FF2B5EF4-FFF2-40B4-BE49-F238E27FC236}">
                <a16:creationId xmlns:a16="http://schemas.microsoft.com/office/drawing/2014/main" id="{EB32EF91-E332-4CEF-8A39-61A2397165AA}"/>
              </a:ext>
            </a:extLst>
          </p:cNvPr>
          <p:cNvSpPr>
            <a:spLocks xmlns:a="http://schemas.openxmlformats.org/drawingml/2006/main" noGrp="1"/>
          </p:cNvSpPr>
          <p:nvPr/>
        </p:nvSpPr>
        <p:spPr>
          <a:xfrm xmlns:a="http://schemas.openxmlformats.org/drawingml/2006/main">
            <a:off x="714375" y="372427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536475"/>
                </a:solidFill>
                <a:latin typeface="Arial"/>
                <a:ea typeface="Arial"/>
                <a:cs typeface="Arial"/>
              </a:defRPr>
            </a:pPr>
            <a:r>
              <a:rPr sz="1725" b="0" i="0">
                <a:solidFill>
                  <a:srgbClr val="536475"/>
                </a:solidFill>
                <a:latin typeface="Arial"/>
                <a:ea typeface="Arial"/>
                <a:cs typeface="Arial"/>
              </a:rPr>
              <a:t>ABC is equilateral; its chest is O.</a:t>
            </a:r>
          </a:p>
          <a:p xmlns:a="http://schemas.openxmlformats.org/drawingml/2006/main">
            <a:pPr algn="l">
              <a:defRPr sz="1725" b="0" i="0">
                <a:solidFill>
                  <a:srgbClr val="536475"/>
                </a:solidFill>
                <a:latin typeface="Arial"/>
                <a:ea typeface="Arial"/>
                <a:cs typeface="Arial"/>
              </a:defRPr>
            </a:pPr>
            <a:r>
              <a:rPr sz="1725" b="0" i="0">
                <a:solidFill>
                  <a:srgbClr val="536475"/>
                </a:solidFill>
                <a:latin typeface="Arial"/>
                <a:ea typeface="Arial"/>
                <a:cs typeface="Arial"/>
              </a:rPr>
              <a:t>The proposed pyramid collapses to [O,D].</a:t>
            </a:r>
          </a:p>
        </p:txBody>
      </p:sp>
      <p:sp>
        <p:nvSpPr>
          <p:cNvPr id="6" name="">
            <a:extLst xmlns:a="http://schemas.openxmlformats.org/drawingml/2006/main">
              <a:ext uri="{FF2B5EF4-FFF2-40B4-BE49-F238E27FC236}">
                <a16:creationId xmlns:a16="http://schemas.microsoft.com/office/drawing/2014/main" id="{555A39ED-188F-4386-A158-49A059C95E69}"/>
              </a:ext>
            </a:extLst>
          </p:cNvPr>
          <p:cNvSpPr>
            <a:spLocks xmlns:a="http://schemas.openxmlformats.org/drawingml/2006/main" noGrp="1"/>
          </p:cNvSpPr>
          <p:nvPr/>
        </p:nvSpPr>
        <p:spPr>
          <a:xfrm xmlns:a="http://schemas.openxmlformats.org/drawingml/2006/main">
            <a:off x="6191250" y="17145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BD5275"/>
                </a:solidFill>
                <a:latin typeface="Arial"/>
                <a:ea typeface="Arial"/>
                <a:cs typeface="Arial"/>
              </a:defRPr>
            </a:pPr>
            <a:r>
              <a:rPr sz="2100" b="1" i="0">
                <a:solidFill>
                  <a:srgbClr val="BD5275"/>
                </a:solidFill>
                <a:latin typeface="Arial"/>
                <a:ea typeface="Arial"/>
                <a:cs typeface="Arial"/>
              </a:rPr>
              <a:t>M₄ ≈ (0.16338338, 0, 0.27153976)</a:t>
            </a:r>
          </a:p>
        </p:txBody>
      </p:sp>
      <p:sp>
        <p:nvSpPr>
          <p:cNvPr id="7" name="">
            <a:extLst xmlns:a="http://schemas.openxmlformats.org/drawingml/2006/main">
              <a:ext uri="{FF2B5EF4-FFF2-40B4-BE49-F238E27FC236}">
                <a16:creationId xmlns:a16="http://schemas.microsoft.com/office/drawing/2014/main" id="{9D17D70D-BDB4-4C04-B971-8939762157A8}"/>
              </a:ext>
            </a:extLst>
          </p:cNvPr>
          <p:cNvSpPr>
            <a:spLocks xmlns:a="http://schemas.openxmlformats.org/drawingml/2006/main" noGrp="1"/>
          </p:cNvSpPr>
          <p:nvPr/>
        </p:nvSpPr>
        <p:spPr>
          <a:xfrm xmlns:a="http://schemas.openxmlformats.org/drawingml/2006/main">
            <a:off x="6191250" y="2714625"/>
            <a:ext cx="5000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It is not on [O,D], where x = z.</a:t>
            </a:r>
          </a:p>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Distance to that line: 0.0764781.</a:t>
            </a:r>
          </a:p>
        </p:txBody>
      </p:sp>
      <p:sp>
        <p:nvSpPr>
          <p:cNvPr id="8" name="">
            <a:extLst xmlns:a="http://schemas.openxmlformats.org/drawingml/2006/main">
              <a:ext uri="{FF2B5EF4-FFF2-40B4-BE49-F238E27FC236}">
                <a16:creationId xmlns:a16="http://schemas.microsoft.com/office/drawing/2014/main" id="{AAA6160C-C19D-4CEE-8CD5-F7C48CC5F51D}"/>
              </a:ext>
            </a:extLst>
          </p:cNvPr>
          <p:cNvSpPr>
            <a:spLocks xmlns:a="http://schemas.openxmlformats.org/drawingml/2006/main" noGrp="1"/>
          </p:cNvSpPr>
          <p:nvPr/>
        </p:nvSpPr>
        <p:spPr>
          <a:xfrm xmlns:a="http://schemas.openxmlformats.org/drawingml/2006/main">
            <a:off x="6191250" y="4048125"/>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3979AD"/>
                </a:solidFill>
                <a:latin typeface="Arial"/>
                <a:ea typeface="Arial"/>
                <a:cs typeface="Arial"/>
              </a:defRPr>
            </a:pPr>
            <a:r>
              <a:rPr sz="1725" b="0" i="0">
                <a:solidFill>
                  <a:srgbClr val="3979AD"/>
                </a:solidFill>
                <a:latin typeface="Arial"/>
                <a:ea typeface="Arial"/>
                <a:cs typeface="Arial"/>
              </a:rPr>
              <a:t>Use midpoint slabs, edge slabs, involution orbit bounds, and face-centroid transfer. Diameter balls remain a conditional power-family option.</a:t>
            </a:r>
          </a:p>
        </p:txBody>
      </p:sp>
      <p:sp>
        <p:nvSpPr>
          <p:cNvPr id="9" name="">
            <a:extLst xmlns:a="http://schemas.openxmlformats.org/drawingml/2006/main">
              <a:ext uri="{FF2B5EF4-FFF2-40B4-BE49-F238E27FC236}">
                <a16:creationId xmlns:a16="http://schemas.microsoft.com/office/drawing/2014/main" id="{65AE1184-E369-4683-BB45-18D1FF6BB98C}"/>
              </a:ext>
            </a:extLst>
          </p:cNvPr>
          <p:cNvSpPr>
            <a:spLocks xmlns:a="http://schemas.openxmlformats.org/drawingml/2006/main" noGrp="1"/>
          </p:cNvSpPr>
          <p:nvPr/>
        </p:nvSpPr>
        <p:spPr>
          <a:xfrm xmlns:a="http://schemas.openxmlformats.org/drawingml/2006/main">
            <a:off x="714375" y="55626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536475"/>
                </a:solidFill>
                <a:latin typeface="Arial"/>
                <a:ea typeface="Arial"/>
                <a:cs typeface="Arial"/>
              </a:defRPr>
            </a:pPr>
            <a:r>
              <a:rPr sz="1650" b="0" i="0">
                <a:solidFill>
                  <a:srgbClr val="536475"/>
                </a:solidFill>
                <a:latin typeface="Arial"/>
                <a:ea typeface="Arial"/>
                <a:cs typeface="Arial"/>
              </a:rPr>
              <a:t>A full continuous / recursive spatial network remains research work, not an implemented completeness claim.</a:t>
            </a:r>
          </a:p>
        </p:txBody>
      </p:sp>
      <p:sp>
        <p:nvSpPr>
          <p:cNvPr id="10" name="">
            <a:extLst xmlns:a="http://schemas.openxmlformats.org/drawingml/2006/main">
              <a:ext uri="{FF2B5EF4-FFF2-40B4-BE49-F238E27FC236}">
                <a16:creationId xmlns:a16="http://schemas.microsoft.com/office/drawing/2014/main" id="{0D7474BE-F7E9-45E4-98FC-2E28C525CDBE}"/>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38</a:t>
            </a:r>
          </a:p>
        </p:txBody>
      </p:sp>
    </p:spTree>
    <p:extLst>
      <p:ext uri="{BB962C8B-B14F-4D97-AF65-F5344CB8AC3E}">
        <p14:creationId xmlns:p14="http://schemas.microsoft.com/office/powerpoint/2010/main" val="524199015"/>
      </p:ext>
    </p:extLst>
  </p:cSld>
  <p:transition spd="slow" advClick="1">
    <p:fade/>
  </p:transition>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77AE4EF-4698-468A-8451-A5C577D2A685}"/>
              </a:ext>
            </a:extLst>
          </p:cNvPr>
          <p:cNvSpPr>
            <a:spLocks xmlns:a="http://schemas.openxmlformats.org/drawingml/2006/main" noGrp="1"/>
          </p:cNvSpPr>
          <p:nvPr/>
        </p:nvSpPr>
        <p:spPr>
          <a:xfrm xmlns:a="http://schemas.openxmlformats.org/drawingml/2006/main">
            <a:off x="552450" y="33337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243849"/>
                </a:solidFill>
                <a:latin typeface="Arial"/>
                <a:ea typeface="Arial"/>
                <a:cs typeface="Arial"/>
              </a:defRPr>
            </a:pPr>
            <a:r>
              <a:rPr sz="2850" b="1" i="0">
                <a:solidFill>
                  <a:srgbClr val="243849"/>
                </a:solidFill>
                <a:latin typeface="Arial"/>
                <a:ea typeface="Arial"/>
                <a:cs typeface="Arial"/>
              </a:rPr>
              <a:t>A stronger research platform — not the final chest</a:t>
            </a:r>
          </a:p>
        </p:txBody>
      </p:sp>
      <p:sp>
        <p:nvSpPr>
          <p:cNvPr id="2" name="">
            <a:extLst xmlns:a="http://schemas.openxmlformats.org/drawingml/2006/main">
              <a:ext uri="{FF2B5EF4-FFF2-40B4-BE49-F238E27FC236}">
                <a16:creationId xmlns:a16="http://schemas.microsoft.com/office/drawing/2014/main" id="{0A729577-8111-405E-A6CB-3C4CDFCB4A48}"/>
              </a:ext>
            </a:extLst>
          </p:cNvPr>
          <p:cNvSpPr>
            <a:spLocks xmlns:a="http://schemas.openxmlformats.org/drawingml/2006/main" noGrp="1"/>
          </p:cNvSpPr>
          <p:nvPr/>
        </p:nvSpPr>
        <p:spPr>
          <a:xfrm xmlns:a="http://schemas.openxmlformats.org/drawingml/2006/main">
            <a:off x="571500" y="8953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475"/>
                </a:solidFill>
                <a:latin typeface="Arial"/>
                <a:ea typeface="Arial"/>
                <a:cs typeface="Arial"/>
              </a:defRPr>
            </a:pPr>
            <a:r>
              <a:rPr sz="1350" b="0" i="0">
                <a:solidFill>
                  <a:srgbClr val="536475"/>
                </a:solidFill>
                <a:latin typeface="Arial"/>
                <a:ea typeface="Arial"/>
                <a:cs typeface="Arial"/>
              </a:rPr>
              <a:t>Published explorer: finite constructions with explicit scope labels</a:t>
            </a:r>
          </a:p>
        </p:txBody>
      </p:sp>
      <p:sp>
        <p:nvSpPr>
          <p:cNvPr id="3" name="">
            <a:extLst xmlns:a="http://schemas.openxmlformats.org/drawingml/2006/main">
              <a:ext uri="{FF2B5EF4-FFF2-40B4-BE49-F238E27FC236}">
                <a16:creationId xmlns:a16="http://schemas.microsoft.com/office/drawing/2014/main" id="{74405061-F9FA-414A-82B3-38AA18B3AF58}"/>
              </a:ext>
            </a:extLst>
          </p:cNvPr>
          <p:cNvSpPr>
            <a:spLocks xmlns:a="http://schemas.openxmlformats.org/drawingml/2006/main" noGrp="1"/>
          </p:cNvSpPr>
          <p:nvPr/>
        </p:nvSpPr>
        <p:spPr>
          <a:xfrm xmlns:a="http://schemas.openxmlformats.org/drawingml/2006/main">
            <a:off x="552450" y="1152525"/>
            <a:ext cx="11087100" cy="0"/>
          </a:xfrm>
          <a:prstGeom xmlns:a="http://schemas.openxmlformats.org/drawingml/2006/main" prst="line">
            <a:avLst/>
          </a:prstGeom>
          <a:noFill xmlns:a="http://schemas.openxmlformats.org/drawingml/2006/main"/>
          <a:ln xmlns:a="http://schemas.openxmlformats.org/drawingml/2006/main" w="9525">
            <a:solidFill>
              <a:srgbClr val="9AA9B6"/>
            </a:solidFill>
          </a:ln>
        </p:spPr>
      </p:sp>
      <p:sp>
        <p:nvSpPr>
          <p:cNvPr id="4" name="">
            <a:extLst xmlns:a="http://schemas.openxmlformats.org/drawingml/2006/main">
              <a:ext uri="{FF2B5EF4-FFF2-40B4-BE49-F238E27FC236}">
                <a16:creationId xmlns:a16="http://schemas.microsoft.com/office/drawing/2014/main" id="{AAD06144-6009-453E-86DB-DEE403E5FDAA}"/>
              </a:ext>
            </a:extLst>
          </p:cNvPr>
          <p:cNvSpPr>
            <a:spLocks xmlns:a="http://schemas.openxmlformats.org/drawingml/2006/main" noGrp="1"/>
          </p:cNvSpPr>
          <p:nvPr/>
        </p:nvSpPr>
        <p:spPr>
          <a:xfrm xmlns:a="http://schemas.openxmlformats.org/drawingml/2006/main">
            <a:off x="762000" y="16383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i="0">
                <a:solidFill>
                  <a:srgbClr val="158368"/>
                </a:solidFill>
                <a:latin typeface="Arial"/>
                <a:ea typeface="Arial"/>
                <a:cs typeface="Arial"/>
              </a:defRPr>
            </a:pPr>
            <a:r>
              <a:rPr sz="2250" b="1" i="0">
                <a:solidFill>
                  <a:srgbClr val="158368"/>
                </a:solidFill>
                <a:latin typeface="Arial"/>
                <a:ea typeface="Arial"/>
                <a:cs typeface="Arial"/>
              </a:rPr>
              <a:t>Implemented in the light explorer</a:t>
            </a:r>
          </a:p>
        </p:txBody>
      </p:sp>
      <p:sp>
        <p:nvSpPr>
          <p:cNvPr id="5" name="">
            <a:extLst xmlns:a="http://schemas.openxmlformats.org/drawingml/2006/main">
              <a:ext uri="{FF2B5EF4-FFF2-40B4-BE49-F238E27FC236}">
                <a16:creationId xmlns:a16="http://schemas.microsoft.com/office/drawing/2014/main" id="{7E02BA47-C001-4D42-98B9-1A6EF03C306A}"/>
              </a:ext>
            </a:extLst>
          </p:cNvPr>
          <p:cNvSpPr>
            <a:spLocks xmlns:a="http://schemas.openxmlformats.org/drawingml/2006/main" noGrp="1"/>
          </p:cNvSpPr>
          <p:nvPr/>
        </p:nvSpPr>
        <p:spPr>
          <a:xfrm xmlns:a="http://schemas.openxmlformats.org/drawingml/2006/main">
            <a:off x="809625" y="2343150"/>
            <a:ext cx="5000625"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243849"/>
                </a:solidFill>
                <a:latin typeface="Arial"/>
                <a:ea typeface="Arial"/>
                <a:cs typeface="Arial"/>
              </a:defRPr>
            </a:pPr>
            <a:r>
              <a:rPr sz="1875" b="0" i="0">
                <a:solidFill>
                  <a:srgbClr val="243849"/>
                </a:solidFill>
                <a:latin typeface="Arial"/>
                <a:ea typeface="Arial"/>
                <a:cs typeface="Arial"/>
              </a:rPr>
              <a:t>Edge slabs in the plane and space</a:t>
            </a:r>
          </a:p>
          <a:p xmlns:a="http://schemas.openxmlformats.org/drawingml/2006/main">
            <a:pPr algn="l">
              <a:defRPr sz="1875" b="0" i="0">
                <a:solidFill>
                  <a:srgbClr val="243849"/>
                </a:solidFill>
                <a:latin typeface="Arial"/>
                <a:ea typeface="Arial"/>
                <a:cs typeface="Arial"/>
              </a:defRPr>
            </a:pPr>
            <a:r>
              <a:rPr sz="1875" b="0" i="0">
                <a:solidFill>
                  <a:srgbClr val="243849"/>
                </a:solidFill>
                <a:latin typeface="Arial"/>
                <a:ea typeface="Arial"/>
                <a:cs typeface="Arial"/>
              </a:rPr>
              <a:t>Discrete involution orbit bounds</a:t>
            </a:r>
          </a:p>
          <a:p xmlns:a="http://schemas.openxmlformats.org/drawingml/2006/main">
            <a:pPr algn="l">
              <a:defRPr sz="1875" b="0" i="0">
                <a:solidFill>
                  <a:srgbClr val="243849"/>
                </a:solidFill>
                <a:latin typeface="Arial"/>
                <a:ea typeface="Arial"/>
                <a:cs typeface="Arial"/>
              </a:defRPr>
            </a:pPr>
            <a:r>
              <a:rPr sz="1875" b="0" i="0">
                <a:solidFill>
                  <a:srgbClr val="243849"/>
                </a:solidFill>
                <a:latin typeface="Arial"/>
                <a:ea typeface="Arial"/>
                <a:cs typeface="Arial"/>
              </a:rPr>
              <a:t>Centroid / face-centroid transfer</a:t>
            </a:r>
          </a:p>
          <a:p xmlns:a="http://schemas.openxmlformats.org/drawingml/2006/main">
            <a:pPr algn="l">
              <a:defRPr sz="1875" b="0" i="0">
                <a:solidFill>
                  <a:srgbClr val="243849"/>
                </a:solidFill>
                <a:latin typeface="Arial"/>
                <a:ea typeface="Arial"/>
                <a:cs typeface="Arial"/>
              </a:defRPr>
            </a:pPr>
            <a:r>
              <a:rPr sz="1875" b="0" i="0">
                <a:solidFill>
                  <a:srgbClr val="243849"/>
                </a:solidFill>
                <a:latin typeface="Arial"/>
                <a:ea typeface="Arial"/>
                <a:cs typeface="Arial"/>
              </a:rPr>
              <a:t>Optional diameter-ball envelopes</a:t>
            </a:r>
          </a:p>
          <a:p xmlns:a="http://schemas.openxmlformats.org/drawingml/2006/main">
            <a:pPr algn="l">
              <a:defRPr sz="1875" b="0" i="0">
                <a:solidFill>
                  <a:srgbClr val="243849"/>
                </a:solidFill>
                <a:latin typeface="Arial"/>
                <a:ea typeface="Arial"/>
                <a:cs typeface="Arial"/>
              </a:defRPr>
            </a:pPr>
            <a:r>
              <a:rPr sz="1875" b="0" i="0">
                <a:solidFill>
                  <a:srgbClr val="243849"/>
                </a:solidFill>
                <a:latin typeface="Arial"/>
                <a:ea typeface="Arial"/>
                <a:cs typeface="Arial"/>
              </a:rPr>
              <a:t>Visible retained-area / volume percentages</a:t>
            </a:r>
          </a:p>
        </p:txBody>
      </p:sp>
      <p:sp>
        <p:nvSpPr>
          <p:cNvPr id="6" name="">
            <a:extLst xmlns:a="http://schemas.openxmlformats.org/drawingml/2006/main">
              <a:ext uri="{FF2B5EF4-FFF2-40B4-BE49-F238E27FC236}">
                <a16:creationId xmlns:a16="http://schemas.microsoft.com/office/drawing/2014/main" id="{4A57D12F-9198-489D-BDEC-3952F4DCB6AD}"/>
              </a:ext>
            </a:extLst>
          </p:cNvPr>
          <p:cNvSpPr>
            <a:spLocks xmlns:a="http://schemas.openxmlformats.org/drawingml/2006/main" noGrp="1"/>
          </p:cNvSpPr>
          <p:nvPr/>
        </p:nvSpPr>
        <p:spPr>
          <a:xfrm xmlns:a="http://schemas.openxmlformats.org/drawingml/2006/main">
            <a:off x="6572250" y="16383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i="0">
                <a:solidFill>
                  <a:srgbClr val="3979AD"/>
                </a:solidFill>
                <a:latin typeface="Arial"/>
                <a:ea typeface="Arial"/>
                <a:cs typeface="Arial"/>
              </a:defRPr>
            </a:pPr>
            <a:r>
              <a:rPr sz="2250" b="1" i="0">
                <a:solidFill>
                  <a:srgbClr val="3979AD"/>
                </a:solidFill>
                <a:latin typeface="Arial"/>
                <a:ea typeface="Arial"/>
                <a:cs typeface="Arial"/>
              </a:rPr>
              <a:t>What the new bundle establishes</a:t>
            </a:r>
          </a:p>
        </p:txBody>
      </p:sp>
      <p:sp>
        <p:nvSpPr>
          <p:cNvPr id="7" name="">
            <a:extLst xmlns:a="http://schemas.openxmlformats.org/drawingml/2006/main">
              <a:ext uri="{FF2B5EF4-FFF2-40B4-BE49-F238E27FC236}">
                <a16:creationId xmlns:a16="http://schemas.microsoft.com/office/drawing/2014/main" id="{7416A994-39FE-4F89-A133-4A0C2DD0D2FD}"/>
              </a:ext>
            </a:extLst>
          </p:cNvPr>
          <p:cNvSpPr>
            <a:spLocks xmlns:a="http://schemas.openxmlformats.org/drawingml/2006/main" noGrp="1"/>
          </p:cNvSpPr>
          <p:nvPr/>
        </p:nvSpPr>
        <p:spPr>
          <a:xfrm xmlns:a="http://schemas.openxmlformats.org/drawingml/2006/main">
            <a:off x="6572250" y="2343150"/>
            <a:ext cx="4857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Exact planar examples and benchmark integration</a:t>
            </a:r>
          </a:p>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Continuous first-level membership certificates</a:t>
            </a:r>
          </a:p>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Recursive LP bounds for the encoded problem</a:t>
            </a:r>
          </a:p>
          <a:p xmlns:a="http://schemas.openxmlformats.org/drawingml/2006/main">
            <a:pPr algn="l">
              <a:defRPr sz="1800" b="0" i="0">
                <a:solidFill>
                  <a:srgbClr val="243849"/>
                </a:solidFill>
                <a:latin typeface="Arial"/>
                <a:ea typeface="Arial"/>
                <a:cs typeface="Arial"/>
              </a:defRPr>
            </a:pPr>
            <a:r>
              <a:rPr sz="1800" b="0" i="0">
                <a:solidFill>
                  <a:srgbClr val="243849"/>
                </a:solidFill>
                <a:latin typeface="Arial"/>
                <a:ea typeface="Arial"/>
                <a:cs typeface="Arial"/>
              </a:rPr>
              <a:t>A corrected distinction between insertion rules</a:t>
            </a:r>
          </a:p>
        </p:txBody>
      </p:sp>
      <p:sp>
        <p:nvSpPr>
          <p:cNvPr id="8" name="">
            <a:extLst xmlns:a="http://schemas.openxmlformats.org/drawingml/2006/main">
              <a:ext uri="{FF2B5EF4-FFF2-40B4-BE49-F238E27FC236}">
                <a16:creationId xmlns:a16="http://schemas.microsoft.com/office/drawing/2014/main" id="{2D052713-1ED8-4166-8721-BBC15D5020D9}"/>
              </a:ext>
            </a:extLst>
          </p:cNvPr>
          <p:cNvSpPr>
            <a:spLocks xmlns:a="http://schemas.openxmlformats.org/drawingml/2006/main" noGrp="1"/>
          </p:cNvSpPr>
          <p:nvPr/>
        </p:nvSpPr>
        <p:spPr>
          <a:xfrm xmlns:a="http://schemas.openxmlformats.org/drawingml/2006/main">
            <a:off x="809625" y="5286375"/>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243849"/>
                </a:solidFill>
                <a:latin typeface="Arial"/>
                <a:ea typeface="Arial"/>
                <a:cs typeface="Arial"/>
              </a:defRPr>
            </a:pPr>
            <a:r>
              <a:rPr sz="2025" b="1" i="0">
                <a:solidFill>
                  <a:srgbClr val="243849"/>
                </a:solidFill>
                <a:latin typeface="Arial"/>
                <a:ea typeface="Arial"/>
                <a:cs typeface="Arial"/>
              </a:rPr>
              <a:t>Still open: completeness of the inequality families, the smallest four-point chest, and the maximal analytic triangle Heart.</a:t>
            </a:r>
          </a:p>
        </p:txBody>
      </p:sp>
      <p:sp>
        <p:nvSpPr>
          <p:cNvPr id="9" name="">
            <a:extLst xmlns:a="http://schemas.openxmlformats.org/drawingml/2006/main">
              <a:ext uri="{FF2B5EF4-FFF2-40B4-BE49-F238E27FC236}">
                <a16:creationId xmlns:a16="http://schemas.microsoft.com/office/drawing/2014/main" id="{E4D21719-978E-40CB-AF3D-260842C7F50B}"/>
              </a:ext>
            </a:extLst>
          </p:cNvPr>
          <p:cNvSpPr>
            <a:spLocks xmlns:a="http://schemas.openxmlformats.org/drawingml/2006/main" noGrp="1"/>
          </p:cNvSpPr>
          <p:nvPr/>
        </p:nvSpPr>
        <p:spPr>
          <a:xfrm xmlns:a="http://schemas.openxmlformats.org/drawingml/2006/main">
            <a:off x="11382375"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9AA9B6"/>
                </a:solidFill>
                <a:latin typeface="Arial"/>
                <a:ea typeface="Arial"/>
                <a:cs typeface="Arial"/>
              </a:defRPr>
            </a:pPr>
            <a:r>
              <a:rPr sz="1050" b="0" i="0">
                <a:solidFill>
                  <a:srgbClr val="9AA9B6"/>
                </a:solidFill>
                <a:latin typeface="Arial"/>
                <a:ea typeface="Arial"/>
                <a:cs typeface="Arial"/>
              </a:rPr>
              <a:t>39</a:t>
            </a:r>
          </a:p>
        </p:txBody>
      </p:sp>
    </p:spTree>
    <p:extLst>
      <p:ext uri="{BB962C8B-B14F-4D97-AF65-F5344CB8AC3E}">
        <p14:creationId xmlns:p14="http://schemas.microsoft.com/office/powerpoint/2010/main" val="940558183"/>
      </p:ext>
    </p:extLst>
  </p:cSld>
  <p:transition spd="slow"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2026-09-12T11:58:23.2170000Z</dcterms:created>
  <dcterms:modified xsi:type="dcterms:W3CDTF">2026-09-12T11:58:23.2170000Z</dcterms:modified>
</coreProperties>
</file>